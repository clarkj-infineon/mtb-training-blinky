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heme/theme2.xml" ContentType="application/vnd.openxmlformats-officedocument.theme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heme/theme3.xml" ContentType="application/vnd.openxmlformats-officedocument.theme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notesSlides/notesSlide1.xml" ContentType="application/vnd.openxmlformats-officedocument.presentationml.notesSlide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notesSlides/notesSlide2.xml" ContentType="application/vnd.openxmlformats-officedocument.presentationml.notesSlide+xml"/>
  <Override PartName="/ppt/tags/tag239.xml" ContentType="application/vnd.openxmlformats-officedocument.presentationml.tags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notesSlides/notesSlide4.xml" ContentType="application/vnd.openxmlformats-officedocument.presentationml.notesSlide+xml"/>
  <Override PartName="/ppt/tags/tag245.xml" ContentType="application/vnd.openxmlformats-officedocument.presentationml.tags+xml"/>
  <Override PartName="/ppt/notesSlides/notesSlide5.xml" ContentType="application/vnd.openxmlformats-officedocument.presentationml.notesSlide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notesSlides/notesSlide6.xml" ContentType="application/vnd.openxmlformats-officedocument.presentationml.notesSlide+xml"/>
  <Override PartName="/ppt/tags/tag253.xml" ContentType="application/vnd.openxmlformats-officedocument.presentationml.tags+xml"/>
  <Override PartName="/ppt/notesSlides/notesSlide7.xml" ContentType="application/vnd.openxmlformats-officedocument.presentationml.notesSlide+xml"/>
  <Override PartName="/ppt/tags/tag254.xml" ContentType="application/vnd.openxmlformats-officedocument.presentationml.tags+xml"/>
  <Override PartName="/ppt/notesSlides/notesSlide8.xml" ContentType="application/vnd.openxmlformats-officedocument.presentationml.notesSlide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notesSlides/notesSlide9.xml" ContentType="application/vnd.openxmlformats-officedocument.presentationml.notesSlide+xml"/>
  <Override PartName="/ppt/tags/tag263.xml" ContentType="application/vnd.openxmlformats-officedocument.presentationml.tags+xml"/>
  <Override PartName="/ppt/notesSlides/notesSlide10.xml" ContentType="application/vnd.openxmlformats-officedocument.presentationml.notesSlide+xml"/>
  <Override PartName="/ppt/tags/tag264.xml" ContentType="application/vnd.openxmlformats-officedocument.presentationml.tags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59"/>
  </p:notesMasterIdLst>
  <p:handoutMasterIdLst>
    <p:handoutMasterId r:id="rId60"/>
  </p:handoutMasterIdLst>
  <p:sldIdLst>
    <p:sldId id="270" r:id="rId5"/>
    <p:sldId id="2147473774" r:id="rId6"/>
    <p:sldId id="302" r:id="rId7"/>
    <p:sldId id="287" r:id="rId8"/>
    <p:sldId id="273" r:id="rId9"/>
    <p:sldId id="899" r:id="rId10"/>
    <p:sldId id="2147473756" r:id="rId11"/>
    <p:sldId id="304" r:id="rId12"/>
    <p:sldId id="306" r:id="rId13"/>
    <p:sldId id="307" r:id="rId14"/>
    <p:sldId id="308" r:id="rId15"/>
    <p:sldId id="313" r:id="rId16"/>
    <p:sldId id="288" r:id="rId17"/>
    <p:sldId id="275" r:id="rId18"/>
    <p:sldId id="309" r:id="rId19"/>
    <p:sldId id="310" r:id="rId20"/>
    <p:sldId id="311" r:id="rId21"/>
    <p:sldId id="312" r:id="rId22"/>
    <p:sldId id="314" r:id="rId23"/>
    <p:sldId id="290" r:id="rId24"/>
    <p:sldId id="896" r:id="rId25"/>
    <p:sldId id="854" r:id="rId26"/>
    <p:sldId id="294" r:id="rId27"/>
    <p:sldId id="898" r:id="rId28"/>
    <p:sldId id="2147473757" r:id="rId29"/>
    <p:sldId id="291" r:id="rId30"/>
    <p:sldId id="295" r:id="rId31"/>
    <p:sldId id="879" r:id="rId32"/>
    <p:sldId id="2147473758" r:id="rId33"/>
    <p:sldId id="2147473759" r:id="rId34"/>
    <p:sldId id="2147473760" r:id="rId35"/>
    <p:sldId id="2147473761" r:id="rId36"/>
    <p:sldId id="2147473762" r:id="rId37"/>
    <p:sldId id="292" r:id="rId38"/>
    <p:sldId id="296" r:id="rId39"/>
    <p:sldId id="2147473763" r:id="rId40"/>
    <p:sldId id="2147473764" r:id="rId41"/>
    <p:sldId id="2147473765" r:id="rId42"/>
    <p:sldId id="2147473766" r:id="rId43"/>
    <p:sldId id="2147473767" r:id="rId44"/>
    <p:sldId id="2147473768" r:id="rId45"/>
    <p:sldId id="2147473769" r:id="rId46"/>
    <p:sldId id="297" r:id="rId47"/>
    <p:sldId id="2147473775" r:id="rId48"/>
    <p:sldId id="2147473776" r:id="rId49"/>
    <p:sldId id="2147473777" r:id="rId50"/>
    <p:sldId id="2147473778" r:id="rId51"/>
    <p:sldId id="2147473772" r:id="rId52"/>
    <p:sldId id="298" r:id="rId53"/>
    <p:sldId id="880" r:id="rId54"/>
    <p:sldId id="2147473770" r:id="rId55"/>
    <p:sldId id="2147473771" r:id="rId56"/>
    <p:sldId id="299" r:id="rId57"/>
    <p:sldId id="274" r:id="rId58"/>
  </p:sldIdLst>
  <p:sldSz cx="12192000" cy="6858000"/>
  <p:notesSz cx="7099300" cy="10234613"/>
  <p:custDataLst>
    <p:tags r:id="rId6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6" autoAdjust="0"/>
    <p:restoredTop sz="94696" autoAdjust="0"/>
  </p:normalViewPr>
  <p:slideViewPr>
    <p:cSldViewPr snapToObjects="1" showGuides="1">
      <p:cViewPr>
        <p:scale>
          <a:sx n="106" d="100"/>
          <a:sy n="106" d="100"/>
        </p:scale>
        <p:origin x="654" y="12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5" Type="http://schemas.openxmlformats.org/officeDocument/2006/relationships/slide" Target="slides/slide1.xml"/><Relationship Id="rId61" Type="http://schemas.openxmlformats.org/officeDocument/2006/relationships/tags" Target="tags/tag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handoutMaster" Target="handoutMasters/handoutMaster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C94478-52E0-450A-96F9-41A72CB0F871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8BF0A1A-73AD-4747-9F39-BE67420B7DEF}">
      <dgm:prSet phldrT="[Text]" phldr="0"/>
      <dgm:spPr/>
      <dgm:t>
        <a:bodyPr/>
        <a:lstStyle/>
        <a:p>
          <a:r>
            <a:rPr lang="en-US" b="1" dirty="0"/>
            <a:t>Working </a:t>
          </a:r>
          <a:br>
            <a:rPr lang="en-US" b="1" dirty="0"/>
          </a:br>
          <a:r>
            <a:rPr lang="en-US" b="1" dirty="0"/>
            <a:t>Directory</a:t>
          </a:r>
        </a:p>
      </dgm:t>
    </dgm:pt>
    <dgm:pt modelId="{E6D57349-53A1-4EBB-9333-7712F78C6ECA}" type="parTrans" cxnId="{1A594B70-54DC-4D6F-B5FC-6358820252EB}">
      <dgm:prSet/>
      <dgm:spPr/>
      <dgm:t>
        <a:bodyPr/>
        <a:lstStyle/>
        <a:p>
          <a:endParaRPr lang="en-US"/>
        </a:p>
      </dgm:t>
    </dgm:pt>
    <dgm:pt modelId="{B8D5577F-99BA-458E-B591-EF143B976DD5}" type="sibTrans" cxnId="{1A594B70-54DC-4D6F-B5FC-6358820252EB}">
      <dgm:prSet/>
      <dgm:spPr/>
      <dgm:t>
        <a:bodyPr/>
        <a:lstStyle/>
        <a:p>
          <a:endParaRPr lang="en-US"/>
        </a:p>
      </dgm:t>
    </dgm:pt>
    <dgm:pt modelId="{B170ED50-4794-45CE-9610-55F3CC8F8C78}">
      <dgm:prSet phldrT="[Text]" phldr="0"/>
      <dgm:spPr/>
      <dgm:t>
        <a:bodyPr/>
        <a:lstStyle/>
        <a:p>
          <a:r>
            <a:rPr lang="en-US" b="1" dirty="0"/>
            <a:t>Staging </a:t>
          </a:r>
          <a:br>
            <a:rPr lang="en-US" b="1" dirty="0"/>
          </a:br>
          <a:r>
            <a:rPr lang="en-US" b="1" dirty="0"/>
            <a:t>Area</a:t>
          </a:r>
        </a:p>
      </dgm:t>
    </dgm:pt>
    <dgm:pt modelId="{24371706-2297-4BBF-83D2-456F0F2526AD}" type="parTrans" cxnId="{0D93FACA-24BB-44BC-AA9D-5D8131BF45D9}">
      <dgm:prSet/>
      <dgm:spPr/>
      <dgm:t>
        <a:bodyPr/>
        <a:lstStyle/>
        <a:p>
          <a:endParaRPr lang="en-US"/>
        </a:p>
      </dgm:t>
    </dgm:pt>
    <dgm:pt modelId="{6B96115C-2B46-4EDA-9CC9-6051ADA00CAF}" type="sibTrans" cxnId="{0D93FACA-24BB-44BC-AA9D-5D8131BF45D9}">
      <dgm:prSet/>
      <dgm:spPr/>
      <dgm:t>
        <a:bodyPr/>
        <a:lstStyle/>
        <a:p>
          <a:endParaRPr lang="en-US"/>
        </a:p>
      </dgm:t>
    </dgm:pt>
    <dgm:pt modelId="{169AA230-9545-46DC-8820-058912A9A044}">
      <dgm:prSet phldrT="[Text]" phldr="0"/>
      <dgm:spPr/>
      <dgm:t>
        <a:bodyPr/>
        <a:lstStyle/>
        <a:p>
          <a:r>
            <a:rPr lang="en-US" b="1" dirty="0"/>
            <a:t>Remote </a:t>
          </a:r>
          <a:r>
            <a:rPr lang="en-US" b="1" dirty="0" err="1"/>
            <a:t>Respository</a:t>
          </a:r>
          <a:endParaRPr lang="en-US" b="1" dirty="0"/>
        </a:p>
      </dgm:t>
    </dgm:pt>
    <dgm:pt modelId="{61CF6525-7B47-4193-8760-22ADDBAEE1AB}" type="parTrans" cxnId="{45772899-6FA0-4C49-AF4E-18A9BFBC2FC8}">
      <dgm:prSet/>
      <dgm:spPr/>
      <dgm:t>
        <a:bodyPr/>
        <a:lstStyle/>
        <a:p>
          <a:endParaRPr lang="en-US"/>
        </a:p>
      </dgm:t>
    </dgm:pt>
    <dgm:pt modelId="{132B97B0-FBD6-45DB-A55B-A4C526FFFE5A}" type="sibTrans" cxnId="{45772899-6FA0-4C49-AF4E-18A9BFBC2FC8}">
      <dgm:prSet/>
      <dgm:spPr/>
      <dgm:t>
        <a:bodyPr/>
        <a:lstStyle/>
        <a:p>
          <a:endParaRPr lang="en-US"/>
        </a:p>
      </dgm:t>
    </dgm:pt>
    <dgm:pt modelId="{1D62DF62-878F-43C9-A209-A04D9398D71B}">
      <dgm:prSet phldrT="[Text]" phldr="0"/>
      <dgm:spPr/>
      <dgm:t>
        <a:bodyPr/>
        <a:lstStyle/>
        <a:p>
          <a:r>
            <a:rPr lang="en-US" dirty="0"/>
            <a:t>Your local files</a:t>
          </a:r>
        </a:p>
      </dgm:t>
    </dgm:pt>
    <dgm:pt modelId="{1499C2B3-C4EC-4B57-BB2C-C2EE8750685C}" type="parTrans" cxnId="{2C9C5D10-08AC-495F-8DF0-F96C5080388A}">
      <dgm:prSet/>
      <dgm:spPr/>
      <dgm:t>
        <a:bodyPr/>
        <a:lstStyle/>
        <a:p>
          <a:endParaRPr lang="en-US"/>
        </a:p>
      </dgm:t>
    </dgm:pt>
    <dgm:pt modelId="{0D948D73-4C0D-49A5-B024-B83843DB539C}" type="sibTrans" cxnId="{2C9C5D10-08AC-495F-8DF0-F96C5080388A}">
      <dgm:prSet/>
      <dgm:spPr/>
      <dgm:t>
        <a:bodyPr/>
        <a:lstStyle/>
        <a:p>
          <a:endParaRPr lang="en-US"/>
        </a:p>
      </dgm:t>
    </dgm:pt>
    <dgm:pt modelId="{A62E6D07-0C49-4AC3-9131-B3D10A2E48D2}">
      <dgm:prSet phldrT="[Text]" phldr="0"/>
      <dgm:spPr/>
      <dgm:t>
        <a:bodyPr/>
        <a:lstStyle/>
        <a:p>
          <a:r>
            <a:rPr lang="en-US"/>
            <a:t>Edit freely here</a:t>
          </a:r>
        </a:p>
      </dgm:t>
    </dgm:pt>
    <dgm:pt modelId="{4029A5F8-C955-40D7-A599-05EE8FA88E1A}" type="parTrans" cxnId="{C96CFF36-F432-4CEA-93AD-70D76C4F8CD2}">
      <dgm:prSet/>
      <dgm:spPr/>
      <dgm:t>
        <a:bodyPr/>
        <a:lstStyle/>
        <a:p>
          <a:endParaRPr lang="en-US"/>
        </a:p>
      </dgm:t>
    </dgm:pt>
    <dgm:pt modelId="{303C50FE-FCB0-482A-9F41-AE5DB134653F}" type="sibTrans" cxnId="{C96CFF36-F432-4CEA-93AD-70D76C4F8CD2}">
      <dgm:prSet/>
      <dgm:spPr/>
      <dgm:t>
        <a:bodyPr/>
        <a:lstStyle/>
        <a:p>
          <a:endParaRPr lang="en-US"/>
        </a:p>
      </dgm:t>
    </dgm:pt>
    <dgm:pt modelId="{F4A2A5C4-3BA0-4E6C-A414-235185469B25}">
      <dgm:prSet phldrT="[Text]" phldr="0"/>
      <dgm:spPr/>
      <dgm:t>
        <a:bodyPr/>
        <a:lstStyle/>
        <a:p>
          <a:r>
            <a:rPr lang="en-US"/>
            <a:t>Changes selected for next commit</a:t>
          </a:r>
          <a:endParaRPr lang="en-US" dirty="0"/>
        </a:p>
      </dgm:t>
    </dgm:pt>
    <dgm:pt modelId="{BDC5FC77-6383-4BF7-B039-DBFA12084EA6}" type="parTrans" cxnId="{90426B95-3FB4-42EE-8949-7B8A8B82EE1C}">
      <dgm:prSet/>
      <dgm:spPr/>
      <dgm:t>
        <a:bodyPr/>
        <a:lstStyle/>
        <a:p>
          <a:endParaRPr lang="en-US"/>
        </a:p>
      </dgm:t>
    </dgm:pt>
    <dgm:pt modelId="{EF76BC21-50B2-4A1D-853E-55F76D98CE62}" type="sibTrans" cxnId="{90426B95-3FB4-42EE-8949-7B8A8B82EE1C}">
      <dgm:prSet/>
      <dgm:spPr/>
      <dgm:t>
        <a:bodyPr/>
        <a:lstStyle/>
        <a:p>
          <a:endParaRPr lang="en-US"/>
        </a:p>
      </dgm:t>
    </dgm:pt>
    <dgm:pt modelId="{64B1D63F-7C57-4941-AFCC-A1AE55DF84D2}">
      <dgm:prSet phldrT="[Text]" phldr="0"/>
      <dgm:spPr/>
      <dgm:t>
        <a:bodyPr/>
        <a:lstStyle/>
        <a:p>
          <a:r>
            <a:rPr lang="en-US" b="1" dirty="0"/>
            <a:t>Local </a:t>
          </a:r>
          <a:br>
            <a:rPr lang="en-US" b="1" dirty="0"/>
          </a:br>
          <a:r>
            <a:rPr lang="en-US" b="1" dirty="0"/>
            <a:t>Repository</a:t>
          </a:r>
        </a:p>
      </dgm:t>
    </dgm:pt>
    <dgm:pt modelId="{4B575A7A-D2EB-4048-BF73-40F1F9CEA640}" type="parTrans" cxnId="{7F9AED39-19DB-4060-8E67-F7882449E671}">
      <dgm:prSet/>
      <dgm:spPr/>
      <dgm:t>
        <a:bodyPr/>
        <a:lstStyle/>
        <a:p>
          <a:endParaRPr lang="en-US"/>
        </a:p>
      </dgm:t>
    </dgm:pt>
    <dgm:pt modelId="{5C55EAC5-3FEF-435A-8BE7-2A53618065BC}" type="sibTrans" cxnId="{7F9AED39-19DB-4060-8E67-F7882449E671}">
      <dgm:prSet/>
      <dgm:spPr/>
      <dgm:t>
        <a:bodyPr/>
        <a:lstStyle/>
        <a:p>
          <a:endParaRPr lang="en-US"/>
        </a:p>
      </dgm:t>
    </dgm:pt>
    <dgm:pt modelId="{75F4A413-7D76-4614-BB55-68555DEE81E5}">
      <dgm:prSet phldrT="[Text]" phldr="0"/>
      <dgm:spPr/>
      <dgm:t>
        <a:bodyPr/>
        <a:lstStyle/>
        <a:p>
          <a:r>
            <a:rPr lang="en-US"/>
            <a:t>Permanent history on your machine</a:t>
          </a:r>
          <a:endParaRPr lang="en-US" dirty="0"/>
        </a:p>
      </dgm:t>
    </dgm:pt>
    <dgm:pt modelId="{341D5366-D6F4-4718-866B-0445F1357781}" type="parTrans" cxnId="{FA631F07-AADD-4203-89B9-F4A4228A18EB}">
      <dgm:prSet/>
      <dgm:spPr/>
      <dgm:t>
        <a:bodyPr/>
        <a:lstStyle/>
        <a:p>
          <a:endParaRPr lang="en-US"/>
        </a:p>
      </dgm:t>
    </dgm:pt>
    <dgm:pt modelId="{A67D795E-A3F7-41D6-9C60-E0A516240D5E}" type="sibTrans" cxnId="{FA631F07-AADD-4203-89B9-F4A4228A18EB}">
      <dgm:prSet/>
      <dgm:spPr/>
      <dgm:t>
        <a:bodyPr/>
        <a:lstStyle/>
        <a:p>
          <a:endParaRPr lang="en-US"/>
        </a:p>
      </dgm:t>
    </dgm:pt>
    <dgm:pt modelId="{B7A0FEAA-C542-4376-B8A7-AF5280CFE247}">
      <dgm:prSet phldrT="[Text]" phldr="0"/>
      <dgm:spPr/>
      <dgm:t>
        <a:bodyPr/>
        <a:lstStyle/>
        <a:p>
          <a:r>
            <a:rPr lang="en-US"/>
            <a:t>GitHub / GitLab</a:t>
          </a:r>
          <a:endParaRPr lang="en-US" dirty="0"/>
        </a:p>
      </dgm:t>
    </dgm:pt>
    <dgm:pt modelId="{2F0FCB7E-CC94-4613-8DD2-AB552B12DBCC}" type="parTrans" cxnId="{8395EE76-94BF-4B51-BA02-F582DF592E73}">
      <dgm:prSet/>
      <dgm:spPr/>
      <dgm:t>
        <a:bodyPr/>
        <a:lstStyle/>
        <a:p>
          <a:endParaRPr lang="en-US"/>
        </a:p>
      </dgm:t>
    </dgm:pt>
    <dgm:pt modelId="{6A73F497-BFA9-4227-A832-A85592DBA236}" type="sibTrans" cxnId="{8395EE76-94BF-4B51-BA02-F582DF592E73}">
      <dgm:prSet/>
      <dgm:spPr/>
      <dgm:t>
        <a:bodyPr/>
        <a:lstStyle/>
        <a:p>
          <a:endParaRPr lang="en-US"/>
        </a:p>
      </dgm:t>
    </dgm:pt>
    <dgm:pt modelId="{D5740E2A-09A6-4BED-986A-24FA4280A478}">
      <dgm:prSet phldrT="[Text]" phldr="0"/>
      <dgm:spPr/>
      <dgm:t>
        <a:bodyPr/>
        <a:lstStyle/>
        <a:p>
          <a:r>
            <a:rPr lang="en-US"/>
            <a:t>Shared with team</a:t>
          </a:r>
          <a:endParaRPr lang="en-US" dirty="0"/>
        </a:p>
      </dgm:t>
    </dgm:pt>
    <dgm:pt modelId="{5AEA3D18-4781-49D9-A561-9424149E3A17}" type="parTrans" cxnId="{84181B18-A0A3-48AF-9FB6-18EDA23F44F4}">
      <dgm:prSet/>
      <dgm:spPr/>
      <dgm:t>
        <a:bodyPr/>
        <a:lstStyle/>
        <a:p>
          <a:endParaRPr lang="en-US"/>
        </a:p>
      </dgm:t>
    </dgm:pt>
    <dgm:pt modelId="{2253DDD1-3641-483F-A503-E4018E65AF4B}" type="sibTrans" cxnId="{84181B18-A0A3-48AF-9FB6-18EDA23F44F4}">
      <dgm:prSet/>
      <dgm:spPr/>
      <dgm:t>
        <a:bodyPr/>
        <a:lstStyle/>
        <a:p>
          <a:endParaRPr lang="en-US"/>
        </a:p>
      </dgm:t>
    </dgm:pt>
    <dgm:pt modelId="{90947333-1C62-4359-8170-4247AC4718B4}" type="pres">
      <dgm:prSet presAssocID="{66C94478-52E0-450A-96F9-41A72CB0F871}" presName="Name0" presStyleCnt="0">
        <dgm:presLayoutVars>
          <dgm:dir/>
          <dgm:resizeHandles val="exact"/>
        </dgm:presLayoutVars>
      </dgm:prSet>
      <dgm:spPr/>
    </dgm:pt>
    <dgm:pt modelId="{6E8C18DD-704D-495F-BF0C-015B1FC426F8}" type="pres">
      <dgm:prSet presAssocID="{18BF0A1A-73AD-4747-9F39-BE67420B7DEF}" presName="node" presStyleLbl="node1" presStyleIdx="0" presStyleCnt="4">
        <dgm:presLayoutVars>
          <dgm:bulletEnabled val="1"/>
        </dgm:presLayoutVars>
      </dgm:prSet>
      <dgm:spPr/>
    </dgm:pt>
    <dgm:pt modelId="{85D7741D-7CCF-4BEF-A720-2BDCFD076A4F}" type="pres">
      <dgm:prSet presAssocID="{B8D5577F-99BA-458E-B591-EF143B976DD5}" presName="sibTrans" presStyleLbl="sibTrans2D1" presStyleIdx="0" presStyleCnt="3"/>
      <dgm:spPr/>
    </dgm:pt>
    <dgm:pt modelId="{8C96738A-71DE-4909-A778-F4ABDC46257C}" type="pres">
      <dgm:prSet presAssocID="{B8D5577F-99BA-458E-B591-EF143B976DD5}" presName="connectorText" presStyleLbl="sibTrans2D1" presStyleIdx="0" presStyleCnt="3"/>
      <dgm:spPr/>
    </dgm:pt>
    <dgm:pt modelId="{0BE94204-BF6D-4047-BF9D-940A52A9DAE6}" type="pres">
      <dgm:prSet presAssocID="{B170ED50-4794-45CE-9610-55F3CC8F8C78}" presName="node" presStyleLbl="node1" presStyleIdx="1" presStyleCnt="4">
        <dgm:presLayoutVars>
          <dgm:bulletEnabled val="1"/>
        </dgm:presLayoutVars>
      </dgm:prSet>
      <dgm:spPr/>
    </dgm:pt>
    <dgm:pt modelId="{7272EEE2-2971-4FE3-873A-3BDB577092D0}" type="pres">
      <dgm:prSet presAssocID="{6B96115C-2B46-4EDA-9CC9-6051ADA00CAF}" presName="sibTrans" presStyleLbl="sibTrans2D1" presStyleIdx="1" presStyleCnt="3"/>
      <dgm:spPr/>
    </dgm:pt>
    <dgm:pt modelId="{ECCF6767-57A9-4B60-BF7F-562DD103FA2E}" type="pres">
      <dgm:prSet presAssocID="{6B96115C-2B46-4EDA-9CC9-6051ADA00CAF}" presName="connectorText" presStyleLbl="sibTrans2D1" presStyleIdx="1" presStyleCnt="3"/>
      <dgm:spPr/>
    </dgm:pt>
    <dgm:pt modelId="{239EEB9A-01F5-4C50-8D33-2A99F4A3EA1E}" type="pres">
      <dgm:prSet presAssocID="{64B1D63F-7C57-4941-AFCC-A1AE55DF84D2}" presName="node" presStyleLbl="node1" presStyleIdx="2" presStyleCnt="4">
        <dgm:presLayoutVars>
          <dgm:bulletEnabled val="1"/>
        </dgm:presLayoutVars>
      </dgm:prSet>
      <dgm:spPr/>
    </dgm:pt>
    <dgm:pt modelId="{8513F584-0227-4F97-89B6-388A04851B8C}" type="pres">
      <dgm:prSet presAssocID="{5C55EAC5-3FEF-435A-8BE7-2A53618065BC}" presName="sibTrans" presStyleLbl="sibTrans2D1" presStyleIdx="2" presStyleCnt="3" custLinFactNeighborX="3453" custLinFactNeighborY="-52576"/>
      <dgm:spPr/>
    </dgm:pt>
    <dgm:pt modelId="{41E5A7BB-4346-40F2-855C-555AD65F74B0}" type="pres">
      <dgm:prSet presAssocID="{5C55EAC5-3FEF-435A-8BE7-2A53618065BC}" presName="connectorText" presStyleLbl="sibTrans2D1" presStyleIdx="2" presStyleCnt="3"/>
      <dgm:spPr/>
    </dgm:pt>
    <dgm:pt modelId="{FF194D7E-E11B-4FF4-BDF5-EDFD6116BAF8}" type="pres">
      <dgm:prSet presAssocID="{169AA230-9545-46DC-8820-058912A9A044}" presName="node" presStyleLbl="node1" presStyleIdx="3" presStyleCnt="4">
        <dgm:presLayoutVars>
          <dgm:bulletEnabled val="1"/>
        </dgm:presLayoutVars>
      </dgm:prSet>
      <dgm:spPr/>
    </dgm:pt>
  </dgm:ptLst>
  <dgm:cxnLst>
    <dgm:cxn modelId="{F7F3DF03-969F-4BF6-A141-A2223C66D2DA}" type="presOf" srcId="{B8D5577F-99BA-458E-B591-EF143B976DD5}" destId="{85D7741D-7CCF-4BEF-A720-2BDCFD076A4F}" srcOrd="0" destOrd="0" presId="urn:microsoft.com/office/officeart/2005/8/layout/process1"/>
    <dgm:cxn modelId="{FA631F07-AADD-4203-89B9-F4A4228A18EB}" srcId="{64B1D63F-7C57-4941-AFCC-A1AE55DF84D2}" destId="{75F4A413-7D76-4614-BB55-68555DEE81E5}" srcOrd="0" destOrd="0" parTransId="{341D5366-D6F4-4718-866B-0445F1357781}" sibTransId="{A67D795E-A3F7-41D6-9C60-E0A516240D5E}"/>
    <dgm:cxn modelId="{0B246C0B-E688-4DD8-A5B3-2BF6C53BD804}" type="presOf" srcId="{A62E6D07-0C49-4AC3-9131-B3D10A2E48D2}" destId="{6E8C18DD-704D-495F-BF0C-015B1FC426F8}" srcOrd="0" destOrd="2" presId="urn:microsoft.com/office/officeart/2005/8/layout/process1"/>
    <dgm:cxn modelId="{2C9C5D10-08AC-495F-8DF0-F96C5080388A}" srcId="{18BF0A1A-73AD-4747-9F39-BE67420B7DEF}" destId="{1D62DF62-878F-43C9-A209-A04D9398D71B}" srcOrd="0" destOrd="0" parTransId="{1499C2B3-C4EC-4B57-BB2C-C2EE8750685C}" sibTransId="{0D948D73-4C0D-49A5-B024-B83843DB539C}"/>
    <dgm:cxn modelId="{84181B18-A0A3-48AF-9FB6-18EDA23F44F4}" srcId="{169AA230-9545-46DC-8820-058912A9A044}" destId="{D5740E2A-09A6-4BED-986A-24FA4280A478}" srcOrd="1" destOrd="0" parTransId="{5AEA3D18-4781-49D9-A561-9424149E3A17}" sibTransId="{2253DDD1-3641-483F-A503-E4018E65AF4B}"/>
    <dgm:cxn modelId="{C96CFF36-F432-4CEA-93AD-70D76C4F8CD2}" srcId="{18BF0A1A-73AD-4747-9F39-BE67420B7DEF}" destId="{A62E6D07-0C49-4AC3-9131-B3D10A2E48D2}" srcOrd="1" destOrd="0" parTransId="{4029A5F8-C955-40D7-A599-05EE8FA88E1A}" sibTransId="{303C50FE-FCB0-482A-9F41-AE5DB134653F}"/>
    <dgm:cxn modelId="{7F9AED39-19DB-4060-8E67-F7882449E671}" srcId="{66C94478-52E0-450A-96F9-41A72CB0F871}" destId="{64B1D63F-7C57-4941-AFCC-A1AE55DF84D2}" srcOrd="2" destOrd="0" parTransId="{4B575A7A-D2EB-4048-BF73-40F1F9CEA640}" sibTransId="{5C55EAC5-3FEF-435A-8BE7-2A53618065BC}"/>
    <dgm:cxn modelId="{411EF65E-8370-4E90-9759-1D2A34F0C137}" type="presOf" srcId="{5C55EAC5-3FEF-435A-8BE7-2A53618065BC}" destId="{41E5A7BB-4346-40F2-855C-555AD65F74B0}" srcOrd="1" destOrd="0" presId="urn:microsoft.com/office/officeart/2005/8/layout/process1"/>
    <dgm:cxn modelId="{C0089B5F-DE47-461D-949E-67AE29D24800}" type="presOf" srcId="{F4A2A5C4-3BA0-4E6C-A414-235185469B25}" destId="{0BE94204-BF6D-4047-BF9D-940A52A9DAE6}" srcOrd="0" destOrd="1" presId="urn:microsoft.com/office/officeart/2005/8/layout/process1"/>
    <dgm:cxn modelId="{EC43E145-F507-44AD-8619-E75CC1FC1592}" type="presOf" srcId="{1D62DF62-878F-43C9-A209-A04D9398D71B}" destId="{6E8C18DD-704D-495F-BF0C-015B1FC426F8}" srcOrd="0" destOrd="1" presId="urn:microsoft.com/office/officeart/2005/8/layout/process1"/>
    <dgm:cxn modelId="{024FD146-AE8A-4A0E-9CA6-EFB9816F4AB9}" type="presOf" srcId="{B170ED50-4794-45CE-9610-55F3CC8F8C78}" destId="{0BE94204-BF6D-4047-BF9D-940A52A9DAE6}" srcOrd="0" destOrd="0" presId="urn:microsoft.com/office/officeart/2005/8/layout/process1"/>
    <dgm:cxn modelId="{7D601B67-9174-4D8E-A867-7F83B68C904F}" type="presOf" srcId="{169AA230-9545-46DC-8820-058912A9A044}" destId="{FF194D7E-E11B-4FF4-BDF5-EDFD6116BAF8}" srcOrd="0" destOrd="0" presId="urn:microsoft.com/office/officeart/2005/8/layout/process1"/>
    <dgm:cxn modelId="{16E1406B-A074-468B-AAD7-A88BE842E861}" type="presOf" srcId="{B7A0FEAA-C542-4376-B8A7-AF5280CFE247}" destId="{FF194D7E-E11B-4FF4-BDF5-EDFD6116BAF8}" srcOrd="0" destOrd="1" presId="urn:microsoft.com/office/officeart/2005/8/layout/process1"/>
    <dgm:cxn modelId="{311D804C-573E-443A-A4CE-C1887767D4E0}" type="presOf" srcId="{18BF0A1A-73AD-4747-9F39-BE67420B7DEF}" destId="{6E8C18DD-704D-495F-BF0C-015B1FC426F8}" srcOrd="0" destOrd="0" presId="urn:microsoft.com/office/officeart/2005/8/layout/process1"/>
    <dgm:cxn modelId="{71B9C84D-3496-4E07-95FE-DA744B18AAD7}" type="presOf" srcId="{6B96115C-2B46-4EDA-9CC9-6051ADA00CAF}" destId="{ECCF6767-57A9-4B60-BF7F-562DD103FA2E}" srcOrd="1" destOrd="0" presId="urn:microsoft.com/office/officeart/2005/8/layout/process1"/>
    <dgm:cxn modelId="{1A594B70-54DC-4D6F-B5FC-6358820252EB}" srcId="{66C94478-52E0-450A-96F9-41A72CB0F871}" destId="{18BF0A1A-73AD-4747-9F39-BE67420B7DEF}" srcOrd="0" destOrd="0" parTransId="{E6D57349-53A1-4EBB-9333-7712F78C6ECA}" sibTransId="{B8D5577F-99BA-458E-B591-EF143B976DD5}"/>
    <dgm:cxn modelId="{8395EE76-94BF-4B51-BA02-F582DF592E73}" srcId="{169AA230-9545-46DC-8820-058912A9A044}" destId="{B7A0FEAA-C542-4376-B8A7-AF5280CFE247}" srcOrd="0" destOrd="0" parTransId="{2F0FCB7E-CC94-4613-8DD2-AB552B12DBCC}" sibTransId="{6A73F497-BFA9-4227-A832-A85592DBA236}"/>
    <dgm:cxn modelId="{A191CB5A-9E11-4A34-8F93-B40F474118AE}" type="presOf" srcId="{75F4A413-7D76-4614-BB55-68555DEE81E5}" destId="{239EEB9A-01F5-4C50-8D33-2A99F4A3EA1E}" srcOrd="0" destOrd="1" presId="urn:microsoft.com/office/officeart/2005/8/layout/process1"/>
    <dgm:cxn modelId="{90426B95-3FB4-42EE-8949-7B8A8B82EE1C}" srcId="{B170ED50-4794-45CE-9610-55F3CC8F8C78}" destId="{F4A2A5C4-3BA0-4E6C-A414-235185469B25}" srcOrd="0" destOrd="0" parTransId="{BDC5FC77-6383-4BF7-B039-DBFA12084EA6}" sibTransId="{EF76BC21-50B2-4A1D-853E-55F76D98CE62}"/>
    <dgm:cxn modelId="{45772899-6FA0-4C49-AF4E-18A9BFBC2FC8}" srcId="{66C94478-52E0-450A-96F9-41A72CB0F871}" destId="{169AA230-9545-46DC-8820-058912A9A044}" srcOrd="3" destOrd="0" parTransId="{61CF6525-7B47-4193-8760-22ADDBAEE1AB}" sibTransId="{132B97B0-FBD6-45DB-A55B-A4C526FFFE5A}"/>
    <dgm:cxn modelId="{76AE2D9B-7D9A-4BA7-B5DE-AD4603893E0C}" type="presOf" srcId="{6B96115C-2B46-4EDA-9CC9-6051ADA00CAF}" destId="{7272EEE2-2971-4FE3-873A-3BDB577092D0}" srcOrd="0" destOrd="0" presId="urn:microsoft.com/office/officeart/2005/8/layout/process1"/>
    <dgm:cxn modelId="{C054BDB7-1616-474E-A4B0-69302A9397EA}" type="presOf" srcId="{D5740E2A-09A6-4BED-986A-24FA4280A478}" destId="{FF194D7E-E11B-4FF4-BDF5-EDFD6116BAF8}" srcOrd="0" destOrd="2" presId="urn:microsoft.com/office/officeart/2005/8/layout/process1"/>
    <dgm:cxn modelId="{E839C4C4-CEB1-4946-A9AA-5D6527A851FF}" type="presOf" srcId="{5C55EAC5-3FEF-435A-8BE7-2A53618065BC}" destId="{8513F584-0227-4F97-89B6-388A04851B8C}" srcOrd="0" destOrd="0" presId="urn:microsoft.com/office/officeart/2005/8/layout/process1"/>
    <dgm:cxn modelId="{0D93FACA-24BB-44BC-AA9D-5D8131BF45D9}" srcId="{66C94478-52E0-450A-96F9-41A72CB0F871}" destId="{B170ED50-4794-45CE-9610-55F3CC8F8C78}" srcOrd="1" destOrd="0" parTransId="{24371706-2297-4BBF-83D2-456F0F2526AD}" sibTransId="{6B96115C-2B46-4EDA-9CC9-6051ADA00CAF}"/>
    <dgm:cxn modelId="{9AF80FDB-E7DB-4955-ACE7-F0833F48EF77}" type="presOf" srcId="{66C94478-52E0-450A-96F9-41A72CB0F871}" destId="{90947333-1C62-4359-8170-4247AC4718B4}" srcOrd="0" destOrd="0" presId="urn:microsoft.com/office/officeart/2005/8/layout/process1"/>
    <dgm:cxn modelId="{011406E6-E699-4643-A410-A39212F46118}" type="presOf" srcId="{64B1D63F-7C57-4941-AFCC-A1AE55DF84D2}" destId="{239EEB9A-01F5-4C50-8D33-2A99F4A3EA1E}" srcOrd="0" destOrd="0" presId="urn:microsoft.com/office/officeart/2005/8/layout/process1"/>
    <dgm:cxn modelId="{25F35CF5-AB42-4733-A676-5608658E4AAA}" type="presOf" srcId="{B8D5577F-99BA-458E-B591-EF143B976DD5}" destId="{8C96738A-71DE-4909-A778-F4ABDC46257C}" srcOrd="1" destOrd="0" presId="urn:microsoft.com/office/officeart/2005/8/layout/process1"/>
    <dgm:cxn modelId="{BED15136-F8D9-4657-9768-635D23938470}" type="presParOf" srcId="{90947333-1C62-4359-8170-4247AC4718B4}" destId="{6E8C18DD-704D-495F-BF0C-015B1FC426F8}" srcOrd="0" destOrd="0" presId="urn:microsoft.com/office/officeart/2005/8/layout/process1"/>
    <dgm:cxn modelId="{26722068-348E-4D64-A26E-D148EACC2227}" type="presParOf" srcId="{90947333-1C62-4359-8170-4247AC4718B4}" destId="{85D7741D-7CCF-4BEF-A720-2BDCFD076A4F}" srcOrd="1" destOrd="0" presId="urn:microsoft.com/office/officeart/2005/8/layout/process1"/>
    <dgm:cxn modelId="{DC3BD73A-1EFD-4A5C-9A2A-69EA1274FFD6}" type="presParOf" srcId="{85D7741D-7CCF-4BEF-A720-2BDCFD076A4F}" destId="{8C96738A-71DE-4909-A778-F4ABDC46257C}" srcOrd="0" destOrd="0" presId="urn:microsoft.com/office/officeart/2005/8/layout/process1"/>
    <dgm:cxn modelId="{03EF2433-6EA8-4824-9E75-7DD5E3EAA1D1}" type="presParOf" srcId="{90947333-1C62-4359-8170-4247AC4718B4}" destId="{0BE94204-BF6D-4047-BF9D-940A52A9DAE6}" srcOrd="2" destOrd="0" presId="urn:microsoft.com/office/officeart/2005/8/layout/process1"/>
    <dgm:cxn modelId="{1516E68A-867F-4F27-BEFC-8ADF475899F1}" type="presParOf" srcId="{90947333-1C62-4359-8170-4247AC4718B4}" destId="{7272EEE2-2971-4FE3-873A-3BDB577092D0}" srcOrd="3" destOrd="0" presId="urn:microsoft.com/office/officeart/2005/8/layout/process1"/>
    <dgm:cxn modelId="{50D153F0-8170-415F-A969-5CFEA4F90D56}" type="presParOf" srcId="{7272EEE2-2971-4FE3-873A-3BDB577092D0}" destId="{ECCF6767-57A9-4B60-BF7F-562DD103FA2E}" srcOrd="0" destOrd="0" presId="urn:microsoft.com/office/officeart/2005/8/layout/process1"/>
    <dgm:cxn modelId="{BD2C9B62-6F49-487F-8DD8-F46911CF15F1}" type="presParOf" srcId="{90947333-1C62-4359-8170-4247AC4718B4}" destId="{239EEB9A-01F5-4C50-8D33-2A99F4A3EA1E}" srcOrd="4" destOrd="0" presId="urn:microsoft.com/office/officeart/2005/8/layout/process1"/>
    <dgm:cxn modelId="{98104B50-F395-4090-83B9-8460081E4CA6}" type="presParOf" srcId="{90947333-1C62-4359-8170-4247AC4718B4}" destId="{8513F584-0227-4F97-89B6-388A04851B8C}" srcOrd="5" destOrd="0" presId="urn:microsoft.com/office/officeart/2005/8/layout/process1"/>
    <dgm:cxn modelId="{BB6D03DD-A150-4101-B9BA-CE8502C491F6}" type="presParOf" srcId="{8513F584-0227-4F97-89B6-388A04851B8C}" destId="{41E5A7BB-4346-40F2-855C-555AD65F74B0}" srcOrd="0" destOrd="0" presId="urn:microsoft.com/office/officeart/2005/8/layout/process1"/>
    <dgm:cxn modelId="{1E2BFE34-C337-40A2-98A1-91D4F44DC06E}" type="presParOf" srcId="{90947333-1C62-4359-8170-4247AC4718B4}" destId="{FF194D7E-E11B-4FF4-BDF5-EDFD6116BAF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8C18DD-704D-495F-BF0C-015B1FC426F8}">
      <dsp:nvSpPr>
        <dsp:cNvPr id="0" name=""/>
        <dsp:cNvSpPr/>
      </dsp:nvSpPr>
      <dsp:spPr>
        <a:xfrm>
          <a:off x="4960" y="124884"/>
          <a:ext cx="2168696" cy="13012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Working </a:t>
          </a:r>
          <a:br>
            <a:rPr lang="en-US" sz="1900" b="1" kern="1200" dirty="0"/>
          </a:br>
          <a:r>
            <a:rPr lang="en-US" sz="1900" b="1" kern="1200" dirty="0"/>
            <a:t>Directory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Your local files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Edit freely here</a:t>
          </a:r>
        </a:p>
      </dsp:txBody>
      <dsp:txXfrm>
        <a:off x="43071" y="162995"/>
        <a:ext cx="2092474" cy="1224995"/>
      </dsp:txXfrm>
    </dsp:sp>
    <dsp:sp modelId="{85D7741D-7CCF-4BEF-A720-2BDCFD076A4F}">
      <dsp:nvSpPr>
        <dsp:cNvPr id="0" name=""/>
        <dsp:cNvSpPr/>
      </dsp:nvSpPr>
      <dsp:spPr>
        <a:xfrm>
          <a:off x="2390526" y="506575"/>
          <a:ext cx="459763" cy="53783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2390526" y="614142"/>
        <a:ext cx="321834" cy="322702"/>
      </dsp:txXfrm>
    </dsp:sp>
    <dsp:sp modelId="{0BE94204-BF6D-4047-BF9D-940A52A9DAE6}">
      <dsp:nvSpPr>
        <dsp:cNvPr id="0" name=""/>
        <dsp:cNvSpPr/>
      </dsp:nvSpPr>
      <dsp:spPr>
        <a:xfrm>
          <a:off x="3041135" y="124884"/>
          <a:ext cx="2168696" cy="13012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Staging </a:t>
          </a:r>
          <a:br>
            <a:rPr lang="en-US" sz="1900" b="1" kern="1200" dirty="0"/>
          </a:br>
          <a:r>
            <a:rPr lang="en-US" sz="1900" b="1" kern="1200" dirty="0"/>
            <a:t>Area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Changes selected for next commit</a:t>
          </a:r>
          <a:endParaRPr lang="en-US" sz="1500" kern="1200" dirty="0"/>
        </a:p>
      </dsp:txBody>
      <dsp:txXfrm>
        <a:off x="3079246" y="162995"/>
        <a:ext cx="2092474" cy="1224995"/>
      </dsp:txXfrm>
    </dsp:sp>
    <dsp:sp modelId="{7272EEE2-2971-4FE3-873A-3BDB577092D0}">
      <dsp:nvSpPr>
        <dsp:cNvPr id="0" name=""/>
        <dsp:cNvSpPr/>
      </dsp:nvSpPr>
      <dsp:spPr>
        <a:xfrm>
          <a:off x="5426701" y="506575"/>
          <a:ext cx="459763" cy="53783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5426701" y="614142"/>
        <a:ext cx="321834" cy="322702"/>
      </dsp:txXfrm>
    </dsp:sp>
    <dsp:sp modelId="{239EEB9A-01F5-4C50-8D33-2A99F4A3EA1E}">
      <dsp:nvSpPr>
        <dsp:cNvPr id="0" name=""/>
        <dsp:cNvSpPr/>
      </dsp:nvSpPr>
      <dsp:spPr>
        <a:xfrm>
          <a:off x="6077310" y="124884"/>
          <a:ext cx="2168696" cy="13012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Local </a:t>
          </a:r>
          <a:br>
            <a:rPr lang="en-US" sz="1900" b="1" kern="1200" dirty="0"/>
          </a:br>
          <a:r>
            <a:rPr lang="en-US" sz="1900" b="1" kern="1200" dirty="0"/>
            <a:t>Repository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Permanent history on your machine</a:t>
          </a:r>
          <a:endParaRPr lang="en-US" sz="1500" kern="1200" dirty="0"/>
        </a:p>
      </dsp:txBody>
      <dsp:txXfrm>
        <a:off x="6115421" y="162995"/>
        <a:ext cx="2092474" cy="1224995"/>
      </dsp:txXfrm>
    </dsp:sp>
    <dsp:sp modelId="{8513F584-0227-4F97-89B6-388A04851B8C}">
      <dsp:nvSpPr>
        <dsp:cNvPr id="0" name=""/>
        <dsp:cNvSpPr/>
      </dsp:nvSpPr>
      <dsp:spPr>
        <a:xfrm>
          <a:off x="8478752" y="223802"/>
          <a:ext cx="459763" cy="53783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8478752" y="331369"/>
        <a:ext cx="321834" cy="322702"/>
      </dsp:txXfrm>
    </dsp:sp>
    <dsp:sp modelId="{FF194D7E-E11B-4FF4-BDF5-EDFD6116BAF8}">
      <dsp:nvSpPr>
        <dsp:cNvPr id="0" name=""/>
        <dsp:cNvSpPr/>
      </dsp:nvSpPr>
      <dsp:spPr>
        <a:xfrm>
          <a:off x="9113486" y="124884"/>
          <a:ext cx="2168696" cy="13012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Remote </a:t>
          </a:r>
          <a:r>
            <a:rPr lang="en-US" sz="1900" b="1" kern="1200" dirty="0" err="1"/>
            <a:t>Respository</a:t>
          </a:r>
          <a:endParaRPr lang="en-US" sz="19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GitHub / GitLab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Shared with team</a:t>
          </a:r>
          <a:endParaRPr lang="en-US" sz="1500" kern="1200" dirty="0"/>
        </a:p>
      </dsp:txBody>
      <dsp:txXfrm>
        <a:off x="9151597" y="162995"/>
        <a:ext cx="2092474" cy="12249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11.xml"/><Relationship Id="rId3" Type="http://schemas.openxmlformats.org/officeDocument/2006/relationships/tags" Target="../tags/tag206.xml"/><Relationship Id="rId7" Type="http://schemas.openxmlformats.org/officeDocument/2006/relationships/tags" Target="../tags/tag210.xml"/><Relationship Id="rId12" Type="http://schemas.openxmlformats.org/officeDocument/2006/relationships/image" Target="../media/image10.png"/><Relationship Id="rId2" Type="http://schemas.openxmlformats.org/officeDocument/2006/relationships/tags" Target="../tags/tag205.xml"/><Relationship Id="rId1" Type="http://schemas.openxmlformats.org/officeDocument/2006/relationships/theme" Target="../theme/theme3.xml"/><Relationship Id="rId6" Type="http://schemas.openxmlformats.org/officeDocument/2006/relationships/tags" Target="../tags/tag209.xml"/><Relationship Id="rId11" Type="http://schemas.openxmlformats.org/officeDocument/2006/relationships/tags" Target="../tags/tag214.xml"/><Relationship Id="rId5" Type="http://schemas.openxmlformats.org/officeDocument/2006/relationships/tags" Target="../tags/tag208.xml"/><Relationship Id="rId10" Type="http://schemas.openxmlformats.org/officeDocument/2006/relationships/tags" Target="../tags/tag213.xml"/><Relationship Id="rId4" Type="http://schemas.openxmlformats.org/officeDocument/2006/relationships/tags" Target="../tags/tag207.xml"/><Relationship Id="rId9" Type="http://schemas.openxmlformats.org/officeDocument/2006/relationships/tags" Target="../tags/tag2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2026.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2026-04-16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01.xml"/><Relationship Id="rId3" Type="http://schemas.openxmlformats.org/officeDocument/2006/relationships/tags" Target="../tags/tag196.xml"/><Relationship Id="rId7" Type="http://schemas.openxmlformats.org/officeDocument/2006/relationships/tags" Target="../tags/tag200.xml"/><Relationship Id="rId12" Type="http://schemas.openxmlformats.org/officeDocument/2006/relationships/image" Target="../media/image10.png"/><Relationship Id="rId2" Type="http://schemas.openxmlformats.org/officeDocument/2006/relationships/tags" Target="../tags/tag195.xml"/><Relationship Id="rId1" Type="http://schemas.openxmlformats.org/officeDocument/2006/relationships/theme" Target="../theme/theme2.xml"/><Relationship Id="rId6" Type="http://schemas.openxmlformats.org/officeDocument/2006/relationships/tags" Target="../tags/tag199.xml"/><Relationship Id="rId11" Type="http://schemas.openxmlformats.org/officeDocument/2006/relationships/tags" Target="../tags/tag204.xml"/><Relationship Id="rId5" Type="http://schemas.openxmlformats.org/officeDocument/2006/relationships/tags" Target="../tags/tag198.xml"/><Relationship Id="rId10" Type="http://schemas.openxmlformats.org/officeDocument/2006/relationships/tags" Target="../tags/tag203.xml"/><Relationship Id="rId4" Type="http://schemas.openxmlformats.org/officeDocument/2006/relationships/tags" Target="../tags/tag197.xml"/><Relationship Id="rId9" Type="http://schemas.openxmlformats.org/officeDocument/2006/relationships/tags" Target="../tags/tag20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2026.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2026-04-16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sz="1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2020-09-28</a:t>
            </a:r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5D906-55BD-49C5-997D-27A40DB53D15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609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D1C9C-84A0-4F5D-7B30-9AFD35118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FD54F-0487-4454-3E6B-6746C1D9F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4672D-20D5-D47E-1C6D-01E114AA5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C96B9B8-3B3A-A1E7-1812-CD1F46557A81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sz="1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98D0D-5DF0-D7C9-B247-742F4F16B7E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DF0CD8E-20FB-0861-3D0C-8CE08F52F0EA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2020-09-28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20C9CD-737C-4A29-B892-A34E33A329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5D906-55BD-49C5-997D-27A40DB53D15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6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88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36ECF-CCB2-12BB-E05D-9BB516A88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FXSHAPE">
            <a:extLst>
              <a:ext uri="{FF2B5EF4-FFF2-40B4-BE49-F238E27FC236}">
                <a16:creationId xmlns:a16="http://schemas.microsoft.com/office/drawing/2014/main" id="{3E7FF46E-21A1-6F61-BE56-CD7956F69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54025" y="1012825"/>
            <a:ext cx="6191250" cy="3482975"/>
          </a:xfrm>
        </p:spPr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C304B0C3-C872-83C3-CC53-8B83F92E1D0C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53306" y="4708042"/>
            <a:ext cx="6191968" cy="4832456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IFXSHAPE">
            <a:extLst>
              <a:ext uri="{FF2B5EF4-FFF2-40B4-BE49-F238E27FC236}">
                <a16:creationId xmlns:a16="http://schemas.microsoft.com/office/drawing/2014/main" id="{CC519373-D25C-3FD0-DC60-E69CACB0E52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54025" y="295163"/>
            <a:ext cx="4422857" cy="41942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IFXSHAPE">
            <a:extLst>
              <a:ext uri="{FF2B5EF4-FFF2-40B4-BE49-F238E27FC236}">
                <a16:creationId xmlns:a16="http://schemas.microsoft.com/office/drawing/2014/main" id="{6EC63F25-AB00-C992-4C1B-D097A155C5E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1317625" y="9940925"/>
            <a:ext cx="4824411" cy="144933"/>
          </a:xfrm>
        </p:spPr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solidFill>
                <a:srgbClr val="E3003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IFXSHAPE">
            <a:extLst>
              <a:ext uri="{FF2B5EF4-FFF2-40B4-BE49-F238E27FC236}">
                <a16:creationId xmlns:a16="http://schemas.microsoft.com/office/drawing/2014/main" id="{346E2240-1626-861A-7D61-0D7DA3ADD3E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53306" y="9940925"/>
            <a:ext cx="864320" cy="144933"/>
          </a:xfrm>
        </p:spPr>
        <p:txBody>
          <a:bodyPr/>
          <a:lstStyle/>
          <a:p>
            <a:r>
              <a:rPr lang="en-US"/>
              <a:t>2020-09-29</a:t>
            </a:r>
          </a:p>
          <a:p>
            <a:endParaRPr lang="en-US" dirty="0"/>
          </a:p>
        </p:txBody>
      </p:sp>
      <p:sp>
        <p:nvSpPr>
          <p:cNvPr id="12" name="IFXSHAPE">
            <a:extLst>
              <a:ext uri="{FF2B5EF4-FFF2-40B4-BE49-F238E27FC236}">
                <a16:creationId xmlns:a16="http://schemas.microsoft.com/office/drawing/2014/main" id="{B0BA8A4A-0E75-E53E-857D-748F3B3C0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6142037" y="9940925"/>
            <a:ext cx="503237" cy="144933"/>
          </a:xfrm>
        </p:spPr>
        <p:txBody>
          <a:bodyPr/>
          <a:lstStyle/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7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4922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sz="1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2020-09-28</a:t>
            </a:r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5D906-55BD-49C5-997D-27A40DB53D15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21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367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FXSHAPE"/>
          <p:cNvSpPr>
            <a:spLocks noGrp="1" noRot="1" noChangeAspect="1"/>
          </p:cNvSpPr>
          <p:nvPr>
            <p:ph type="sldImg"/>
          </p:nvPr>
        </p:nvSpPr>
        <p:spPr>
          <a:xfrm>
            <a:off x="454025" y="1012825"/>
            <a:ext cx="6191250" cy="3482975"/>
          </a:xfrm>
        </p:spPr>
      </p:sp>
      <p:sp>
        <p:nvSpPr>
          <p:cNvPr id="8" name="IFXSHAPE"/>
          <p:cNvSpPr>
            <a:spLocks noGrp="1"/>
          </p:cNvSpPr>
          <p:nvPr>
            <p:ph type="body" idx="3"/>
          </p:nvPr>
        </p:nvSpPr>
        <p:spPr>
          <a:xfrm>
            <a:off x="453306" y="4708042"/>
            <a:ext cx="6191968" cy="4832456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IFXSHAPE"/>
          <p:cNvSpPr>
            <a:spLocks noGrp="1"/>
          </p:cNvSpPr>
          <p:nvPr>
            <p:ph type="hdr" sz="quarter"/>
          </p:nvPr>
        </p:nvSpPr>
        <p:spPr>
          <a:xfrm>
            <a:off x="454025" y="295163"/>
            <a:ext cx="4422857" cy="41942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IFXSHAPE"/>
          <p:cNvSpPr>
            <a:spLocks noGrp="1"/>
          </p:cNvSpPr>
          <p:nvPr>
            <p:ph type="ftr" sz="quarter" idx="4"/>
          </p:nvPr>
        </p:nvSpPr>
        <p:spPr>
          <a:xfrm>
            <a:off x="1317625" y="9940925"/>
            <a:ext cx="4824411" cy="144933"/>
          </a:xfrm>
        </p:spPr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solidFill>
                <a:srgbClr val="E3003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IFXSHAPE"/>
          <p:cNvSpPr>
            <a:spLocks noGrp="1"/>
          </p:cNvSpPr>
          <p:nvPr>
            <p:ph type="dt" idx="1"/>
          </p:nvPr>
        </p:nvSpPr>
        <p:spPr>
          <a:xfrm>
            <a:off x="453306" y="9940925"/>
            <a:ext cx="864320" cy="144933"/>
          </a:xfrm>
        </p:spPr>
        <p:txBody>
          <a:bodyPr/>
          <a:lstStyle/>
          <a:p>
            <a:r>
              <a:rPr lang="en-US"/>
              <a:t>2020-09-29</a:t>
            </a:r>
          </a:p>
          <a:p>
            <a:endParaRPr lang="en-US" dirty="0"/>
          </a:p>
        </p:txBody>
      </p:sp>
      <p:sp>
        <p:nvSpPr>
          <p:cNvPr id="12" name="IFXSHAPE"/>
          <p:cNvSpPr>
            <a:spLocks noGrp="1"/>
          </p:cNvSpPr>
          <p:nvPr>
            <p:ph type="sldNum" sz="quarter" idx="5"/>
          </p:nvPr>
        </p:nvSpPr>
        <p:spPr>
          <a:xfrm>
            <a:off x="6142037" y="9940925"/>
            <a:ext cx="503237" cy="144933"/>
          </a:xfrm>
        </p:spPr>
        <p:txBody>
          <a:bodyPr/>
          <a:lstStyle/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22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5919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sz="1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2020-09-28</a:t>
            </a:r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5D906-55BD-49C5-997D-27A40DB53D15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24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72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FXSHAPE"/>
          <p:cNvSpPr>
            <a:spLocks noGrp="1" noRot="1" noChangeAspect="1"/>
          </p:cNvSpPr>
          <p:nvPr>
            <p:ph type="sldImg"/>
          </p:nvPr>
        </p:nvSpPr>
        <p:spPr>
          <a:xfrm>
            <a:off x="454025" y="1012825"/>
            <a:ext cx="6191250" cy="3482975"/>
          </a:xfrm>
        </p:spPr>
      </p:sp>
      <p:sp>
        <p:nvSpPr>
          <p:cNvPr id="8" name="IFXSHAPE"/>
          <p:cNvSpPr>
            <a:spLocks noGrp="1"/>
          </p:cNvSpPr>
          <p:nvPr>
            <p:ph type="body" idx="3"/>
          </p:nvPr>
        </p:nvSpPr>
        <p:spPr>
          <a:xfrm>
            <a:off x="453306" y="4708042"/>
            <a:ext cx="6191968" cy="4832456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IFXSHAPE"/>
          <p:cNvSpPr>
            <a:spLocks noGrp="1"/>
          </p:cNvSpPr>
          <p:nvPr>
            <p:ph type="hdr" sz="quarter"/>
          </p:nvPr>
        </p:nvSpPr>
        <p:spPr>
          <a:xfrm>
            <a:off x="454025" y="295163"/>
            <a:ext cx="4422857" cy="41942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IFXSHAPE"/>
          <p:cNvSpPr>
            <a:spLocks noGrp="1"/>
          </p:cNvSpPr>
          <p:nvPr>
            <p:ph type="ftr" sz="quarter" idx="4"/>
          </p:nvPr>
        </p:nvSpPr>
        <p:spPr>
          <a:xfrm>
            <a:off x="1317625" y="9940925"/>
            <a:ext cx="4824411" cy="144933"/>
          </a:xfrm>
        </p:spPr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solidFill>
                <a:srgbClr val="E3003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IFXSHAPE"/>
          <p:cNvSpPr>
            <a:spLocks noGrp="1"/>
          </p:cNvSpPr>
          <p:nvPr>
            <p:ph type="dt" idx="1"/>
          </p:nvPr>
        </p:nvSpPr>
        <p:spPr>
          <a:xfrm>
            <a:off x="453306" y="9940925"/>
            <a:ext cx="864320" cy="144933"/>
          </a:xfrm>
        </p:spPr>
        <p:txBody>
          <a:bodyPr/>
          <a:lstStyle/>
          <a:p>
            <a:r>
              <a:rPr lang="en-US"/>
              <a:t>2020-09-29</a:t>
            </a:r>
          </a:p>
          <a:p>
            <a:endParaRPr lang="en-US" dirty="0"/>
          </a:p>
        </p:txBody>
      </p:sp>
      <p:sp>
        <p:nvSpPr>
          <p:cNvPr id="12" name="IFXSHAPE"/>
          <p:cNvSpPr>
            <a:spLocks noGrp="1"/>
          </p:cNvSpPr>
          <p:nvPr>
            <p:ph type="sldNum" sz="quarter" idx="5"/>
          </p:nvPr>
        </p:nvSpPr>
        <p:spPr>
          <a:xfrm>
            <a:off x="6142037" y="9940925"/>
            <a:ext cx="503237" cy="144933"/>
          </a:xfrm>
        </p:spPr>
        <p:txBody>
          <a:bodyPr/>
          <a:lstStyle/>
          <a:p>
            <a:fld id="{4165D906-55BD-49C5-997D-27A40DB53D15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28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3523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0CAF6-FD89-5387-6210-118AD3B6A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FXSHAPE">
            <a:extLst>
              <a:ext uri="{FF2B5EF4-FFF2-40B4-BE49-F238E27FC236}">
                <a16:creationId xmlns:a16="http://schemas.microsoft.com/office/drawing/2014/main" id="{74129C74-016E-3CDA-C450-F79F5F01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54025" y="1012825"/>
            <a:ext cx="6191250" cy="3482975"/>
          </a:xfrm>
        </p:spPr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293CE481-465C-7A7F-375D-C458BE25905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53306" y="4708042"/>
            <a:ext cx="6191968" cy="4832456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IFXSHAPE">
            <a:extLst>
              <a:ext uri="{FF2B5EF4-FFF2-40B4-BE49-F238E27FC236}">
                <a16:creationId xmlns:a16="http://schemas.microsoft.com/office/drawing/2014/main" id="{7DCA4AC0-2A43-881D-6ECF-F84F585B043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54025" y="295163"/>
            <a:ext cx="4422857" cy="41942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IFXSHAPE">
            <a:extLst>
              <a:ext uri="{FF2B5EF4-FFF2-40B4-BE49-F238E27FC236}">
                <a16:creationId xmlns:a16="http://schemas.microsoft.com/office/drawing/2014/main" id="{7A85724F-1CB2-4ED4-59D2-8E592D1EBD6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1317625" y="9940925"/>
            <a:ext cx="4824411" cy="144933"/>
          </a:xfrm>
        </p:spPr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solidFill>
                <a:srgbClr val="E3003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IFXSHAPE">
            <a:extLst>
              <a:ext uri="{FF2B5EF4-FFF2-40B4-BE49-F238E27FC236}">
                <a16:creationId xmlns:a16="http://schemas.microsoft.com/office/drawing/2014/main" id="{1F2DC33F-54BF-D67F-2F4B-A9A18427BE7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53306" y="9940925"/>
            <a:ext cx="864320" cy="144933"/>
          </a:xfrm>
        </p:spPr>
        <p:txBody>
          <a:bodyPr/>
          <a:lstStyle/>
          <a:p>
            <a:r>
              <a:rPr lang="en-US"/>
              <a:t>2020-09-29</a:t>
            </a:r>
          </a:p>
          <a:p>
            <a:endParaRPr lang="en-US" dirty="0"/>
          </a:p>
        </p:txBody>
      </p:sp>
      <p:sp>
        <p:nvSpPr>
          <p:cNvPr id="12" name="IFXSHAPE">
            <a:extLst>
              <a:ext uri="{FF2B5EF4-FFF2-40B4-BE49-F238E27FC236}">
                <a16:creationId xmlns:a16="http://schemas.microsoft.com/office/drawing/2014/main" id="{AD60D284-2D30-CE54-AC68-22F6C2F7AB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6142037" y="9940925"/>
            <a:ext cx="503237" cy="144933"/>
          </a:xfrm>
        </p:spPr>
        <p:txBody>
          <a:bodyPr/>
          <a:lstStyle/>
          <a:p>
            <a:fld id="{4165D906-55BD-49C5-997D-27A40DB53D15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29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336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sz="1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2020-09-28</a:t>
            </a:r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5D906-55BD-49C5-997D-27A40DB53D15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37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811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36ECF-CCB2-12BB-E05D-9BB516A88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FXSHAPE">
            <a:extLst>
              <a:ext uri="{FF2B5EF4-FFF2-40B4-BE49-F238E27FC236}">
                <a16:creationId xmlns:a16="http://schemas.microsoft.com/office/drawing/2014/main" id="{3E7FF46E-21A1-6F61-BE56-CD7956F69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54025" y="1012825"/>
            <a:ext cx="6191250" cy="3482975"/>
          </a:xfrm>
        </p:spPr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C304B0C3-C872-83C3-CC53-8B83F92E1D0C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53306" y="4708042"/>
            <a:ext cx="6191968" cy="4832456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IFXSHAPE">
            <a:extLst>
              <a:ext uri="{FF2B5EF4-FFF2-40B4-BE49-F238E27FC236}">
                <a16:creationId xmlns:a16="http://schemas.microsoft.com/office/drawing/2014/main" id="{CC519373-D25C-3FD0-DC60-E69CACB0E52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54025" y="295163"/>
            <a:ext cx="4422857" cy="41942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IFXSHAPE">
            <a:extLst>
              <a:ext uri="{FF2B5EF4-FFF2-40B4-BE49-F238E27FC236}">
                <a16:creationId xmlns:a16="http://schemas.microsoft.com/office/drawing/2014/main" id="{6EC63F25-AB00-C992-4C1B-D097A155C5E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1317625" y="9940925"/>
            <a:ext cx="4824411" cy="144933"/>
          </a:xfrm>
        </p:spPr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solidFill>
                <a:srgbClr val="E3003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IFXSHAPE">
            <a:extLst>
              <a:ext uri="{FF2B5EF4-FFF2-40B4-BE49-F238E27FC236}">
                <a16:creationId xmlns:a16="http://schemas.microsoft.com/office/drawing/2014/main" id="{346E2240-1626-861A-7D61-0D7DA3ADD3E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53306" y="9940925"/>
            <a:ext cx="864320" cy="144933"/>
          </a:xfrm>
        </p:spPr>
        <p:txBody>
          <a:bodyPr/>
          <a:lstStyle/>
          <a:p>
            <a:r>
              <a:rPr lang="en-US"/>
              <a:t>2020-09-29</a:t>
            </a:r>
          </a:p>
          <a:p>
            <a:endParaRPr lang="en-US" dirty="0"/>
          </a:p>
        </p:txBody>
      </p:sp>
      <p:sp>
        <p:nvSpPr>
          <p:cNvPr id="12" name="IFXSHAPE">
            <a:extLst>
              <a:ext uri="{FF2B5EF4-FFF2-40B4-BE49-F238E27FC236}">
                <a16:creationId xmlns:a16="http://schemas.microsoft.com/office/drawing/2014/main" id="{B0BA8A4A-0E75-E53E-857D-748F3B3C0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6142037" y="9940925"/>
            <a:ext cx="503237" cy="144933"/>
          </a:xfrm>
        </p:spPr>
        <p:txBody>
          <a:bodyPr/>
          <a:lstStyle/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45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9296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FXSHAPE"/>
          <p:cNvSpPr>
            <a:spLocks noGrp="1" noRot="1" noChangeAspect="1"/>
          </p:cNvSpPr>
          <p:nvPr>
            <p:ph type="sldImg"/>
          </p:nvPr>
        </p:nvSpPr>
        <p:spPr>
          <a:xfrm>
            <a:off x="454025" y="1012825"/>
            <a:ext cx="6191250" cy="3482975"/>
          </a:xfrm>
        </p:spPr>
      </p:sp>
      <p:sp>
        <p:nvSpPr>
          <p:cNvPr id="8" name="IFXSHAPE"/>
          <p:cNvSpPr>
            <a:spLocks noGrp="1"/>
          </p:cNvSpPr>
          <p:nvPr>
            <p:ph type="body" idx="3"/>
          </p:nvPr>
        </p:nvSpPr>
        <p:spPr>
          <a:xfrm>
            <a:off x="453306" y="4708042"/>
            <a:ext cx="6191968" cy="4832456"/>
          </a:xfr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IFXSHAPE"/>
          <p:cNvSpPr>
            <a:spLocks noGrp="1"/>
          </p:cNvSpPr>
          <p:nvPr>
            <p:ph type="hdr" sz="quarter"/>
          </p:nvPr>
        </p:nvSpPr>
        <p:spPr>
          <a:xfrm>
            <a:off x="454025" y="295163"/>
            <a:ext cx="4422857" cy="41942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IFXSHAPE"/>
          <p:cNvSpPr>
            <a:spLocks noGrp="1"/>
          </p:cNvSpPr>
          <p:nvPr>
            <p:ph type="ftr" sz="quarter" idx="4"/>
          </p:nvPr>
        </p:nvSpPr>
        <p:spPr>
          <a:xfrm>
            <a:off x="1317625" y="9940925"/>
            <a:ext cx="4824411" cy="144933"/>
          </a:xfrm>
        </p:spPr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  <a:endParaRPr lang="en-US" b="1" dirty="0">
              <a:solidFill>
                <a:srgbClr val="E3003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IFXSHAPE"/>
          <p:cNvSpPr>
            <a:spLocks noGrp="1"/>
          </p:cNvSpPr>
          <p:nvPr>
            <p:ph type="dt" idx="1"/>
          </p:nvPr>
        </p:nvSpPr>
        <p:spPr>
          <a:xfrm>
            <a:off x="453306" y="9940925"/>
            <a:ext cx="864320" cy="144933"/>
          </a:xfrm>
        </p:spPr>
        <p:txBody>
          <a:bodyPr/>
          <a:lstStyle/>
          <a:p>
            <a:r>
              <a:rPr lang="en-US"/>
              <a:t>2020-09-29</a:t>
            </a:r>
          </a:p>
          <a:p>
            <a:endParaRPr lang="en-US" dirty="0"/>
          </a:p>
        </p:txBody>
      </p:sp>
      <p:sp>
        <p:nvSpPr>
          <p:cNvPr id="12" name="IFXSHAPE"/>
          <p:cNvSpPr>
            <a:spLocks noGrp="1"/>
          </p:cNvSpPr>
          <p:nvPr>
            <p:ph type="sldNum" sz="quarter" idx="5"/>
          </p:nvPr>
        </p:nvSpPr>
        <p:spPr>
          <a:xfrm>
            <a:off x="6142037" y="9940925"/>
            <a:ext cx="503237" cy="144933"/>
          </a:xfrm>
        </p:spPr>
        <p:txBody>
          <a:bodyPr/>
          <a:lstStyle/>
          <a:p>
            <a:fld id="{4165D906-55BD-49C5-997D-27A40DB53D15}" type="slidenum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50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3667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13" Type="http://schemas.openxmlformats.org/officeDocument/2006/relationships/image" Target="../media/image5.png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4.sv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Relationship Id="rId1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image" Target="../media/image7.jpg"/><Relationship Id="rId4" Type="http://schemas.openxmlformats.org/officeDocument/2006/relationships/tags" Target="../tags/tag27.xml"/><Relationship Id="rId9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39.xml"/><Relationship Id="rId13" Type="http://schemas.openxmlformats.org/officeDocument/2006/relationships/image" Target="../media/image6.png"/><Relationship Id="rId3" Type="http://schemas.openxmlformats.org/officeDocument/2006/relationships/tags" Target="../tags/tag34.xml"/><Relationship Id="rId7" Type="http://schemas.openxmlformats.org/officeDocument/2006/relationships/tags" Target="../tags/tag38.xml"/><Relationship Id="rId12" Type="http://schemas.openxmlformats.org/officeDocument/2006/relationships/image" Target="../media/image5.png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tags" Target="../tags/tag37.xml"/><Relationship Id="rId11" Type="http://schemas.openxmlformats.org/officeDocument/2006/relationships/image" Target="../media/image4.svg"/><Relationship Id="rId5" Type="http://schemas.openxmlformats.org/officeDocument/2006/relationships/tags" Target="../tags/tag36.xml"/><Relationship Id="rId10" Type="http://schemas.openxmlformats.org/officeDocument/2006/relationships/image" Target="../media/image8.jpeg"/><Relationship Id="rId4" Type="http://schemas.openxmlformats.org/officeDocument/2006/relationships/tags" Target="../tags/tag35.xml"/><Relationship Id="rId9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47.xml"/><Relationship Id="rId3" Type="http://schemas.openxmlformats.org/officeDocument/2006/relationships/tags" Target="../tags/tag42.xml"/><Relationship Id="rId7" Type="http://schemas.openxmlformats.org/officeDocument/2006/relationships/tags" Target="../tags/tag46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6" Type="http://schemas.openxmlformats.org/officeDocument/2006/relationships/tags" Target="../tags/tag45.xml"/><Relationship Id="rId11" Type="http://schemas.openxmlformats.org/officeDocument/2006/relationships/image" Target="../media/image1.png"/><Relationship Id="rId5" Type="http://schemas.openxmlformats.org/officeDocument/2006/relationships/tags" Target="../tags/tag44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43.xml"/><Relationship Id="rId9" Type="http://schemas.openxmlformats.org/officeDocument/2006/relationships/tags" Target="../tags/tag48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5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1.xml"/><Relationship Id="rId7" Type="http://schemas.openxmlformats.org/officeDocument/2006/relationships/tags" Target="../tags/tag55.xml"/><Relationship Id="rId12" Type="http://schemas.openxmlformats.org/officeDocument/2006/relationships/tags" Target="../tags/tag60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tags" Target="../tags/tag54.xml"/><Relationship Id="rId11" Type="http://schemas.openxmlformats.org/officeDocument/2006/relationships/tags" Target="../tags/tag59.xml"/><Relationship Id="rId5" Type="http://schemas.openxmlformats.org/officeDocument/2006/relationships/tags" Target="../tags/tag53.xml"/><Relationship Id="rId10" Type="http://schemas.openxmlformats.org/officeDocument/2006/relationships/tags" Target="../tags/tag58.xml"/><Relationship Id="rId4" Type="http://schemas.openxmlformats.org/officeDocument/2006/relationships/tags" Target="../tags/tag52.xml"/><Relationship Id="rId9" Type="http://schemas.openxmlformats.org/officeDocument/2006/relationships/tags" Target="../tags/tag57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68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63.xml"/><Relationship Id="rId7" Type="http://schemas.openxmlformats.org/officeDocument/2006/relationships/tags" Target="../tags/tag67.xml"/><Relationship Id="rId12" Type="http://schemas.openxmlformats.org/officeDocument/2006/relationships/tags" Target="../tags/tag72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tags" Target="../tags/tag66.xml"/><Relationship Id="rId11" Type="http://schemas.openxmlformats.org/officeDocument/2006/relationships/tags" Target="../tags/tag71.xml"/><Relationship Id="rId5" Type="http://schemas.openxmlformats.org/officeDocument/2006/relationships/tags" Target="../tags/tag65.xml"/><Relationship Id="rId10" Type="http://schemas.openxmlformats.org/officeDocument/2006/relationships/tags" Target="../tags/tag70.xml"/><Relationship Id="rId4" Type="http://schemas.openxmlformats.org/officeDocument/2006/relationships/tags" Target="../tags/tag64.xml"/><Relationship Id="rId9" Type="http://schemas.openxmlformats.org/officeDocument/2006/relationships/tags" Target="../tags/tag69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tags" Target="../tags/tag8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5.xml"/><Relationship Id="rId7" Type="http://schemas.openxmlformats.org/officeDocument/2006/relationships/tags" Target="../tags/tag79.xml"/><Relationship Id="rId12" Type="http://schemas.openxmlformats.org/officeDocument/2006/relationships/tags" Target="../tags/tag84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6" Type="http://schemas.openxmlformats.org/officeDocument/2006/relationships/tags" Target="../tags/tag78.xml"/><Relationship Id="rId11" Type="http://schemas.openxmlformats.org/officeDocument/2006/relationships/tags" Target="../tags/tag83.xml"/><Relationship Id="rId5" Type="http://schemas.openxmlformats.org/officeDocument/2006/relationships/tags" Target="../tags/tag77.xml"/><Relationship Id="rId10" Type="http://schemas.openxmlformats.org/officeDocument/2006/relationships/tags" Target="../tags/tag82.xml"/><Relationship Id="rId4" Type="http://schemas.openxmlformats.org/officeDocument/2006/relationships/tags" Target="../tags/tag76.xml"/><Relationship Id="rId9" Type="http://schemas.openxmlformats.org/officeDocument/2006/relationships/tags" Target="../tags/tag8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tags" Target="../tags/tag8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88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91.xml"/><Relationship Id="rId2" Type="http://schemas.openxmlformats.org/officeDocument/2006/relationships/tags" Target="../tags/tag90.xml"/><Relationship Id="rId1" Type="http://schemas.openxmlformats.org/officeDocument/2006/relationships/tags" Target="../tags/tag89.xml"/><Relationship Id="rId5" Type="http://schemas.openxmlformats.org/officeDocument/2006/relationships/image" Target="../media/image9.png"/><Relationship Id="rId4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5" Type="http://schemas.openxmlformats.org/officeDocument/2006/relationships/tags" Target="../tags/tag96.xml"/><Relationship Id="rId10" Type="http://schemas.openxmlformats.org/officeDocument/2006/relationships/tags" Target="../tags/tag101.xml"/><Relationship Id="rId4" Type="http://schemas.openxmlformats.org/officeDocument/2006/relationships/tags" Target="../tags/tag95.xml"/><Relationship Id="rId9" Type="http://schemas.openxmlformats.org/officeDocument/2006/relationships/tags" Target="../tags/tag100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12" Type="http://schemas.openxmlformats.org/officeDocument/2006/relationships/tags" Target="../tags/tag115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tags" Target="../tags/tag114.xml"/><Relationship Id="rId5" Type="http://schemas.openxmlformats.org/officeDocument/2006/relationships/tags" Target="../tags/tag108.xml"/><Relationship Id="rId10" Type="http://schemas.openxmlformats.org/officeDocument/2006/relationships/tags" Target="../tags/tag113.xml"/><Relationship Id="rId4" Type="http://schemas.openxmlformats.org/officeDocument/2006/relationships/tags" Target="../tags/tag107.xml"/><Relationship Id="rId9" Type="http://schemas.openxmlformats.org/officeDocument/2006/relationships/tags" Target="../tags/tag112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2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8.xml"/><Relationship Id="rId7" Type="http://schemas.openxmlformats.org/officeDocument/2006/relationships/tags" Target="../tags/tag122.xml"/><Relationship Id="rId12" Type="http://schemas.openxmlformats.org/officeDocument/2006/relationships/tags" Target="../tags/tag127.xml"/><Relationship Id="rId2" Type="http://schemas.openxmlformats.org/officeDocument/2006/relationships/tags" Target="../tags/tag117.xml"/><Relationship Id="rId1" Type="http://schemas.openxmlformats.org/officeDocument/2006/relationships/tags" Target="../tags/tag116.xml"/><Relationship Id="rId6" Type="http://schemas.openxmlformats.org/officeDocument/2006/relationships/tags" Target="../tags/tag121.xml"/><Relationship Id="rId11" Type="http://schemas.openxmlformats.org/officeDocument/2006/relationships/tags" Target="../tags/tag126.xml"/><Relationship Id="rId5" Type="http://schemas.openxmlformats.org/officeDocument/2006/relationships/tags" Target="../tags/tag120.xml"/><Relationship Id="rId10" Type="http://schemas.openxmlformats.org/officeDocument/2006/relationships/tags" Target="../tags/tag125.xml"/><Relationship Id="rId4" Type="http://schemas.openxmlformats.org/officeDocument/2006/relationships/tags" Target="../tags/tag119.xml"/><Relationship Id="rId9" Type="http://schemas.openxmlformats.org/officeDocument/2006/relationships/tags" Target="../tags/tag124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3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0.xml"/><Relationship Id="rId7" Type="http://schemas.openxmlformats.org/officeDocument/2006/relationships/tags" Target="../tags/tag134.xml"/><Relationship Id="rId12" Type="http://schemas.openxmlformats.org/officeDocument/2006/relationships/tags" Target="../tags/tag139.xml"/><Relationship Id="rId2" Type="http://schemas.openxmlformats.org/officeDocument/2006/relationships/tags" Target="../tags/tag129.xml"/><Relationship Id="rId1" Type="http://schemas.openxmlformats.org/officeDocument/2006/relationships/tags" Target="../tags/tag128.xml"/><Relationship Id="rId6" Type="http://schemas.openxmlformats.org/officeDocument/2006/relationships/tags" Target="../tags/tag133.xml"/><Relationship Id="rId11" Type="http://schemas.openxmlformats.org/officeDocument/2006/relationships/tags" Target="../tags/tag138.xml"/><Relationship Id="rId5" Type="http://schemas.openxmlformats.org/officeDocument/2006/relationships/tags" Target="../tags/tag132.xml"/><Relationship Id="rId10" Type="http://schemas.openxmlformats.org/officeDocument/2006/relationships/tags" Target="../tags/tag137.xml"/><Relationship Id="rId4" Type="http://schemas.openxmlformats.org/officeDocument/2006/relationships/tags" Target="../tags/tag131.xml"/><Relationship Id="rId9" Type="http://schemas.openxmlformats.org/officeDocument/2006/relationships/tags" Target="../tags/tag136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4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42.xml"/><Relationship Id="rId7" Type="http://schemas.openxmlformats.org/officeDocument/2006/relationships/tags" Target="../tags/tag146.xml"/><Relationship Id="rId12" Type="http://schemas.openxmlformats.org/officeDocument/2006/relationships/tags" Target="../tags/tag151.xml"/><Relationship Id="rId2" Type="http://schemas.openxmlformats.org/officeDocument/2006/relationships/tags" Target="../tags/tag141.xml"/><Relationship Id="rId1" Type="http://schemas.openxmlformats.org/officeDocument/2006/relationships/tags" Target="../tags/tag140.xml"/><Relationship Id="rId6" Type="http://schemas.openxmlformats.org/officeDocument/2006/relationships/tags" Target="../tags/tag145.xml"/><Relationship Id="rId11" Type="http://schemas.openxmlformats.org/officeDocument/2006/relationships/tags" Target="../tags/tag150.xml"/><Relationship Id="rId5" Type="http://schemas.openxmlformats.org/officeDocument/2006/relationships/tags" Target="../tags/tag144.xml"/><Relationship Id="rId10" Type="http://schemas.openxmlformats.org/officeDocument/2006/relationships/tags" Target="../tags/tag149.xml"/><Relationship Id="rId4" Type="http://schemas.openxmlformats.org/officeDocument/2006/relationships/tags" Target="../tags/tag143.xml"/><Relationship Id="rId9" Type="http://schemas.openxmlformats.org/officeDocument/2006/relationships/tags" Target="../tags/tag148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5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4.xml"/><Relationship Id="rId7" Type="http://schemas.openxmlformats.org/officeDocument/2006/relationships/tags" Target="../tags/tag158.xml"/><Relationship Id="rId12" Type="http://schemas.openxmlformats.org/officeDocument/2006/relationships/tags" Target="../tags/tag163.xml"/><Relationship Id="rId2" Type="http://schemas.openxmlformats.org/officeDocument/2006/relationships/tags" Target="../tags/tag153.xml"/><Relationship Id="rId1" Type="http://schemas.openxmlformats.org/officeDocument/2006/relationships/tags" Target="../tags/tag152.xml"/><Relationship Id="rId6" Type="http://schemas.openxmlformats.org/officeDocument/2006/relationships/tags" Target="../tags/tag157.xml"/><Relationship Id="rId11" Type="http://schemas.openxmlformats.org/officeDocument/2006/relationships/tags" Target="../tags/tag162.xml"/><Relationship Id="rId5" Type="http://schemas.openxmlformats.org/officeDocument/2006/relationships/tags" Target="../tags/tag156.xml"/><Relationship Id="rId10" Type="http://schemas.openxmlformats.org/officeDocument/2006/relationships/tags" Target="../tags/tag161.xml"/><Relationship Id="rId4" Type="http://schemas.openxmlformats.org/officeDocument/2006/relationships/tags" Target="../tags/tag155.xml"/><Relationship Id="rId9" Type="http://schemas.openxmlformats.org/officeDocument/2006/relationships/tags" Target="../tags/tag160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17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66.xml"/><Relationship Id="rId7" Type="http://schemas.openxmlformats.org/officeDocument/2006/relationships/tags" Target="../tags/tag170.xml"/><Relationship Id="rId12" Type="http://schemas.openxmlformats.org/officeDocument/2006/relationships/tags" Target="../tags/tag175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6" Type="http://schemas.openxmlformats.org/officeDocument/2006/relationships/tags" Target="../tags/tag169.xml"/><Relationship Id="rId11" Type="http://schemas.openxmlformats.org/officeDocument/2006/relationships/tags" Target="../tags/tag174.xml"/><Relationship Id="rId5" Type="http://schemas.openxmlformats.org/officeDocument/2006/relationships/tags" Target="../tags/tag168.xml"/><Relationship Id="rId10" Type="http://schemas.openxmlformats.org/officeDocument/2006/relationships/tags" Target="../tags/tag173.xml"/><Relationship Id="rId4" Type="http://schemas.openxmlformats.org/officeDocument/2006/relationships/tags" Target="../tags/tag167.xml"/><Relationship Id="rId9" Type="http://schemas.openxmlformats.org/officeDocument/2006/relationships/tags" Target="../tags/tag172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183.xml"/><Relationship Id="rId3" Type="http://schemas.openxmlformats.org/officeDocument/2006/relationships/tags" Target="../tags/tag178.xml"/><Relationship Id="rId7" Type="http://schemas.openxmlformats.org/officeDocument/2006/relationships/tags" Target="../tags/tag18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77.xml"/><Relationship Id="rId1" Type="http://schemas.openxmlformats.org/officeDocument/2006/relationships/tags" Target="../tags/tag176.xml"/><Relationship Id="rId6" Type="http://schemas.openxmlformats.org/officeDocument/2006/relationships/tags" Target="../tags/tag181.xml"/><Relationship Id="rId11" Type="http://schemas.openxmlformats.org/officeDocument/2006/relationships/tags" Target="../tags/tag186.xml"/><Relationship Id="rId5" Type="http://schemas.openxmlformats.org/officeDocument/2006/relationships/tags" Target="../tags/tag180.xml"/><Relationship Id="rId10" Type="http://schemas.openxmlformats.org/officeDocument/2006/relationships/tags" Target="../tags/tag185.xml"/><Relationship Id="rId4" Type="http://schemas.openxmlformats.org/officeDocument/2006/relationships/tags" Target="../tags/tag179.xml"/><Relationship Id="rId9" Type="http://schemas.openxmlformats.org/officeDocument/2006/relationships/tags" Target="../tags/tag184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tags" Target="../tags/tag189.xml"/><Relationship Id="rId2" Type="http://schemas.openxmlformats.org/officeDocument/2006/relationships/tags" Target="../tags/tag188.xml"/><Relationship Id="rId1" Type="http://schemas.openxmlformats.org/officeDocument/2006/relationships/tags" Target="../tags/tag187.xml"/><Relationship Id="rId4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tags" Target="../tags/tag192.xml"/><Relationship Id="rId7" Type="http://schemas.openxmlformats.org/officeDocument/2006/relationships/image" Target="../media/image1.png"/><Relationship Id="rId2" Type="http://schemas.openxmlformats.org/officeDocument/2006/relationships/tags" Target="../tags/tag191.xml"/><Relationship Id="rId1" Type="http://schemas.openxmlformats.org/officeDocument/2006/relationships/tags" Target="../tags/tag19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94.xml"/><Relationship Id="rId4" Type="http://schemas.openxmlformats.org/officeDocument/2006/relationships/tags" Target="../tags/tag19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912424" y="236633"/>
            <a:ext cx="1772684" cy="960119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13" name="Crystal Shape">
            <a:extLst>
              <a:ext uri="{FF2B5EF4-FFF2-40B4-BE49-F238E27FC236}">
                <a16:creationId xmlns:a16="http://schemas.microsoft.com/office/drawing/2014/main" id="{A4208110-E884-BAAA-527C-E592A2F7FA29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18864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9994175" y="353272"/>
            <a:ext cx="1574433" cy="687428"/>
          </a:xfrm>
          <a:prstGeom prst="rect">
            <a:avLst/>
          </a:prstGeom>
        </p:spPr>
      </p:pic>
      <p:pic>
        <p:nvPicPr>
          <p:cNvPr id="22" name="LOGO Award Innovation" descr="Ein Bild, das Text, Screenshot, Schrift, Kreis enthält.&#10;&#10;KI-generierte Inhalte können fehlerhaft sein.">
            <a:extLst>
              <a:ext uri="{FF2B5EF4-FFF2-40B4-BE49-F238E27FC236}">
                <a16:creationId xmlns:a16="http://schemas.microsoft.com/office/drawing/2014/main" id="{5C8094CB-6CA5-4C8C-A34D-E405220AEA8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8096" y="5583917"/>
            <a:ext cx="1388241" cy="670382"/>
          </a:xfrm>
          <a:prstGeom prst="rect">
            <a:avLst/>
          </a:prstGeom>
        </p:spPr>
      </p:pic>
      <p:pic>
        <p:nvPicPr>
          <p:cNvPr id="23" name="LOGO Award Sustainability" descr="Ein Bild, das Schwarz, Dunkelheit enthält.&#10;&#10;Automatisch generierte Beschreibung">
            <a:extLst>
              <a:ext uri="{FF2B5EF4-FFF2-40B4-BE49-F238E27FC236}">
                <a16:creationId xmlns:a16="http://schemas.microsoft.com/office/drawing/2014/main" id="{2580F642-116E-41DC-881C-366C1DFCA471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966" y="5583917"/>
            <a:ext cx="670034" cy="67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92289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OGO PROTECTION">
            <a:extLst>
              <a:ext uri="{FF2B5EF4-FFF2-40B4-BE49-F238E27FC236}">
                <a16:creationId xmlns:a16="http://schemas.microsoft.com/office/drawing/2014/main" id="{4DCE96B1-83D3-EAE7-D992-044F49F60C08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auto">
          <a:xfrm>
            <a:off x="263352" y="236633"/>
            <a:ext cx="1772684" cy="960119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pic>
        <p:nvPicPr>
          <p:cNvPr id="2" name="Picture 1" descr="A close-up of a plant&#10;&#10;Description automatically generated">
            <a:extLst>
              <a:ext uri="{FF2B5EF4-FFF2-40B4-BE49-F238E27FC236}">
                <a16:creationId xmlns:a16="http://schemas.microsoft.com/office/drawing/2014/main" id="{D8A43A75-D6CE-2257-415C-1E0787C2AD10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5206538" cy="6858000"/>
          </a:xfrm>
          <a:prstGeom prst="rect">
            <a:avLst/>
          </a:prstGeom>
        </p:spPr>
      </p:pic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" name="LOGO">
            <a:extLst>
              <a:ext uri="{FF2B5EF4-FFF2-40B4-BE49-F238E27FC236}">
                <a16:creationId xmlns:a16="http://schemas.microsoft.com/office/drawing/2014/main" id="{1807AF6D-9E64-2C4F-72B8-8E1B696F07B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334800" y="353272"/>
            <a:ext cx="1574433" cy="687428"/>
          </a:xfrm>
          <a:prstGeom prst="rect">
            <a:avLst/>
          </a:prstGeom>
        </p:spPr>
      </p:pic>
      <p:pic>
        <p:nvPicPr>
          <p:cNvPr id="20" name="LOGO Award Innovation" descr="Ein Bild, das Text, Screenshot, Schrift, Kreis enthält.&#10;&#10;KI-generierte Inhalte können fehlerhaft sein.">
            <a:extLst>
              <a:ext uri="{FF2B5EF4-FFF2-40B4-BE49-F238E27FC236}">
                <a16:creationId xmlns:a16="http://schemas.microsoft.com/office/drawing/2014/main" id="{B9B3D97A-9BFB-40A0-9441-80DA943DDD7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8096" y="5583917"/>
            <a:ext cx="1388241" cy="670382"/>
          </a:xfrm>
          <a:prstGeom prst="rect">
            <a:avLst/>
          </a:prstGeom>
        </p:spPr>
      </p:pic>
      <p:pic>
        <p:nvPicPr>
          <p:cNvPr id="21" name="LOGO Award Sustainability" descr="Ein Bild, das Schwarz, Dunkelheit enthält.&#10;&#10;Automatisch generierte Beschreibung">
            <a:extLst>
              <a:ext uri="{FF2B5EF4-FFF2-40B4-BE49-F238E27FC236}">
                <a16:creationId xmlns:a16="http://schemas.microsoft.com/office/drawing/2014/main" id="{19FCA7E8-3379-4D22-BCD2-3178461C8B7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966" y="5583917"/>
            <a:ext cx="670034" cy="67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7589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2026. All rights reserved.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2026-04-16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en-US" sz="8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7" r:id="rId2"/>
    <p:sldLayoutId id="2147483755" r:id="rId3"/>
    <p:sldLayoutId id="2147483758" r:id="rId4"/>
    <p:sldLayoutId id="2147483751" r:id="rId5"/>
    <p:sldLayoutId id="2147483729" r:id="rId6"/>
    <p:sldLayoutId id="2147483730" r:id="rId7"/>
    <p:sldLayoutId id="2147483731" r:id="rId8"/>
    <p:sldLayoutId id="2147483747" r:id="rId9"/>
    <p:sldLayoutId id="2147483756" r:id="rId10"/>
    <p:sldLayoutId id="2147483732" r:id="rId11"/>
    <p:sldLayoutId id="2147483733" r:id="rId12"/>
    <p:sldLayoutId id="2147483734" r:id="rId13"/>
    <p:sldLayoutId id="2147483735" r:id="rId14"/>
    <p:sldLayoutId id="2147483736" r:id="rId15"/>
    <p:sldLayoutId id="2147483737" r:id="rId16"/>
    <p:sldLayoutId id="2147483738" r:id="rId17"/>
    <p:sldLayoutId id="2147483739" r:id="rId18"/>
    <p:sldLayoutId id="2147483754" r:id="rId19"/>
    <p:sldLayoutId id="2147483753" r:id="rId20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222.xml"/><Relationship Id="rId13" Type="http://schemas.openxmlformats.org/officeDocument/2006/relationships/tags" Target="../tags/tag227.xml"/><Relationship Id="rId18" Type="http://schemas.openxmlformats.org/officeDocument/2006/relationships/tags" Target="../tags/tag232.xml"/><Relationship Id="rId3" Type="http://schemas.openxmlformats.org/officeDocument/2006/relationships/tags" Target="../tags/tag217.xml"/><Relationship Id="rId7" Type="http://schemas.openxmlformats.org/officeDocument/2006/relationships/tags" Target="../tags/tag221.xml"/><Relationship Id="rId12" Type="http://schemas.openxmlformats.org/officeDocument/2006/relationships/tags" Target="../tags/tag226.xml"/><Relationship Id="rId17" Type="http://schemas.openxmlformats.org/officeDocument/2006/relationships/tags" Target="../tags/tag231.xml"/><Relationship Id="rId2" Type="http://schemas.openxmlformats.org/officeDocument/2006/relationships/tags" Target="../tags/tag216.xml"/><Relationship Id="rId16" Type="http://schemas.openxmlformats.org/officeDocument/2006/relationships/tags" Target="../tags/tag230.xml"/><Relationship Id="rId20" Type="http://schemas.openxmlformats.org/officeDocument/2006/relationships/notesSlide" Target="../notesSlides/notesSlide1.xml"/><Relationship Id="rId1" Type="http://schemas.openxmlformats.org/officeDocument/2006/relationships/tags" Target="../tags/tag215.xml"/><Relationship Id="rId6" Type="http://schemas.openxmlformats.org/officeDocument/2006/relationships/tags" Target="../tags/tag220.xml"/><Relationship Id="rId11" Type="http://schemas.openxmlformats.org/officeDocument/2006/relationships/tags" Target="../tags/tag225.xml"/><Relationship Id="rId5" Type="http://schemas.openxmlformats.org/officeDocument/2006/relationships/tags" Target="../tags/tag219.xml"/><Relationship Id="rId15" Type="http://schemas.openxmlformats.org/officeDocument/2006/relationships/tags" Target="../tags/tag229.xml"/><Relationship Id="rId10" Type="http://schemas.openxmlformats.org/officeDocument/2006/relationships/tags" Target="../tags/tag224.xml"/><Relationship Id="rId19" Type="http://schemas.openxmlformats.org/officeDocument/2006/relationships/slideLayout" Target="../slideLayouts/slideLayout6.xml"/><Relationship Id="rId4" Type="http://schemas.openxmlformats.org/officeDocument/2006/relationships/tags" Target="../tags/tag218.xml"/><Relationship Id="rId9" Type="http://schemas.openxmlformats.org/officeDocument/2006/relationships/tags" Target="../tags/tag223.xml"/><Relationship Id="rId14" Type="http://schemas.openxmlformats.org/officeDocument/2006/relationships/tags" Target="../tags/tag22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3" Type="http://schemas.openxmlformats.org/officeDocument/2006/relationships/tags" Target="../tags/tag235.xml"/><Relationship Id="rId7" Type="http://schemas.openxmlformats.org/officeDocument/2006/relationships/slideLayout" Target="../slideLayouts/slideLayout6.xml"/><Relationship Id="rId12" Type="http://schemas.openxmlformats.org/officeDocument/2006/relationships/image" Target="../media/image14.svg"/><Relationship Id="rId2" Type="http://schemas.openxmlformats.org/officeDocument/2006/relationships/tags" Target="../tags/tag234.xml"/><Relationship Id="rId1" Type="http://schemas.openxmlformats.org/officeDocument/2006/relationships/tags" Target="../tags/tag233.xml"/><Relationship Id="rId6" Type="http://schemas.openxmlformats.org/officeDocument/2006/relationships/tags" Target="../tags/tag238.xml"/><Relationship Id="rId11" Type="http://schemas.openxmlformats.org/officeDocument/2006/relationships/image" Target="../media/image13.svg"/><Relationship Id="rId5" Type="http://schemas.openxmlformats.org/officeDocument/2006/relationships/tags" Target="../tags/tag237.xml"/><Relationship Id="rId10" Type="http://schemas.openxmlformats.org/officeDocument/2006/relationships/image" Target="../media/image12.svg"/><Relationship Id="rId4" Type="http://schemas.openxmlformats.org/officeDocument/2006/relationships/tags" Target="../tags/tag236.xml"/><Relationship Id="rId9" Type="http://schemas.openxmlformats.org/officeDocument/2006/relationships/hyperlink" Target="https://github.com/Infineon/retarget-i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3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larkJ-Infineon/mtb-training-blinky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242.xml"/><Relationship Id="rId7" Type="http://schemas.openxmlformats.org/officeDocument/2006/relationships/notesSlide" Target="../notesSlides/notesSlide4.xml"/><Relationship Id="rId2" Type="http://schemas.openxmlformats.org/officeDocument/2006/relationships/tags" Target="../tags/tag241.xml"/><Relationship Id="rId1" Type="http://schemas.openxmlformats.org/officeDocument/2006/relationships/tags" Target="../tags/tag240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244.xml"/><Relationship Id="rId4" Type="http://schemas.openxmlformats.org/officeDocument/2006/relationships/tags" Target="../tags/tag24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4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248.xml"/><Relationship Id="rId7" Type="http://schemas.openxmlformats.org/officeDocument/2006/relationships/tags" Target="../tags/tag252.xml"/><Relationship Id="rId12" Type="http://schemas.openxmlformats.org/officeDocument/2006/relationships/image" Target="../media/image19.svg"/><Relationship Id="rId2" Type="http://schemas.openxmlformats.org/officeDocument/2006/relationships/tags" Target="../tags/tag247.xml"/><Relationship Id="rId1" Type="http://schemas.openxmlformats.org/officeDocument/2006/relationships/tags" Target="../tags/tag246.xml"/><Relationship Id="rId6" Type="http://schemas.openxmlformats.org/officeDocument/2006/relationships/tags" Target="../tags/tag251.xml"/><Relationship Id="rId11" Type="http://schemas.openxmlformats.org/officeDocument/2006/relationships/image" Target="../media/image18.svg"/><Relationship Id="rId5" Type="http://schemas.openxmlformats.org/officeDocument/2006/relationships/tags" Target="../tags/tag250.xml"/><Relationship Id="rId10" Type="http://schemas.openxmlformats.org/officeDocument/2006/relationships/image" Target="../media/image17.svg"/><Relationship Id="rId4" Type="http://schemas.openxmlformats.org/officeDocument/2006/relationships/tags" Target="../tags/tag249.xml"/><Relationship Id="rId9" Type="http://schemas.openxmlformats.org/officeDocument/2006/relationships/notesSlide" Target="../notesSlides/notesSlide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5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5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262.xml"/><Relationship Id="rId13" Type="http://schemas.openxmlformats.org/officeDocument/2006/relationships/image" Target="../media/image23.svg"/><Relationship Id="rId3" Type="http://schemas.openxmlformats.org/officeDocument/2006/relationships/tags" Target="../tags/tag257.xml"/><Relationship Id="rId7" Type="http://schemas.openxmlformats.org/officeDocument/2006/relationships/tags" Target="../tags/tag261.xml"/><Relationship Id="rId12" Type="http://schemas.openxmlformats.org/officeDocument/2006/relationships/image" Target="../media/image22.svg"/><Relationship Id="rId2" Type="http://schemas.openxmlformats.org/officeDocument/2006/relationships/tags" Target="../tags/tag256.xml"/><Relationship Id="rId1" Type="http://schemas.openxmlformats.org/officeDocument/2006/relationships/tags" Target="../tags/tag255.xml"/><Relationship Id="rId6" Type="http://schemas.openxmlformats.org/officeDocument/2006/relationships/tags" Target="../tags/tag260.xml"/><Relationship Id="rId11" Type="http://schemas.openxmlformats.org/officeDocument/2006/relationships/image" Target="../media/image21.svg"/><Relationship Id="rId5" Type="http://schemas.openxmlformats.org/officeDocument/2006/relationships/tags" Target="../tags/tag259.xml"/><Relationship Id="rId10" Type="http://schemas.openxmlformats.org/officeDocument/2006/relationships/notesSlide" Target="../notesSlides/notesSlide9.xml"/><Relationship Id="rId4" Type="http://schemas.openxmlformats.org/officeDocument/2006/relationships/tags" Target="../tags/tag258.xml"/><Relationship Id="rId9" Type="http://schemas.openxmlformats.org/officeDocument/2006/relationships/slideLayout" Target="../slideLayouts/slideLayout6.xml"/><Relationship Id="rId14" Type="http://schemas.openxmlformats.org/officeDocument/2006/relationships/image" Target="../media/image24.sv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63.xml"/><Relationship Id="rId4" Type="http://schemas.openxmlformats.org/officeDocument/2006/relationships/image" Target="../media/image28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D798BF3-9FA4-4548-81F2-B6E6CC99B45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F2BD278F-B47A-4B82-B85E-CEFAD1AB9D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Clark Jarvis – Software and Tools Product Marketer</a:t>
            </a:r>
          </a:p>
          <a:p>
            <a:r>
              <a:rPr lang="de-DE" dirty="0"/>
              <a:t>October 2026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E5783C9-99EF-42BD-B0B5-BCBAA19E0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000" y="3962400"/>
            <a:ext cx="10882200" cy="1118901"/>
          </a:xfrm>
        </p:spPr>
        <p:txBody>
          <a:bodyPr>
            <a:normAutofit fontScale="90000"/>
          </a:bodyPr>
          <a:lstStyle/>
          <a:p>
            <a:r>
              <a:rPr lang="de-DE" dirty="0"/>
              <a:t>Infineon Academy Distribution Training</a:t>
            </a:r>
            <a:br>
              <a:rPr lang="de-DE" dirty="0"/>
            </a:br>
            <a:r>
              <a:rPr lang="en-US" b="0" i="1" dirty="0"/>
              <a:t>Mastering ModusToolbox™ in Your Development Workflow</a:t>
            </a:r>
            <a:endParaRPr lang="de-DE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0FD82F-D758-303A-2513-77A4B83F7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87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C0B69C-B315-23BF-44CB-4F478DC92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ABFBC0-2F70-5870-6969-4CDF633A2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D7EC534-8055-C048-6636-C19715FD2F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334434" y="1268413"/>
            <a:ext cx="10692231" cy="4535997"/>
            <a:chOff x="334434" y="1268413"/>
            <a:chExt cx="10692231" cy="4535997"/>
          </a:xfrm>
        </p:grpSpPr>
        <p:sp>
          <p:nvSpPr>
            <p:cNvPr id="5" name="MIO_AGENDA_ELEMENT_TITEL_1">
              <a:extLst>
                <a:ext uri="{FF2B5EF4-FFF2-40B4-BE49-F238E27FC236}">
                  <a16:creationId xmlns:a16="http://schemas.microsoft.com/office/drawing/2014/main" id="{D4DDBF0C-F1B1-B4D9-8303-76759B53E4D7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>
            <a:xfrm>
              <a:off x="1235076" y="1268413"/>
              <a:ext cx="9791589" cy="50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E9E6E6"/>
                  </a:solidFill>
                </a14:hiddenFill>
              </a:ext>
            </a:extLst>
          </p:spPr>
          <p:txBody>
            <a:bodyPr vert="horz" wrap="none" lIns="0" tIns="36000" rIns="3600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defTabSz="576000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  <a:buFont typeface="Arial" panose="020B0604020202020204" pitchFamily="34" charset="0"/>
                <a:buNone/>
              </a:pPr>
              <a:r>
                <a:rPr lang="en-US" sz="1800">
                  <a:latin typeface="+mn-lt"/>
                </a:rPr>
                <a:t>Working Effectively with Version Control &amp; Git</a:t>
              </a:r>
              <a:endParaRPr lang="de-DE" sz="1800" dirty="0">
                <a:latin typeface="+mn-lt"/>
              </a:endParaRPr>
            </a:p>
          </p:txBody>
        </p:sp>
        <p:sp>
          <p:nvSpPr>
            <p:cNvPr id="6" name="MIO_AGENDA_ELEMENT_ELEMENTNUMBER_1">
              <a:extLst>
                <a:ext uri="{FF2B5EF4-FFF2-40B4-BE49-F238E27FC236}">
                  <a16:creationId xmlns:a16="http://schemas.microsoft.com/office/drawing/2014/main" id="{54DCAA54-DFA0-28B3-12B7-307542821E07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334434" y="1268413"/>
              <a:ext cx="503937" cy="504000"/>
            </a:xfrm>
            <a:prstGeom prst="ellipse">
              <a:avLst/>
            </a:prstGeom>
            <a:solidFill>
              <a:schemeClr val="accent1"/>
            </a:solidFill>
          </p:spPr>
          <p:txBody>
            <a:bodyPr vert="horz" wrap="none" lIns="0" tIns="36000" rIns="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</a:pPr>
              <a:r>
                <a:rPr lang="de-DE" b="1">
                  <a:solidFill>
                    <a:schemeClr val="bg1"/>
                  </a:solidFill>
                  <a:latin typeface="+mn-lt"/>
                  <a:cs typeface="Arial" panose="020B0604020202020204" pitchFamily="34" charset="0"/>
                </a:rPr>
                <a:t>1</a:t>
              </a:r>
              <a:endParaRPr lang="de-DE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endParaRPr>
            </a:p>
          </p:txBody>
        </p:sp>
        <p:sp>
          <p:nvSpPr>
            <p:cNvPr id="7" name="MIO_AGENDA_ELEMENT_TITEL_2">
              <a:extLst>
                <a:ext uri="{FF2B5EF4-FFF2-40B4-BE49-F238E27FC236}">
                  <a16:creationId xmlns:a16="http://schemas.microsoft.com/office/drawing/2014/main" id="{7EC5EFCA-7408-0F27-1936-DB8D41142266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>
            <a:xfrm>
              <a:off x="1235076" y="1844412"/>
              <a:ext cx="9791589" cy="50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E9E6E6"/>
                  </a:solidFill>
                </a14:hiddenFill>
              </a:ext>
            </a:extLst>
          </p:spPr>
          <p:txBody>
            <a:bodyPr vert="horz" wrap="none" lIns="0" tIns="36000" rIns="3600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defTabSz="576000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  <a:buFont typeface="Arial" panose="020B0604020202020204" pitchFamily="34" charset="0"/>
                <a:buNone/>
              </a:pPr>
              <a:r>
                <a:rPr lang="de-DE" sz="1800">
                  <a:latin typeface="+mn-lt"/>
                </a:rPr>
                <a:t>Sharing, Importing &amp; Exporting Projects</a:t>
              </a:r>
              <a:endParaRPr lang="de-DE" sz="1800" dirty="0">
                <a:latin typeface="+mn-lt"/>
              </a:endParaRPr>
            </a:p>
          </p:txBody>
        </p:sp>
        <p:sp>
          <p:nvSpPr>
            <p:cNvPr id="8" name="MIO_AGENDA_ELEMENT_ELEMENTNUMBER_2">
              <a:extLst>
                <a:ext uri="{FF2B5EF4-FFF2-40B4-BE49-F238E27FC236}">
                  <a16:creationId xmlns:a16="http://schemas.microsoft.com/office/drawing/2014/main" id="{F69DFA63-E3EC-FE5D-3955-AE9CB34C1E46}"/>
                </a:ext>
              </a:extLst>
            </p:cNvPr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334434" y="1844412"/>
              <a:ext cx="503937" cy="504000"/>
            </a:xfrm>
            <a:prstGeom prst="ellipse">
              <a:avLst/>
            </a:prstGeom>
            <a:solidFill>
              <a:schemeClr val="accent1"/>
            </a:solidFill>
          </p:spPr>
          <p:txBody>
            <a:bodyPr vert="horz" wrap="none" lIns="0" tIns="36000" rIns="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</a:pPr>
              <a:r>
                <a:rPr lang="de-DE" b="1">
                  <a:solidFill>
                    <a:schemeClr val="bg1"/>
                  </a:solidFill>
                  <a:latin typeface="+mn-lt"/>
                  <a:cs typeface="Arial" panose="020B0604020202020204" pitchFamily="34" charset="0"/>
                </a:rPr>
                <a:t>2</a:t>
              </a:r>
              <a:endParaRPr lang="de-DE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endParaRPr>
            </a:p>
          </p:txBody>
        </p:sp>
        <p:sp>
          <p:nvSpPr>
            <p:cNvPr id="9" name="MIO_AGENDA_ELEMENT_TITEL_3">
              <a:extLst>
                <a:ext uri="{FF2B5EF4-FFF2-40B4-BE49-F238E27FC236}">
                  <a16:creationId xmlns:a16="http://schemas.microsoft.com/office/drawing/2014/main" id="{9E633665-D0C5-8B88-AD08-C536FBAF2522}"/>
                </a:ext>
              </a:extLst>
            </p:cNvPr>
            <p:cNvSpPr>
              <a:spLocks/>
            </p:cNvSpPr>
            <p:nvPr>
              <p:custDataLst>
                <p:tags r:id="rId7"/>
              </p:custDataLst>
            </p:nvPr>
          </p:nvSpPr>
          <p:spPr>
            <a:xfrm>
              <a:off x="1235076" y="2420412"/>
              <a:ext cx="9791589" cy="50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E9E6E6"/>
                  </a:solidFill>
                </a14:hiddenFill>
              </a:ext>
            </a:extLst>
          </p:spPr>
          <p:txBody>
            <a:bodyPr vert="horz" wrap="none" lIns="0" tIns="36000" rIns="3600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defTabSz="576000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  <a:buFont typeface="Arial" panose="020B0604020202020204" pitchFamily="34" charset="0"/>
                <a:buNone/>
              </a:pPr>
              <a:r>
                <a:rPr lang="en-US" sz="1800">
                  <a:latin typeface="+mn-lt"/>
                </a:rPr>
                <a:t>Understanding the ModusToolbox™ BSP Concept</a:t>
              </a:r>
              <a:endParaRPr lang="de-DE" sz="1800" dirty="0">
                <a:latin typeface="+mn-lt"/>
              </a:endParaRPr>
            </a:p>
          </p:txBody>
        </p:sp>
        <p:sp>
          <p:nvSpPr>
            <p:cNvPr id="10" name="MIO_AGENDA_ELEMENT_ELEMENTNUMBER_3">
              <a:extLst>
                <a:ext uri="{FF2B5EF4-FFF2-40B4-BE49-F238E27FC236}">
                  <a16:creationId xmlns:a16="http://schemas.microsoft.com/office/drawing/2014/main" id="{ADD036B5-7332-2767-BCD8-396CD0971219}"/>
                </a:ext>
              </a:extLst>
            </p:cNvPr>
            <p:cNvSpPr>
              <a:spLocks noChangeAspect="1"/>
            </p:cNvSpPr>
            <p:nvPr>
              <p:custDataLst>
                <p:tags r:id="rId8"/>
              </p:custDataLst>
            </p:nvPr>
          </p:nvSpPr>
          <p:spPr>
            <a:xfrm>
              <a:off x="334434" y="2420412"/>
              <a:ext cx="503937" cy="504000"/>
            </a:xfrm>
            <a:prstGeom prst="ellipse">
              <a:avLst/>
            </a:prstGeom>
            <a:solidFill>
              <a:schemeClr val="accent1"/>
            </a:solidFill>
          </p:spPr>
          <p:txBody>
            <a:bodyPr vert="horz" wrap="none" lIns="0" tIns="36000" rIns="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</a:pPr>
              <a:r>
                <a:rPr lang="de-DE" b="1">
                  <a:solidFill>
                    <a:schemeClr val="bg1"/>
                  </a:solidFill>
                  <a:latin typeface="+mn-lt"/>
                  <a:cs typeface="Arial" panose="020B0604020202020204" pitchFamily="34" charset="0"/>
                </a:rPr>
                <a:t>3</a:t>
              </a:r>
              <a:endParaRPr lang="de-DE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endParaRPr>
            </a:p>
          </p:txBody>
        </p:sp>
        <p:sp>
          <p:nvSpPr>
            <p:cNvPr id="11" name="MIO_AGENDA_ELEMENT_TITEL_4">
              <a:extLst>
                <a:ext uri="{FF2B5EF4-FFF2-40B4-BE49-F238E27FC236}">
                  <a16:creationId xmlns:a16="http://schemas.microsoft.com/office/drawing/2014/main" id="{EFB08CCC-42FD-4C64-EF77-52C375832F3D}"/>
                </a:ext>
              </a:extLst>
            </p:cNvPr>
            <p:cNvSpPr>
              <a:spLocks/>
            </p:cNvSpPr>
            <p:nvPr>
              <p:custDataLst>
                <p:tags r:id="rId9"/>
              </p:custDataLst>
            </p:nvPr>
          </p:nvSpPr>
          <p:spPr>
            <a:xfrm>
              <a:off x="1235076" y="2996411"/>
              <a:ext cx="9791589" cy="50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E9E6E6"/>
                  </a:solidFill>
                </a14:hiddenFill>
              </a:ext>
            </a:extLst>
          </p:spPr>
          <p:txBody>
            <a:bodyPr vert="horz" wrap="none" lIns="0" tIns="36000" rIns="3600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defTabSz="576000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  <a:buFont typeface="Arial" panose="020B0604020202020204" pitchFamily="34" charset="0"/>
                <a:buNone/>
              </a:pPr>
              <a:r>
                <a:rPr lang="en-US" sz="1800">
                  <a:latin typeface="+mn-lt"/>
                </a:rPr>
                <a:t>Workflows to Develop &amp; Utilize a Custom BSP</a:t>
              </a:r>
              <a:endParaRPr lang="de-DE" sz="1800" dirty="0">
                <a:latin typeface="+mn-lt"/>
              </a:endParaRPr>
            </a:p>
          </p:txBody>
        </p:sp>
        <p:sp>
          <p:nvSpPr>
            <p:cNvPr id="12" name="MIO_AGENDA_ELEMENT_ELEMENTNUMBER_4">
              <a:extLst>
                <a:ext uri="{FF2B5EF4-FFF2-40B4-BE49-F238E27FC236}">
                  <a16:creationId xmlns:a16="http://schemas.microsoft.com/office/drawing/2014/main" id="{12EF25DB-5935-4610-2EB5-815E3680093D}"/>
                </a:ext>
              </a:extLst>
            </p:cNvPr>
            <p:cNvSpPr>
              <a:spLocks noChangeAspect="1"/>
            </p:cNvSpPr>
            <p:nvPr>
              <p:custDataLst>
                <p:tags r:id="rId10"/>
              </p:custDataLst>
            </p:nvPr>
          </p:nvSpPr>
          <p:spPr>
            <a:xfrm>
              <a:off x="334434" y="2996411"/>
              <a:ext cx="503937" cy="504000"/>
            </a:xfrm>
            <a:prstGeom prst="ellipse">
              <a:avLst/>
            </a:prstGeom>
            <a:solidFill>
              <a:schemeClr val="accent1"/>
            </a:solidFill>
          </p:spPr>
          <p:txBody>
            <a:bodyPr vert="horz" wrap="none" lIns="0" tIns="36000" rIns="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</a:pPr>
              <a:r>
                <a:rPr lang="de-DE" b="1">
                  <a:solidFill>
                    <a:schemeClr val="bg1"/>
                  </a:solidFill>
                  <a:latin typeface="+mn-lt"/>
                  <a:cs typeface="Arial" panose="020B0604020202020204" pitchFamily="34" charset="0"/>
                </a:rPr>
                <a:t>4</a:t>
              </a:r>
              <a:endParaRPr lang="de-DE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endParaRPr>
            </a:p>
          </p:txBody>
        </p:sp>
        <p:sp>
          <p:nvSpPr>
            <p:cNvPr id="13" name="MIO_AGENDA_ELEMENT_TITEL_5">
              <a:extLst>
                <a:ext uri="{FF2B5EF4-FFF2-40B4-BE49-F238E27FC236}">
                  <a16:creationId xmlns:a16="http://schemas.microsoft.com/office/drawing/2014/main" id="{18F1AA73-9BF4-5D4A-D5C4-5E02FA7BB0F0}"/>
                </a:ext>
              </a:extLst>
            </p:cNvPr>
            <p:cNvSpPr>
              <a:spLocks/>
            </p:cNvSpPr>
            <p:nvPr>
              <p:custDataLst>
                <p:tags r:id="rId11"/>
              </p:custDataLst>
            </p:nvPr>
          </p:nvSpPr>
          <p:spPr>
            <a:xfrm>
              <a:off x="1235076" y="3572411"/>
              <a:ext cx="9791589" cy="50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E9E6E6"/>
                  </a:solidFill>
                </a14:hiddenFill>
              </a:ext>
            </a:extLst>
          </p:spPr>
          <p:txBody>
            <a:bodyPr vert="horz" wrap="none" lIns="0" tIns="36000" rIns="3600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defTabSz="576000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  <a:buFont typeface="Arial" panose="020B0604020202020204" pitchFamily="34" charset="0"/>
                <a:buNone/>
              </a:pPr>
              <a:r>
                <a:rPr lang="en-US" sz="1800">
                  <a:latin typeface="+mn-lt"/>
                </a:rPr>
                <a:t>Middleware Integration — Library Manager &amp; Makefiles</a:t>
              </a:r>
              <a:endParaRPr lang="de-DE" sz="1800" dirty="0">
                <a:latin typeface="+mn-lt"/>
              </a:endParaRPr>
            </a:p>
          </p:txBody>
        </p:sp>
        <p:sp>
          <p:nvSpPr>
            <p:cNvPr id="14" name="MIO_AGENDA_ELEMENT_ELEMENTNUMBER_5">
              <a:extLst>
                <a:ext uri="{FF2B5EF4-FFF2-40B4-BE49-F238E27FC236}">
                  <a16:creationId xmlns:a16="http://schemas.microsoft.com/office/drawing/2014/main" id="{5BD297E8-81C1-FECC-D84A-E1F3FCD28792}"/>
                </a:ext>
              </a:extLst>
            </p:cNvPr>
            <p:cNvSpPr>
              <a:spLocks noChangeAspect="1"/>
            </p:cNvSpPr>
            <p:nvPr>
              <p:custDataLst>
                <p:tags r:id="rId12"/>
              </p:custDataLst>
            </p:nvPr>
          </p:nvSpPr>
          <p:spPr>
            <a:xfrm>
              <a:off x="334434" y="3572411"/>
              <a:ext cx="503937" cy="504000"/>
            </a:xfrm>
            <a:prstGeom prst="ellipse">
              <a:avLst/>
            </a:prstGeom>
            <a:solidFill>
              <a:schemeClr val="accent1"/>
            </a:solidFill>
          </p:spPr>
          <p:txBody>
            <a:bodyPr vert="horz" wrap="none" lIns="0" tIns="36000" rIns="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</a:pPr>
              <a:r>
                <a:rPr lang="de-DE" b="1">
                  <a:solidFill>
                    <a:schemeClr val="bg1"/>
                  </a:solidFill>
                  <a:latin typeface="+mn-lt"/>
                  <a:cs typeface="Arial" panose="020B0604020202020204" pitchFamily="34" charset="0"/>
                </a:rPr>
                <a:t>5</a:t>
              </a:r>
              <a:endParaRPr lang="de-DE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endParaRPr>
            </a:p>
          </p:txBody>
        </p:sp>
        <p:sp>
          <p:nvSpPr>
            <p:cNvPr id="15" name="MIO_AGENDA_ELEMENT_TITEL_6">
              <a:extLst>
                <a:ext uri="{FF2B5EF4-FFF2-40B4-BE49-F238E27FC236}">
                  <a16:creationId xmlns:a16="http://schemas.microsoft.com/office/drawing/2014/main" id="{3C8370C0-5AD8-91E5-4106-F5161FFFD7A7}"/>
                </a:ext>
              </a:extLst>
            </p:cNvPr>
            <p:cNvSpPr>
              <a:spLocks/>
            </p:cNvSpPr>
            <p:nvPr>
              <p:custDataLst>
                <p:tags r:id="rId13"/>
              </p:custDataLst>
            </p:nvPr>
          </p:nvSpPr>
          <p:spPr>
            <a:xfrm>
              <a:off x="1235076" y="4148410"/>
              <a:ext cx="9791589" cy="50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E9E6E6"/>
                  </a:solidFill>
                </a14:hiddenFill>
              </a:ext>
            </a:extLst>
          </p:spPr>
          <p:txBody>
            <a:bodyPr vert="horz" wrap="none" lIns="0" tIns="36000" rIns="3600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defTabSz="576000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  <a:buFont typeface="Arial" panose="020B0604020202020204" pitchFamily="34" charset="0"/>
                <a:buNone/>
              </a:pPr>
              <a:r>
                <a:rPr lang="de-DE" sz="1800">
                  <a:latin typeface="+mn-lt"/>
                </a:rPr>
                <a:t>ModusToolbox™ AI Assistant extension for VS Code</a:t>
              </a:r>
              <a:endParaRPr lang="de-DE" sz="1800" dirty="0">
                <a:latin typeface="+mn-lt"/>
              </a:endParaRPr>
            </a:p>
          </p:txBody>
        </p:sp>
        <p:sp>
          <p:nvSpPr>
            <p:cNvPr id="16" name="MIO_AGENDA_ELEMENT_ELEMENTNUMBER_6">
              <a:extLst>
                <a:ext uri="{FF2B5EF4-FFF2-40B4-BE49-F238E27FC236}">
                  <a16:creationId xmlns:a16="http://schemas.microsoft.com/office/drawing/2014/main" id="{D3933C13-7906-4A89-895C-BF1AE351E65F}"/>
                </a:ext>
              </a:extLst>
            </p:cNvPr>
            <p:cNvSpPr>
              <a:spLocks noChangeAspect="1"/>
            </p:cNvSpPr>
            <p:nvPr>
              <p:custDataLst>
                <p:tags r:id="rId14"/>
              </p:custDataLst>
            </p:nvPr>
          </p:nvSpPr>
          <p:spPr>
            <a:xfrm>
              <a:off x="334434" y="4148410"/>
              <a:ext cx="503937" cy="504000"/>
            </a:xfrm>
            <a:prstGeom prst="ellipse">
              <a:avLst/>
            </a:prstGeom>
            <a:solidFill>
              <a:schemeClr val="accent1"/>
            </a:solidFill>
          </p:spPr>
          <p:txBody>
            <a:bodyPr vert="horz" wrap="none" lIns="0" tIns="36000" rIns="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</a:pPr>
              <a:r>
                <a:rPr lang="de-DE" b="1">
                  <a:solidFill>
                    <a:schemeClr val="bg1"/>
                  </a:solidFill>
                  <a:latin typeface="+mn-lt"/>
                  <a:cs typeface="Arial" panose="020B0604020202020204" pitchFamily="34" charset="0"/>
                </a:rPr>
                <a:t>6</a:t>
              </a:r>
              <a:endParaRPr lang="de-DE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endParaRPr>
            </a:p>
          </p:txBody>
        </p:sp>
        <p:sp>
          <p:nvSpPr>
            <p:cNvPr id="17" name="MIO_AGENDA_ELEMENT_TITEL_7">
              <a:extLst>
                <a:ext uri="{FF2B5EF4-FFF2-40B4-BE49-F238E27FC236}">
                  <a16:creationId xmlns:a16="http://schemas.microsoft.com/office/drawing/2014/main" id="{84B0F71E-C028-9934-32CC-BEBD99D15C07}"/>
                </a:ext>
              </a:extLst>
            </p:cNvPr>
            <p:cNvSpPr>
              <a:spLocks/>
            </p:cNvSpPr>
            <p:nvPr>
              <p:custDataLst>
                <p:tags r:id="rId15"/>
              </p:custDataLst>
            </p:nvPr>
          </p:nvSpPr>
          <p:spPr>
            <a:xfrm>
              <a:off x="1235076" y="4724410"/>
              <a:ext cx="9791589" cy="50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E9E6E6"/>
                  </a:solidFill>
                </a14:hiddenFill>
              </a:ext>
            </a:extLst>
          </p:spPr>
          <p:txBody>
            <a:bodyPr vert="horz" wrap="none" lIns="0" tIns="36000" rIns="3600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defTabSz="576000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  <a:buFont typeface="Arial" panose="020B0604020202020204" pitchFamily="34" charset="0"/>
                <a:buNone/>
              </a:pPr>
              <a:r>
                <a:rPr lang="en-US" sz="1800">
                  <a:latin typeface="+mn-lt"/>
                </a:rPr>
                <a:t>Introduction to the Upcoming ModusToolbox™ SDK</a:t>
              </a:r>
              <a:endParaRPr lang="de-DE" sz="1800" dirty="0">
                <a:latin typeface="+mn-lt"/>
              </a:endParaRPr>
            </a:p>
          </p:txBody>
        </p:sp>
        <p:sp>
          <p:nvSpPr>
            <p:cNvPr id="18" name="MIO_AGENDA_ELEMENT_ELEMENTNUMBER_7">
              <a:extLst>
                <a:ext uri="{FF2B5EF4-FFF2-40B4-BE49-F238E27FC236}">
                  <a16:creationId xmlns:a16="http://schemas.microsoft.com/office/drawing/2014/main" id="{B8163804-58A3-717D-AA14-2CFD6FC22C81}"/>
                </a:ext>
              </a:extLst>
            </p:cNvPr>
            <p:cNvSpPr>
              <a:spLocks noChangeAspect="1"/>
            </p:cNvSpPr>
            <p:nvPr>
              <p:custDataLst>
                <p:tags r:id="rId16"/>
              </p:custDataLst>
            </p:nvPr>
          </p:nvSpPr>
          <p:spPr>
            <a:xfrm>
              <a:off x="334434" y="4724410"/>
              <a:ext cx="503937" cy="504000"/>
            </a:xfrm>
            <a:prstGeom prst="ellipse">
              <a:avLst/>
            </a:prstGeom>
            <a:solidFill>
              <a:schemeClr val="accent1"/>
            </a:solidFill>
          </p:spPr>
          <p:txBody>
            <a:bodyPr vert="horz" wrap="none" lIns="0" tIns="36000" rIns="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</a:pPr>
              <a:r>
                <a:rPr lang="de-DE" b="1">
                  <a:solidFill>
                    <a:schemeClr val="bg1"/>
                  </a:solidFill>
                  <a:latin typeface="+mn-lt"/>
                  <a:cs typeface="Arial" panose="020B0604020202020204" pitchFamily="34" charset="0"/>
                </a:rPr>
                <a:t>7</a:t>
              </a:r>
              <a:endParaRPr lang="de-DE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endParaRPr>
            </a:p>
          </p:txBody>
        </p:sp>
        <p:sp>
          <p:nvSpPr>
            <p:cNvPr id="19" name="MIO_AGENDA_ELEMENT_TITEL_8">
              <a:extLst>
                <a:ext uri="{FF2B5EF4-FFF2-40B4-BE49-F238E27FC236}">
                  <a16:creationId xmlns:a16="http://schemas.microsoft.com/office/drawing/2014/main" id="{8C84FCF4-5ADD-8521-2469-6EE11B1B3652}"/>
                </a:ext>
              </a:extLst>
            </p:cNvPr>
            <p:cNvSpPr>
              <a:spLocks/>
            </p:cNvSpPr>
            <p:nvPr>
              <p:custDataLst>
                <p:tags r:id="rId17"/>
              </p:custDataLst>
            </p:nvPr>
          </p:nvSpPr>
          <p:spPr>
            <a:xfrm>
              <a:off x="1235076" y="5300410"/>
              <a:ext cx="9791589" cy="50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E9E6E6"/>
                  </a:solidFill>
                </a14:hiddenFill>
              </a:ext>
            </a:extLst>
          </p:spPr>
          <p:txBody>
            <a:bodyPr vert="horz" wrap="none" lIns="0" tIns="36000" rIns="3600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defTabSz="576000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  <a:buFont typeface="Arial" panose="020B0604020202020204" pitchFamily="34" charset="0"/>
                <a:buNone/>
              </a:pPr>
              <a:r>
                <a:rPr lang="de-DE" sz="1800">
                  <a:latin typeface="+mn-lt"/>
                </a:rPr>
                <a:t>Q&amp;A</a:t>
              </a:r>
              <a:endParaRPr lang="de-DE" sz="1800" dirty="0">
                <a:latin typeface="+mn-lt"/>
              </a:endParaRPr>
            </a:p>
          </p:txBody>
        </p:sp>
        <p:sp>
          <p:nvSpPr>
            <p:cNvPr id="20" name="MIO_AGENDA_ELEMENT_ELEMENTNUMBER_8">
              <a:extLst>
                <a:ext uri="{FF2B5EF4-FFF2-40B4-BE49-F238E27FC236}">
                  <a16:creationId xmlns:a16="http://schemas.microsoft.com/office/drawing/2014/main" id="{D0D9FCD4-1DAA-3B02-8E98-BBC60F73115A}"/>
                </a:ext>
              </a:extLst>
            </p:cNvPr>
            <p:cNvSpPr>
              <a:spLocks noChangeAspect="1"/>
            </p:cNvSpPr>
            <p:nvPr>
              <p:custDataLst>
                <p:tags r:id="rId18"/>
              </p:custDataLst>
            </p:nvPr>
          </p:nvSpPr>
          <p:spPr>
            <a:xfrm>
              <a:off x="334434" y="5300410"/>
              <a:ext cx="503937" cy="504000"/>
            </a:xfrm>
            <a:prstGeom prst="ellipse">
              <a:avLst/>
            </a:prstGeom>
            <a:solidFill>
              <a:schemeClr val="accent1"/>
            </a:solidFill>
          </p:spPr>
          <p:txBody>
            <a:bodyPr vert="horz" wrap="none" lIns="0" tIns="36000" rIns="0" bIns="36000" rtlCol="0" anchor="ctr">
              <a:norm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1pPr>
              <a:lvl2pPr marL="609585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2pPr>
              <a:lvl3pPr marL="1219170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3pPr>
              <a:lvl4pPr marL="1828754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4pPr>
              <a:lvl5pPr marL="2438339" algn="l" rtl="0" fontAlgn="base">
                <a:spcBef>
                  <a:spcPct val="0"/>
                </a:spcBef>
                <a:spcAft>
                  <a:spcPct val="0"/>
                </a:spcAft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1400" kern="1200">
                  <a:solidFill>
                    <a:schemeClr val="tx1"/>
                  </a:solidFill>
                  <a:latin typeface="Arial" charset="0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ct val="100000"/>
              </a:pPr>
              <a:r>
                <a:rPr lang="de-DE" b="1">
                  <a:solidFill>
                    <a:schemeClr val="bg1"/>
                  </a:solidFill>
                  <a:latin typeface="+mn-lt"/>
                  <a:cs typeface="Arial" panose="020B0604020202020204" pitchFamily="34" charset="0"/>
                </a:rPr>
                <a:t>8</a:t>
              </a:r>
              <a:endParaRPr lang="de-DE" b="1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624A036-9EA3-8F81-4695-3DEC28ED37F7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612441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958AB-4322-AD79-00A1-D97649B7E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Roadmap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13C32EA-6C30-08D6-93D3-B07A11068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232286"/>
              </p:ext>
            </p:extLst>
          </p:nvPr>
        </p:nvGraphicFramePr>
        <p:xfrm>
          <a:off x="334963" y="1447800"/>
          <a:ext cx="11520486" cy="419100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960437">
                  <a:extLst>
                    <a:ext uri="{9D8B030D-6E8A-4147-A177-3AD203B41FA5}">
                      <a16:colId xmlns:a16="http://schemas.microsoft.com/office/drawing/2014/main" val="3588156999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1677476517"/>
                    </a:ext>
                  </a:extLst>
                </a:gridCol>
                <a:gridCol w="6902449">
                  <a:extLst>
                    <a:ext uri="{9D8B030D-6E8A-4147-A177-3AD203B41FA5}">
                      <a16:colId xmlns:a16="http://schemas.microsoft.com/office/drawing/2014/main" val="32639531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b="1">
                          <a:solidFill>
                            <a:schemeClr val="bg1"/>
                          </a:solidFill>
                          <a:effectLst/>
                        </a:rPr>
                        <a:t>#</a:t>
                      </a:r>
                      <a:endParaRPr lang="en-US" b="1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Topic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Key Skill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42862701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1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Version Control &amp; Git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Know what to commit, what to ignore, how to collaborate</a:t>
                      </a:r>
                    </a:p>
                  </a:txBody>
                  <a:tcPr marL="76200" marR="76200" marT="182880" marB="182880"/>
                </a:tc>
                <a:extLst>
                  <a:ext uri="{0D108BD9-81ED-4DB2-BD59-A6C34878D82A}">
                    <a16:rowId xmlns:a16="http://schemas.microsoft.com/office/drawing/2014/main" val="2927776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2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Project Sharing &amp; Export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Send a working project to anyone — colleague, customer, Infineon</a:t>
                      </a:r>
                    </a:p>
                  </a:txBody>
                  <a:tcPr marL="76200" marR="76200" marT="182880" marB="182880"/>
                </a:tc>
                <a:extLst>
                  <a:ext uri="{0D108BD9-81ED-4DB2-BD59-A6C34878D82A}">
                    <a16:rowId xmlns:a16="http://schemas.microsoft.com/office/drawing/2014/main" val="2685432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3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Understanding BSPs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How BSPs bridge your app code and hardware</a:t>
                      </a:r>
                    </a:p>
                  </a:txBody>
                  <a:tcPr marL="76200" marR="76200" marT="182880" marB="182880"/>
                </a:tc>
                <a:extLst>
                  <a:ext uri="{0D108BD9-81ED-4DB2-BD59-A6C34878D82A}">
                    <a16:rowId xmlns:a16="http://schemas.microsoft.com/office/drawing/2014/main" val="2874322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4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Custom BSP Workflows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Build a custom BSP for production hardware</a:t>
                      </a:r>
                    </a:p>
                  </a:txBody>
                  <a:tcPr marL="76200" marR="76200" marT="182880" marB="182880"/>
                </a:tc>
                <a:extLst>
                  <a:ext uri="{0D108BD9-81ED-4DB2-BD59-A6C34878D82A}">
                    <a16:rowId xmlns:a16="http://schemas.microsoft.com/office/drawing/2014/main" val="3056721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5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Middleware &amp; Library Manager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Add libraries, manage dependencies, understand the </a:t>
                      </a:r>
                      <a:r>
                        <a:rPr lang="en-US" dirty="0" err="1">
                          <a:solidFill>
                            <a:srgbClr val="222222"/>
                          </a:solidFill>
                          <a:effectLst/>
                        </a:rPr>
                        <a:t>Makefile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76200" marR="76200" marT="182880" marB="182880"/>
                </a:tc>
                <a:extLst>
                  <a:ext uri="{0D108BD9-81ED-4DB2-BD59-A6C34878D82A}">
                    <a16:rowId xmlns:a16="http://schemas.microsoft.com/office/drawing/2014/main" val="3577547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6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The ModusToolbox™ SDK</a:t>
                      </a:r>
                    </a:p>
                  </a:txBody>
                  <a:tcPr marL="76200" marR="7620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What's coming and why it matters</a:t>
                      </a:r>
                    </a:p>
                  </a:txBody>
                  <a:tcPr marL="76200" marR="76200" marT="182880" marB="182880"/>
                </a:tc>
                <a:extLst>
                  <a:ext uri="{0D108BD9-81ED-4DB2-BD59-A6C34878D82A}">
                    <a16:rowId xmlns:a16="http://schemas.microsoft.com/office/drawing/2014/main" val="3712389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6916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33C25B-8AFB-5F99-57CF-D083A368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effectively with </a:t>
            </a:r>
            <a:br>
              <a:rPr lang="en-US" dirty="0"/>
            </a:br>
            <a:r>
              <a:rPr lang="en-US" dirty="0"/>
              <a:t>version control and git</a:t>
            </a:r>
          </a:p>
        </p:txBody>
      </p:sp>
    </p:spTree>
    <p:extLst>
      <p:ext uri="{BB962C8B-B14F-4D97-AF65-F5344CB8AC3E}">
        <p14:creationId xmlns:p14="http://schemas.microsoft.com/office/powerpoint/2010/main" val="2523096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A3DB54-EDAA-323A-87B5-63B2513F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ModusToolbox™ project structure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60AD82-6277-770C-1369-88AC8C95F1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02" b="5819"/>
          <a:stretch>
            <a:fillRect/>
          </a:stretch>
        </p:blipFill>
        <p:spPr>
          <a:xfrm>
            <a:off x="1371600" y="1066800"/>
            <a:ext cx="9144000" cy="5334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949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65BC6-A1C9-5083-FD78-34BB43972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41AE33-397F-577B-BF20-E6AF1049A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The .</a:t>
            </a:r>
            <a:r>
              <a:rPr lang="en-US" dirty="0" err="1"/>
              <a:t>mtb</a:t>
            </a:r>
            <a:r>
              <a:rPr lang="en-US" dirty="0"/>
              <a:t> dependency model</a:t>
            </a:r>
          </a:p>
        </p:txBody>
      </p:sp>
      <p:sp>
        <p:nvSpPr>
          <p:cNvPr id="5" name="Chevron 6">
            <a:extLst>
              <a:ext uri="{FF2B5EF4-FFF2-40B4-BE49-F238E27FC236}">
                <a16:creationId xmlns:a16="http://schemas.microsoft.com/office/drawing/2014/main" id="{A7934B3C-AF39-1FFD-736A-38C92D0715B5}"/>
              </a:ext>
            </a:extLst>
          </p:cNvPr>
          <p:cNvSpPr/>
          <p:nvPr/>
        </p:nvSpPr>
        <p:spPr>
          <a:xfrm>
            <a:off x="7410450" y="1238253"/>
            <a:ext cx="4107788" cy="1025457"/>
          </a:xfrm>
          <a:prstGeom prst="chevron">
            <a:avLst>
              <a:gd name="adj" fmla="val 20758"/>
            </a:avLst>
          </a:prstGeom>
          <a:solidFill>
            <a:schemeClr val="tx2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182880" tIns="0" bIns="91440" rtlCol="0" anchor="ctr" anchorCtr="0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Workspace clone of library</a:t>
            </a:r>
          </a:p>
          <a:p>
            <a:pPr algn="ctr"/>
            <a:r>
              <a:rPr lang="en-US" sz="1200" dirty="0" err="1">
                <a:solidFill>
                  <a:srgbClr val="FFFFFF"/>
                </a:solidFill>
              </a:rPr>
              <a:t>mtb_shared</a:t>
            </a:r>
            <a:r>
              <a:rPr lang="en-US" sz="1200" dirty="0">
                <a:solidFill>
                  <a:srgbClr val="FFFFFF"/>
                </a:solidFill>
              </a:rPr>
              <a:t>/retarget-io/release-v1.9.0/</a:t>
            </a:r>
          </a:p>
        </p:txBody>
      </p:sp>
      <p:sp>
        <p:nvSpPr>
          <p:cNvPr id="6" name="Chevron 20">
            <a:extLst>
              <a:ext uri="{FF2B5EF4-FFF2-40B4-BE49-F238E27FC236}">
                <a16:creationId xmlns:a16="http://schemas.microsoft.com/office/drawing/2014/main" id="{7A451A3E-567D-B256-C396-AE96A0251924}"/>
              </a:ext>
            </a:extLst>
          </p:cNvPr>
          <p:cNvSpPr/>
          <p:nvPr/>
        </p:nvSpPr>
        <p:spPr>
          <a:xfrm>
            <a:off x="3606125" y="1238253"/>
            <a:ext cx="4107788" cy="1025457"/>
          </a:xfrm>
          <a:prstGeom prst="chevron">
            <a:avLst>
              <a:gd name="adj" fmla="val 20758"/>
            </a:avLst>
          </a:prstGeom>
          <a:solidFill>
            <a:srgbClr val="3B9B91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182880" tIns="0" bIns="91440" rtlCol="0" anchor="ctr" anchorCtr="0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Resolution of dependencies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</a:rPr>
              <a:t>make </a:t>
            </a:r>
            <a:r>
              <a:rPr lang="en-US" sz="1200" dirty="0" err="1">
                <a:solidFill>
                  <a:srgbClr val="FFFFFF"/>
                </a:solidFill>
              </a:rPr>
              <a:t>getlibs</a:t>
            </a:r>
            <a:endParaRPr lang="en-US" sz="1200" dirty="0">
              <a:solidFill>
                <a:srgbClr val="FFFFFF"/>
              </a:solidFill>
            </a:endParaRPr>
          </a:p>
        </p:txBody>
      </p:sp>
      <p:sp>
        <p:nvSpPr>
          <p:cNvPr id="8" name="Pentagon 3">
            <a:extLst>
              <a:ext uri="{FF2B5EF4-FFF2-40B4-BE49-F238E27FC236}">
                <a16:creationId xmlns:a16="http://schemas.microsoft.com/office/drawing/2014/main" id="{FEBB7A6E-98FF-A4A9-F7CF-0A36B0667814}"/>
              </a:ext>
            </a:extLst>
          </p:cNvPr>
          <p:cNvSpPr/>
          <p:nvPr/>
        </p:nvSpPr>
        <p:spPr>
          <a:xfrm>
            <a:off x="457400" y="1238253"/>
            <a:ext cx="3452188" cy="1025457"/>
          </a:xfrm>
          <a:prstGeom prst="homePlate">
            <a:avLst>
              <a:gd name="adj" fmla="val 22102"/>
            </a:avLst>
          </a:prstGeom>
          <a:solidFill>
            <a:srgbClr val="6CB4AD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72000" tIns="0" rIns="72000" bIns="72000" rtlCol="0" anchor="ctr" anchorCtr="0"/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User required library</a:t>
            </a:r>
          </a:p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chemeClr val="bg1"/>
                </a:solidFill>
              </a:rPr>
              <a:t>deps/retarget-</a:t>
            </a:r>
            <a:r>
              <a:rPr lang="en-US" sz="1200" dirty="0" err="1">
                <a:solidFill>
                  <a:schemeClr val="bg1"/>
                </a:solidFill>
              </a:rPr>
              <a:t>io.mtb</a:t>
            </a:r>
            <a:endParaRPr lang="en-US" sz="1200" dirty="0">
              <a:solidFill>
                <a:schemeClr val="bg1"/>
              </a:solidFill>
            </a:endParaRPr>
          </a:p>
        </p:txBody>
      </p:sp>
      <p:cxnSp>
        <p:nvCxnSpPr>
          <p:cNvPr id="14" name="Straight Connector 16">
            <a:extLst>
              <a:ext uri="{FF2B5EF4-FFF2-40B4-BE49-F238E27FC236}">
                <a16:creationId xmlns:a16="http://schemas.microsoft.com/office/drawing/2014/main" id="{6FA706A3-68B6-B471-9F62-9B023024B9B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198997" y="2272395"/>
            <a:ext cx="439604" cy="2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7">
            <a:extLst>
              <a:ext uri="{FF2B5EF4-FFF2-40B4-BE49-F238E27FC236}">
                <a16:creationId xmlns:a16="http://schemas.microsoft.com/office/drawing/2014/main" id="{5C5AD7E0-3E3F-9647-52E7-1DD51DB3EC8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523000" y="2272395"/>
            <a:ext cx="439604" cy="225"/>
          </a:xfrm>
          <a:prstGeom prst="line">
            <a:avLst/>
          </a:prstGeom>
          <a:ln>
            <a:solidFill>
              <a:srgbClr val="B8DE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8">
            <a:extLst>
              <a:ext uri="{FF2B5EF4-FFF2-40B4-BE49-F238E27FC236}">
                <a16:creationId xmlns:a16="http://schemas.microsoft.com/office/drawing/2014/main" id="{4B38B2E1-F7E9-793C-6F2F-6E0FBD259C1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440217" y="2272395"/>
            <a:ext cx="439604" cy="225"/>
          </a:xfrm>
          <a:prstGeom prst="line">
            <a:avLst/>
          </a:prstGeom>
          <a:ln>
            <a:solidFill>
              <a:srgbClr val="3B9B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">
            <a:extLst>
              <a:ext uri="{FF2B5EF4-FFF2-40B4-BE49-F238E27FC236}">
                <a16:creationId xmlns:a16="http://schemas.microsoft.com/office/drawing/2014/main" id="{A86AC139-4C90-C526-14C7-C9EF8E868EFE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>
            <a:off x="557491" y="3256391"/>
            <a:ext cx="2871509" cy="1620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r>
              <a:rPr lang="en-US" sz="1400" dirty="0"/>
              <a:t>URL: </a:t>
            </a:r>
            <a:r>
              <a:rPr lang="en-US" sz="1200" dirty="0">
                <a:hlinkClick r:id="rId9"/>
              </a:rPr>
              <a:t>https://github.com/Infineon/retarget-io</a:t>
            </a:r>
            <a:br>
              <a:rPr lang="en-US" sz="1200" dirty="0"/>
            </a:br>
            <a:endParaRPr lang="en-US" sz="1200" dirty="0"/>
          </a:p>
          <a:p>
            <a:r>
              <a:rPr lang="en-US" sz="1400" dirty="0"/>
              <a:t>Version: release-v1.10.0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Path: libs/retarget-io</a:t>
            </a:r>
          </a:p>
        </p:txBody>
      </p:sp>
      <p:sp>
        <p:nvSpPr>
          <p:cNvPr id="29" name="TextBox">
            <a:extLst>
              <a:ext uri="{FF2B5EF4-FFF2-40B4-BE49-F238E27FC236}">
                <a16:creationId xmlns:a16="http://schemas.microsoft.com/office/drawing/2014/main" id="{22241018-A1C9-4603-C9E2-A9903B16455F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3909588" y="3256391"/>
            <a:ext cx="3495736" cy="21724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r>
              <a:rPr lang="en-US" sz="1400" dirty="0"/>
              <a:t>Parses the .</a:t>
            </a:r>
            <a:r>
              <a:rPr lang="en-US" sz="1400" dirty="0" err="1"/>
              <a:t>mtb</a:t>
            </a:r>
            <a:r>
              <a:rPr lang="en-US" sz="1400" dirty="0"/>
              <a:t> file</a:t>
            </a:r>
          </a:p>
          <a:p>
            <a:pPr lvl="1"/>
            <a:r>
              <a:rPr lang="en-US" sz="1200" dirty="0"/>
              <a:t>Runs git clone with the specified URL </a:t>
            </a:r>
            <a:br>
              <a:rPr lang="en-US" sz="1200" dirty="0"/>
            </a:br>
            <a:r>
              <a:rPr lang="en-US" sz="1200" dirty="0"/>
              <a:t>and version tag</a:t>
            </a:r>
          </a:p>
          <a:p>
            <a:pPr lvl="1"/>
            <a:r>
              <a:rPr lang="en-US" sz="1200" dirty="0"/>
              <a:t>Resolves transitive dependencies (each library can have its own deps/) </a:t>
            </a:r>
            <a:br>
              <a:rPr lang="en-US" sz="1200" dirty="0"/>
            </a:br>
            <a:endParaRPr lang="en-US" sz="1200" dirty="0"/>
          </a:p>
          <a:p>
            <a:r>
              <a:rPr lang="en-US" sz="1400" dirty="0"/>
              <a:t>Generates</a:t>
            </a:r>
          </a:p>
          <a:p>
            <a:pPr lvl="1"/>
            <a:r>
              <a:rPr lang="en-US" sz="1200" dirty="0"/>
              <a:t>libs/mtb.mk</a:t>
            </a:r>
          </a:p>
          <a:p>
            <a:pPr lvl="1"/>
            <a:r>
              <a:rPr lang="en-US" sz="1200" dirty="0"/>
              <a:t>SEARCH_* paths</a:t>
            </a:r>
            <a:endParaRPr lang="en-US" sz="1000" dirty="0"/>
          </a:p>
        </p:txBody>
      </p:sp>
      <p:sp>
        <p:nvSpPr>
          <p:cNvPr id="30" name="TextBox">
            <a:extLst>
              <a:ext uri="{FF2B5EF4-FFF2-40B4-BE49-F238E27FC236}">
                <a16:creationId xmlns:a16="http://schemas.microsoft.com/office/drawing/2014/main" id="{64A51177-D85C-AE25-0520-6C333BAA877A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7756341" y="3256391"/>
            <a:ext cx="3878168" cy="1620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r>
              <a:rPr lang="en-US" sz="1400" dirty="0"/>
              <a:t>Full library source code, checked out at the pinned version.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Shared across all projects in the workspace.</a:t>
            </a:r>
          </a:p>
          <a:p>
            <a:pPr lvl="1"/>
            <a:r>
              <a:rPr lang="en-US" sz="1200" dirty="0"/>
              <a:t>Never committed to any project's Git repo.</a:t>
            </a:r>
          </a:p>
        </p:txBody>
      </p:sp>
      <p:pic>
        <p:nvPicPr>
          <p:cNvPr id="10" name="Computer">
            <a:extLst>
              <a:ext uri="{FF2B5EF4-FFF2-40B4-BE49-F238E27FC236}">
                <a16:creationId xmlns:a16="http://schemas.microsoft.com/office/drawing/2014/main" id="{22B5C20E-BB1F-F074-0E27-80CE14C350D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90199" y="2638114"/>
            <a:ext cx="457200" cy="457200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A23F8761-87E0-1845-11C9-13E36BC117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4202" y="2638113"/>
            <a:ext cx="457200" cy="457200"/>
          </a:xfrm>
          <a:prstGeom prst="rect">
            <a:avLst/>
          </a:prstGeom>
        </p:spPr>
      </p:pic>
      <p:pic>
        <p:nvPicPr>
          <p:cNvPr id="9" name="Cloud">
            <a:extLst>
              <a:ext uri="{FF2B5EF4-FFF2-40B4-BE49-F238E27FC236}">
                <a16:creationId xmlns:a16="http://schemas.microsoft.com/office/drawing/2014/main" id="{997BA07C-533C-8849-9BE0-07EB8FAC4B91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428856" y="2627330"/>
            <a:ext cx="457200" cy="4572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04242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9E6BA-6AD6-0F42-F7A9-D5600F7D4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6E352148-9F28-595E-3AB2-1E3F39B48B1D}"/>
              </a:ext>
            </a:extLst>
          </p:cNvPr>
          <p:cNvSpPr/>
          <p:nvPr/>
        </p:nvSpPr>
        <p:spPr>
          <a:xfrm>
            <a:off x="6126038" y="1905000"/>
            <a:ext cx="5724000" cy="4400486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/>
          </a:p>
        </p:txBody>
      </p:sp>
      <p:sp>
        <p:nvSpPr>
          <p:cNvPr id="4" name="Rounded Rectangle 10">
            <a:extLst>
              <a:ext uri="{FF2B5EF4-FFF2-40B4-BE49-F238E27FC236}">
                <a16:creationId xmlns:a16="http://schemas.microsoft.com/office/drawing/2014/main" id="{10AFE340-EF90-B1A4-ED77-58279097C1A5}"/>
              </a:ext>
            </a:extLst>
          </p:cNvPr>
          <p:cNvSpPr/>
          <p:nvPr/>
        </p:nvSpPr>
        <p:spPr>
          <a:xfrm>
            <a:off x="334434" y="1905000"/>
            <a:ext cx="5724000" cy="440048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0" rtlCol="0" anchor="ctr"/>
          <a:lstStyle/>
          <a:p>
            <a:pPr algn="ctr"/>
            <a:endParaRPr lang="en-US" sz="320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132AC5A-1A4C-B79C-DBA4-536934C7C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What are deps/ and libs/ folders?</a:t>
            </a:r>
          </a:p>
        </p:txBody>
      </p:sp>
      <p:sp>
        <p:nvSpPr>
          <p:cNvPr id="10" name="Rechteck 42">
            <a:extLst>
              <a:ext uri="{FF2B5EF4-FFF2-40B4-BE49-F238E27FC236}">
                <a16:creationId xmlns:a16="http://schemas.microsoft.com/office/drawing/2014/main" id="{A1865F31-F241-ABAE-FC11-BFC97669DF11}"/>
              </a:ext>
            </a:extLst>
          </p:cNvPr>
          <p:cNvSpPr/>
          <p:nvPr/>
        </p:nvSpPr>
        <p:spPr bwMode="auto">
          <a:xfrm>
            <a:off x="5194942" y="3123444"/>
            <a:ext cx="1800000" cy="180000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r>
              <a:rPr lang="en-US" sz="1800" b="1" dirty="0">
                <a:solidFill>
                  <a:schemeClr val="bg1"/>
                </a:solidFill>
                <a:latin typeface="+mn-lt"/>
                <a:ea typeface="Verdana" pitchFamily="34" charset="0"/>
                <a:cs typeface="Verdana" pitchFamily="34" charset="0"/>
              </a:rPr>
              <a:t>Text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09816E-8E5E-5F12-EAF2-0EEEF284D184}"/>
              </a:ext>
            </a:extLst>
          </p:cNvPr>
          <p:cNvSpPr txBox="1">
            <a:spLocks/>
          </p:cNvSpPr>
          <p:nvPr/>
        </p:nvSpPr>
        <p:spPr>
          <a:xfrm>
            <a:off x="518855" y="2209801"/>
            <a:ext cx="4320000" cy="39716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52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latin typeface="+mn-lt"/>
              </a:defRPr>
            </a:lvl1pPr>
            <a:lvl2pPr marL="504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latin typeface="+mn-lt"/>
              </a:defRPr>
            </a:lvl2pPr>
            <a:lvl3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3pPr>
            <a:lvl4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4pPr>
            <a:lvl5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5pPr>
            <a:lvl6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baseline="0">
                <a:latin typeface="+mn-lt"/>
              </a:defRPr>
            </a:lvl6pPr>
            <a:lvl7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7pPr>
            <a:lvl8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8pPr>
            <a:lvl9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9pPr>
          </a:lstStyle>
          <a:p>
            <a:pPr>
              <a:buClr>
                <a:schemeClr val="bg1"/>
              </a:buClr>
              <a:buFont typeface="Symbol" panose="05050102010706020507" pitchFamily="18" charset="2"/>
              <a:buChar char="-"/>
            </a:pPr>
            <a:r>
              <a:rPr lang="en-US" b="1" dirty="0">
                <a:solidFill>
                  <a:schemeClr val="bg1"/>
                </a:solidFill>
              </a:rPr>
              <a:t>What is inside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.</a:t>
            </a:r>
            <a:r>
              <a:rPr lang="en-US" dirty="0" err="1">
                <a:solidFill>
                  <a:schemeClr val="bg1"/>
                </a:solidFill>
              </a:rPr>
              <a:t>mtb</a:t>
            </a:r>
            <a:r>
              <a:rPr lang="en-US" dirty="0">
                <a:solidFill>
                  <a:schemeClr val="bg1"/>
                </a:solidFill>
              </a:rPr>
              <a:t> files you declare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  <a:buFont typeface="Symbol" panose="05050102010706020507" pitchFamily="18" charset="2"/>
              <a:buChar char="-"/>
            </a:pPr>
            <a:r>
              <a:rPr lang="en-US" b="1" dirty="0">
                <a:solidFill>
                  <a:schemeClr val="bg1"/>
                </a:solidFill>
              </a:rPr>
              <a:t>Who controls it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You (the developer)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  <a:buFont typeface="Symbol" panose="05050102010706020507" pitchFamily="18" charset="2"/>
              <a:buChar char="-"/>
            </a:pPr>
            <a:r>
              <a:rPr lang="en-US" b="1" dirty="0">
                <a:solidFill>
                  <a:schemeClr val="bg1"/>
                </a:solidFill>
              </a:rPr>
              <a:t>What is represents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What you asked for</a:t>
            </a:r>
          </a:p>
          <a:p>
            <a:pPr>
              <a:buClr>
                <a:schemeClr val="bg1"/>
              </a:buClr>
              <a:buFont typeface="Symbol" panose="05050102010706020507" pitchFamily="18" charset="2"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  <a:buFont typeface="Symbol" panose="05050102010706020507" pitchFamily="18" charset="2"/>
              <a:buChar char="-"/>
            </a:pPr>
            <a:r>
              <a:rPr lang="en-US" b="1" dirty="0">
                <a:solidFill>
                  <a:schemeClr val="bg1"/>
                </a:solidFill>
              </a:rPr>
              <a:t>Version control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Yes, this should in the git commit</a:t>
            </a:r>
          </a:p>
          <a:p>
            <a:pPr marL="0" indent="0">
              <a:buClr>
                <a:schemeClr val="bg1"/>
              </a:buClr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79F0524-C2D1-B076-28A6-E3C5D6AFB235}"/>
              </a:ext>
            </a:extLst>
          </p:cNvPr>
          <p:cNvSpPr txBox="1">
            <a:spLocks/>
          </p:cNvSpPr>
          <p:nvPr/>
        </p:nvSpPr>
        <p:spPr>
          <a:xfrm>
            <a:off x="6994941" y="2209800"/>
            <a:ext cx="4678203" cy="3971634"/>
          </a:xfrm>
          <a:prstGeom prst="rect">
            <a:avLst/>
          </a:prstGeom>
        </p:spPr>
        <p:txBody>
          <a:bodyPr vert="horz" lIns="180000" tIns="0" rIns="0" bIns="0" rtlCol="0">
            <a:noAutofit/>
          </a:bodyPr>
          <a:lstStyle>
            <a:lvl1pPr marL="252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latin typeface="+mn-lt"/>
              </a:defRPr>
            </a:lvl1pPr>
            <a:lvl2pPr marL="504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latin typeface="+mn-lt"/>
              </a:defRPr>
            </a:lvl2pPr>
            <a:lvl3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3pPr>
            <a:lvl4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4pPr>
            <a:lvl5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5pPr>
            <a:lvl6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baseline="0">
                <a:latin typeface="+mn-lt"/>
              </a:defRPr>
            </a:lvl6pPr>
            <a:lvl7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7pPr>
            <a:lvl8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8pPr>
            <a:lvl9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9pPr>
          </a:lstStyle>
          <a:p>
            <a:r>
              <a:rPr lang="en-US" b="1" dirty="0"/>
              <a:t>What is inside</a:t>
            </a:r>
            <a:br>
              <a:rPr lang="en-US" dirty="0"/>
            </a:br>
            <a:r>
              <a:rPr lang="en-US" dirty="0"/>
              <a:t>resolved .</a:t>
            </a:r>
            <a:r>
              <a:rPr lang="en-US" dirty="0" err="1"/>
              <a:t>mtb</a:t>
            </a:r>
            <a:r>
              <a:rPr lang="en-US" dirty="0"/>
              <a:t> file or generated .</a:t>
            </a:r>
            <a:r>
              <a:rPr lang="en-US" dirty="0" err="1"/>
              <a:t>mk</a:t>
            </a:r>
            <a:r>
              <a:rPr lang="en-US" dirty="0"/>
              <a:t> files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Who controls it</a:t>
            </a:r>
            <a:br>
              <a:rPr lang="en-US" dirty="0"/>
            </a:br>
            <a:r>
              <a:rPr lang="en-US" dirty="0"/>
              <a:t>make </a:t>
            </a:r>
            <a:r>
              <a:rPr lang="en-US" dirty="0" err="1"/>
              <a:t>getlibs</a:t>
            </a:r>
            <a:r>
              <a:rPr lang="en-US" dirty="0"/>
              <a:t> (the tool)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What is represents</a:t>
            </a:r>
            <a:br>
              <a:rPr lang="en-US" dirty="0"/>
            </a:br>
            <a:r>
              <a:rPr lang="en-US" dirty="0"/>
              <a:t>Everything the build actually needs</a:t>
            </a:r>
          </a:p>
          <a:p>
            <a:endParaRPr lang="en-US" dirty="0"/>
          </a:p>
          <a:p>
            <a:r>
              <a:rPr lang="en-US" b="1" dirty="0"/>
              <a:t>Version control</a:t>
            </a:r>
            <a:br>
              <a:rPr lang="en-US" dirty="0"/>
            </a:br>
            <a:r>
              <a:rPr lang="en-US" dirty="0"/>
              <a:t>No, this is restored and reconstructed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68D726-9867-3C34-0EDE-0C815B569DA4}"/>
              </a:ext>
            </a:extLst>
          </p:cNvPr>
          <p:cNvSpPr/>
          <p:nvPr/>
        </p:nvSpPr>
        <p:spPr bwMode="auto">
          <a:xfrm>
            <a:off x="6058434" y="2983395"/>
            <a:ext cx="61379" cy="199844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Rechteck 42">
            <a:extLst>
              <a:ext uri="{FF2B5EF4-FFF2-40B4-BE49-F238E27FC236}">
                <a16:creationId xmlns:a16="http://schemas.microsoft.com/office/drawing/2014/main" id="{FB07970F-DDD4-D3F1-3C97-BDD78ED6BB7F}"/>
              </a:ext>
            </a:extLst>
          </p:cNvPr>
          <p:cNvSpPr/>
          <p:nvPr/>
        </p:nvSpPr>
        <p:spPr bwMode="auto">
          <a:xfrm>
            <a:off x="5374942" y="3303444"/>
            <a:ext cx="1440000" cy="14400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r>
              <a:rPr lang="en-US" sz="2400" b="1" dirty="0">
                <a:solidFill>
                  <a:schemeClr val="bg1"/>
                </a:solidFill>
                <a:latin typeface="+mn-lt"/>
                <a:ea typeface="Verdana" pitchFamily="34" charset="0"/>
                <a:cs typeface="Verdana" pitchFamily="34" charset="0"/>
              </a:rPr>
              <a:t>VS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C24D99-B526-0BF8-001E-AE50302B5EA8}"/>
              </a:ext>
            </a:extLst>
          </p:cNvPr>
          <p:cNvSpPr/>
          <p:nvPr/>
        </p:nvSpPr>
        <p:spPr bwMode="auto">
          <a:xfrm>
            <a:off x="334434" y="1219200"/>
            <a:ext cx="5724000" cy="6096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US" sz="2400" b="1" dirty="0">
                <a:solidFill>
                  <a:schemeClr val="bg1"/>
                </a:solidFill>
                <a:latin typeface="+mn-lt"/>
              </a:rPr>
              <a:t>deps/</a:t>
            </a:r>
            <a:endParaRPr lang="en-US" sz="2400" b="1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2C2945-72F8-28FC-AAF2-D04494FB0CC6}"/>
              </a:ext>
            </a:extLst>
          </p:cNvPr>
          <p:cNvSpPr/>
          <p:nvPr/>
        </p:nvSpPr>
        <p:spPr bwMode="auto">
          <a:xfrm>
            <a:off x="6126038" y="1219200"/>
            <a:ext cx="5724000" cy="609600"/>
          </a:xfrm>
          <a:prstGeom prst="rect">
            <a:avLst/>
          </a:prstGeom>
          <a:noFill/>
          <a:ln w="9525">
            <a:solidFill>
              <a:srgbClr val="0A8276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US" sz="2400" b="1" dirty="0">
                <a:solidFill>
                  <a:srgbClr val="0A8276"/>
                </a:solidFill>
                <a:latin typeface="+mn-lt"/>
              </a:rPr>
              <a:t>libs/</a:t>
            </a:r>
            <a:endParaRPr lang="en-US" sz="2400" b="1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81798571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BFAA60-D7E1-D2C0-BB5D-B5191FD911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4800" y="5410200"/>
            <a:ext cx="11520000" cy="971551"/>
          </a:xfrm>
        </p:spPr>
        <p:txBody>
          <a:bodyPr/>
          <a:lstStyle/>
          <a:p>
            <a:r>
              <a:rPr lang="en-US" dirty="0"/>
              <a:t>ModusToolbox™ Code Example projects include a starting .</a:t>
            </a:r>
            <a:r>
              <a:rPr lang="en-US" dirty="0" err="1"/>
              <a:t>gitignore</a:t>
            </a:r>
            <a:r>
              <a:rPr lang="en-US" dirty="0"/>
              <a:t> reference file.</a:t>
            </a:r>
          </a:p>
          <a:p>
            <a:r>
              <a:rPr lang="en-US" dirty="0"/>
              <a:t>This file should be edited based on the user’s workflow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C6C315-7992-8438-C87F-675B89E8E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commit, what to ignore?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B7B059-D9BC-786A-3320-8378949199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4060042"/>
              </p:ext>
            </p:extLst>
          </p:nvPr>
        </p:nvGraphicFramePr>
        <p:xfrm>
          <a:off x="661581" y="1524000"/>
          <a:ext cx="10866438" cy="3200400"/>
        </p:xfrm>
        <a:graphic>
          <a:graphicData uri="http://schemas.openxmlformats.org/drawingml/2006/table">
            <a:tbl>
              <a:tblPr firstRow="1" firstCol="1" bandCol="1">
                <a:tableStyleId>{B301B821-A1FF-4177-AEE7-76D212191A09}</a:tableStyleId>
              </a:tblPr>
              <a:tblGrid>
                <a:gridCol w="4140471">
                  <a:extLst>
                    <a:ext uri="{9D8B030D-6E8A-4147-A177-3AD203B41FA5}">
                      <a16:colId xmlns:a16="http://schemas.microsoft.com/office/drawing/2014/main" val="38016829"/>
                    </a:ext>
                  </a:extLst>
                </a:gridCol>
                <a:gridCol w="6725967">
                  <a:extLst>
                    <a:ext uri="{9D8B030D-6E8A-4147-A177-3AD203B41FA5}">
                      <a16:colId xmlns:a16="http://schemas.microsoft.com/office/drawing/2014/main" val="1368494463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COMMIT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182880" marR="182880" marT="91440" marB="91440">
                    <a:lnR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IGNORE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182880" marR="182880" marT="91440" marB="91440">
                    <a:lnL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90572061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Makefile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182880">
                    <a:lnR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build/</a:t>
                      </a:r>
                    </a:p>
                  </a:txBody>
                  <a:tcPr marL="182880" marR="182880" marT="91440" marB="182880">
                    <a:lnL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657045775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main.c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and all source files</a:t>
                      </a:r>
                    </a:p>
                  </a:txBody>
                  <a:tcPr marL="182880" marR="182880" marT="91440" marB="182880">
                    <a:lnR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mtb_shared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/ (regenerated by make 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getlibs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)</a:t>
                      </a:r>
                    </a:p>
                  </a:txBody>
                  <a:tcPr marL="182880" marR="182880" marT="91440" marB="182880">
                    <a:lnL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11594969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deps/*.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182880">
                    <a:lnR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libs/ (transitive .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+ mtb.mk pointing to 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mtb_shared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)</a:t>
                      </a:r>
                    </a:p>
                  </a:txBody>
                  <a:tcPr marL="182880" marR="182880" marT="91440" marB="182880">
                    <a:lnL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04347099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bsps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/ (BSP customizations)</a:t>
                      </a:r>
                    </a:p>
                  </a:txBody>
                  <a:tcPr marL="182880" marR="182880" marT="91440" marB="182880">
                    <a:lnR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.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vscode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/ (user-specific)</a:t>
                      </a:r>
                    </a:p>
                  </a:txBody>
                  <a:tcPr marL="182880" marR="182880" marT="91440" marB="182880">
                    <a:lnL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04318456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marR="0" lvl="0" indent="0" algn="l" defTabSz="121917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.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gitignore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itself</a:t>
                      </a:r>
                    </a:p>
                  </a:txBody>
                  <a:tcPr marL="182880" marR="182880" marT="91440" marB="182880">
                    <a:lnR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.cache/ (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clangd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/ IntelliSense index)</a:t>
                      </a:r>
                    </a:p>
                  </a:txBody>
                  <a:tcPr marL="182880" marR="182880" marT="91440" marB="182880">
                    <a:lnL w="12700" cap="flat" cmpd="sng" algn="ctr">
                      <a:solidFill>
                        <a:srgbClr val="0A827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94202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2316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8ECFD7-D690-A623-E78D-E01D0444F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version-controlled project flow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AC46D9-E421-5357-3A96-B74006DAE450}"/>
              </a:ext>
            </a:extLst>
          </p:cNvPr>
          <p:cNvSpPr/>
          <p:nvPr/>
        </p:nvSpPr>
        <p:spPr bwMode="auto">
          <a:xfrm>
            <a:off x="762000" y="1311626"/>
            <a:ext cx="2514600" cy="762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US" sz="1800" b="1" baseline="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Clone the project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7A0A83-8349-CF9C-B3B6-22CEB7BC0E5D}"/>
              </a:ext>
            </a:extLst>
          </p:cNvPr>
          <p:cNvSpPr/>
          <p:nvPr/>
        </p:nvSpPr>
        <p:spPr bwMode="auto">
          <a:xfrm>
            <a:off x="762000" y="3294381"/>
            <a:ext cx="2514600" cy="762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US" sz="1800" b="1" baseline="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Resolve Dependencies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6BD4E3-390E-191E-16DD-8C2031D54FBA}"/>
              </a:ext>
            </a:extLst>
          </p:cNvPr>
          <p:cNvSpPr/>
          <p:nvPr/>
        </p:nvSpPr>
        <p:spPr bwMode="auto">
          <a:xfrm>
            <a:off x="762000" y="2303781"/>
            <a:ext cx="2514600" cy="762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US" sz="1800" b="1" baseline="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Import into IDE</a:t>
            </a:r>
            <a:br>
              <a:rPr lang="en-US" sz="1800" b="1" baseline="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800" b="1" baseline="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(optional)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7D75CA-B385-81E7-B2B6-80B6A2C4945C}"/>
              </a:ext>
            </a:extLst>
          </p:cNvPr>
          <p:cNvSpPr/>
          <p:nvPr/>
        </p:nvSpPr>
        <p:spPr bwMode="auto">
          <a:xfrm>
            <a:off x="762000" y="4284981"/>
            <a:ext cx="2514600" cy="762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US" sz="1800" b="1" baseline="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Build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4C28E2-27D5-1678-B63E-7C225154CA33}"/>
              </a:ext>
            </a:extLst>
          </p:cNvPr>
          <p:cNvSpPr/>
          <p:nvPr/>
        </p:nvSpPr>
        <p:spPr bwMode="auto">
          <a:xfrm>
            <a:off x="762000" y="5275581"/>
            <a:ext cx="2514600" cy="762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US" sz="1800" b="1" baseline="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Working Binary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C0D8F9-F84A-CD7A-E791-DB20D5EBF2D5}"/>
              </a:ext>
            </a:extLst>
          </p:cNvPr>
          <p:cNvSpPr/>
          <p:nvPr/>
        </p:nvSpPr>
        <p:spPr bwMode="auto">
          <a:xfrm>
            <a:off x="3276600" y="1320076"/>
            <a:ext cx="77724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182880" tIns="72000" rIns="72000" bIns="72000" rtlCol="0" anchor="ctr"/>
          <a:lstStyle/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b="1" kern="0" dirty="0"/>
              <a:t>git clone &lt;project-</a:t>
            </a:r>
            <a:r>
              <a:rPr lang="en-US" sz="1600" b="1" kern="0" dirty="0" err="1"/>
              <a:t>url</a:t>
            </a:r>
            <a:r>
              <a:rPr lang="en-US" sz="1600" b="1" kern="0" dirty="0"/>
              <a:t>&gt;</a:t>
            </a:r>
          </a:p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kern="0" dirty="0"/>
              <a:t>Gets </a:t>
            </a:r>
            <a:r>
              <a:rPr lang="en-US" sz="1600" kern="0" dirty="0" err="1"/>
              <a:t>Makefile</a:t>
            </a:r>
            <a:r>
              <a:rPr lang="en-US" sz="1600" kern="0" dirty="0"/>
              <a:t>, </a:t>
            </a:r>
            <a:r>
              <a:rPr lang="en-US" sz="1600" kern="0" dirty="0" err="1"/>
              <a:t>main.c</a:t>
            </a:r>
            <a:r>
              <a:rPr lang="en-US" sz="1600" kern="0" dirty="0"/>
              <a:t>, deps/*.</a:t>
            </a:r>
            <a:r>
              <a:rPr lang="en-US" sz="1600" kern="0" dirty="0" err="1"/>
              <a:t>mtb</a:t>
            </a:r>
            <a:r>
              <a:rPr lang="en-US" sz="1600" kern="0" dirty="0"/>
              <a:t>, </a:t>
            </a:r>
            <a:r>
              <a:rPr lang="en-US" sz="1600" kern="0" dirty="0" err="1"/>
              <a:t>bsps</a:t>
            </a:r>
            <a:r>
              <a:rPr lang="en-US" sz="1600" kern="0" dirty="0"/>
              <a:t>/ — everything committed to Git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DF310A-6669-963F-0D45-3FF07B806861}"/>
              </a:ext>
            </a:extLst>
          </p:cNvPr>
          <p:cNvSpPr/>
          <p:nvPr/>
        </p:nvSpPr>
        <p:spPr bwMode="auto">
          <a:xfrm>
            <a:off x="3276600" y="2298778"/>
            <a:ext cx="77724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182880" tIns="72000" rIns="72000" bIns="72000" rtlCol="0" anchor="ctr"/>
          <a:lstStyle/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kern="0" dirty="0"/>
              <a:t>Open VS Code, Eclipse IDE, IAR Embedded Workbench, or Arm </a:t>
            </a:r>
            <a:r>
              <a:rPr lang="en-US" sz="1600" kern="0" dirty="0" err="1"/>
              <a:t>uVision</a:t>
            </a:r>
            <a:endParaRPr lang="en-US" sz="1600" kern="0" dirty="0"/>
          </a:p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kern="0" dirty="0"/>
              <a:t>Follow specific steps from respective ModusToolbox™ IDE user guides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513096-738B-3515-CD83-FA5CFC0038C6}"/>
              </a:ext>
            </a:extLst>
          </p:cNvPr>
          <p:cNvSpPr/>
          <p:nvPr/>
        </p:nvSpPr>
        <p:spPr bwMode="auto">
          <a:xfrm>
            <a:off x="3276600" y="3294381"/>
            <a:ext cx="77724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182880" tIns="72000" rIns="72000" bIns="72000" rtlCol="0" anchor="ctr"/>
          <a:lstStyle/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b="1" kern="0" dirty="0"/>
              <a:t>make </a:t>
            </a:r>
            <a:r>
              <a:rPr lang="en-US" sz="1600" b="1" kern="0" dirty="0" err="1"/>
              <a:t>getlibs</a:t>
            </a:r>
            <a:r>
              <a:rPr lang="en-US" sz="1600" kern="0" dirty="0"/>
              <a:t>   (Importing into VS Code or Eclipse will complete this step)</a:t>
            </a:r>
            <a:endParaRPr lang="en-US" sz="1600" b="1" kern="0" dirty="0"/>
          </a:p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kern="0" dirty="0"/>
              <a:t>Reads deps/*.</a:t>
            </a:r>
            <a:r>
              <a:rPr lang="en-US" sz="1600" kern="0" dirty="0" err="1"/>
              <a:t>mtb</a:t>
            </a:r>
            <a:r>
              <a:rPr lang="en-US" sz="1600" kern="0" dirty="0"/>
              <a:t> → clones libraries to </a:t>
            </a:r>
            <a:r>
              <a:rPr lang="en-US" sz="1600" kern="0" dirty="0" err="1"/>
              <a:t>mtb_shared</a:t>
            </a:r>
            <a:r>
              <a:rPr lang="en-US" sz="1600" kern="0" dirty="0"/>
              <a:t>/ → generates libs/mtb.mk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C6CFC9-7F8D-B86D-808E-2CDCDB1D32B8}"/>
              </a:ext>
            </a:extLst>
          </p:cNvPr>
          <p:cNvSpPr/>
          <p:nvPr/>
        </p:nvSpPr>
        <p:spPr bwMode="auto">
          <a:xfrm>
            <a:off x="3276600" y="4277932"/>
            <a:ext cx="77724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182880" tIns="72000" rIns="72000" bIns="72000" rtlCol="0" anchor="ctr"/>
          <a:lstStyle/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kern="0" dirty="0"/>
              <a:t>Build application with </a:t>
            </a:r>
            <a:r>
              <a:rPr lang="en-US" sz="1600" b="1" kern="0" dirty="0"/>
              <a:t>make build</a:t>
            </a:r>
            <a:r>
              <a:rPr lang="en-US" sz="1600" kern="0" dirty="0"/>
              <a:t> or via IDE</a:t>
            </a:r>
          </a:p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kern="0" dirty="0"/>
              <a:t>Compiles application + all dependencies into firmware binary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2AB93A8-C8B1-A21B-961C-3202AB7B72F4}"/>
              </a:ext>
            </a:extLst>
          </p:cNvPr>
          <p:cNvSpPr/>
          <p:nvPr/>
        </p:nvSpPr>
        <p:spPr bwMode="auto">
          <a:xfrm>
            <a:off x="3276600" y="5288748"/>
            <a:ext cx="7772400" cy="7620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182880" tIns="72000" rIns="72000" bIns="72000" rtlCol="0" anchor="ctr"/>
          <a:lstStyle/>
          <a:p>
            <a:pPr marL="252000" indent="-252000"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</a:pPr>
            <a:r>
              <a:rPr lang="en-US" sz="1600" kern="0" dirty="0"/>
              <a:t>Flash to board with </a:t>
            </a:r>
            <a:r>
              <a:rPr lang="en-US" sz="1600" b="1" kern="0" dirty="0"/>
              <a:t>make program </a:t>
            </a:r>
            <a:r>
              <a:rPr lang="en-US" sz="1600" kern="0" dirty="0"/>
              <a:t>or via IDE</a:t>
            </a:r>
          </a:p>
        </p:txBody>
      </p:sp>
    </p:spTree>
    <p:extLst>
      <p:ext uri="{BB962C8B-B14F-4D97-AF65-F5344CB8AC3E}">
        <p14:creationId xmlns:p14="http://schemas.microsoft.com/office/powerpoint/2010/main" val="3901786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78AC0B-95FE-8016-A017-7663C3E9DA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600" y="4876800"/>
            <a:ext cx="10820400" cy="1524000"/>
          </a:xfrm>
        </p:spPr>
        <p:txBody>
          <a:bodyPr/>
          <a:lstStyle/>
          <a:p>
            <a:r>
              <a:rPr lang="en-US" sz="1600" dirty="0"/>
              <a:t>VS Code include built-in version control tracking, management, and visualization</a:t>
            </a:r>
          </a:p>
          <a:p>
            <a:r>
              <a:rPr lang="en-US" sz="1600" dirty="0"/>
              <a:t>Eclipse includes additional Views that support version control</a:t>
            </a:r>
          </a:p>
          <a:p>
            <a:r>
              <a:rPr lang="en-US" sz="1600" dirty="0"/>
              <a:t>ModusToolbox™ (on Windows) include a version of Cygwin Git</a:t>
            </a:r>
          </a:p>
          <a:p>
            <a:pPr lvl="1"/>
            <a:r>
              <a:rPr lang="en-US" dirty="0"/>
              <a:t>This is what ModusToolbox™ uses by default</a:t>
            </a:r>
          </a:p>
          <a:p>
            <a:pPr lvl="1"/>
            <a:r>
              <a:rPr lang="en-US" dirty="0"/>
              <a:t>This instance does use different git configurations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05A84D-0AA1-D6C1-35B4-730F2B16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workflow best practices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29BE15-6662-C9FA-7651-5E90BECB2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480601"/>
              </p:ext>
            </p:extLst>
          </p:nvPr>
        </p:nvGraphicFramePr>
        <p:xfrm>
          <a:off x="684600" y="1295400"/>
          <a:ext cx="10820400" cy="3368040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963600">
                  <a:extLst>
                    <a:ext uri="{9D8B030D-6E8A-4147-A177-3AD203B41FA5}">
                      <a16:colId xmlns:a16="http://schemas.microsoft.com/office/drawing/2014/main" val="1262817085"/>
                    </a:ext>
                  </a:extLst>
                </a:gridCol>
                <a:gridCol w="6856800">
                  <a:extLst>
                    <a:ext uri="{9D8B030D-6E8A-4147-A177-3AD203B41FA5}">
                      <a16:colId xmlns:a16="http://schemas.microsoft.com/office/drawing/2014/main" val="932795836"/>
                    </a:ext>
                  </a:extLst>
                </a:gridCol>
              </a:tblGrid>
              <a:tr h="22009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Practice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Why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1123391170"/>
                  </a:ext>
                </a:extLst>
              </a:tr>
              <a:tr h="22009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One project per repo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(preferred)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Clean history, independent versioning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149622523"/>
                  </a:ext>
                </a:extLst>
              </a:tr>
              <a:tr h="22009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Commit .</a:t>
                      </a:r>
                      <a:r>
                        <a:rPr lang="en-US" sz="1800" b="1" dirty="0" err="1">
                          <a:solidFill>
                            <a:srgbClr val="222222"/>
                          </a:solidFill>
                          <a:effectLst/>
                        </a:rPr>
                        <a:t>mtb</a:t>
                      </a: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 files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Reproducible dependency resolution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1366551341"/>
                  </a:ext>
                </a:extLst>
              </a:tr>
              <a:tr h="392341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Never commit </a:t>
                      </a:r>
                      <a:r>
                        <a:rPr lang="en-US" sz="1800" b="1" dirty="0" err="1">
                          <a:solidFill>
                            <a:srgbClr val="222222"/>
                          </a:solidFill>
                          <a:effectLst/>
                        </a:rPr>
                        <a:t>mtb_shared</a:t>
                      </a: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/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It's regenerated; committing bloats the repo enormously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929293852"/>
                  </a:ext>
                </a:extLst>
              </a:tr>
              <a:tr h="392341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Tag releases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Match your project version to tested BSP/middleware versions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995337707"/>
                  </a:ext>
                </a:extLst>
              </a:tr>
              <a:tr h="392341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Document BSP + MTB version in README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e.g., "Tested with KIT_PSC3M6_EVK in ModusToolbox™ 3.9"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137354898"/>
                  </a:ext>
                </a:extLst>
              </a:tr>
              <a:tr h="22009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Use branches for BSP variants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If supporting multiple boards, branch per target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0345005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1027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174058E-9E48-D9A2-D76F-25D58696F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2134800"/>
            <a:ext cx="8137525" cy="2361000"/>
          </a:xfrm>
        </p:spPr>
        <p:txBody>
          <a:bodyPr anchor="t"/>
          <a:lstStyle/>
          <a:p>
            <a:r>
              <a:rPr lang="en-US" dirty="0"/>
              <a:t>Demo / Exercise</a:t>
            </a:r>
            <a:br>
              <a:rPr lang="en-US" dirty="0"/>
            </a:br>
            <a:r>
              <a:rPr lang="en-US" sz="3200" b="0" dirty="0"/>
              <a:t>Clone a real project and </a:t>
            </a:r>
            <a:br>
              <a:rPr lang="en-US" sz="3200" b="0" dirty="0"/>
            </a:br>
            <a:r>
              <a:rPr lang="en-US" sz="3200" b="0" dirty="0"/>
              <a:t>verify dependencies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773806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54BF6B46-A17F-8099-7CAE-1F824F5CDCB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245202932"/>
              </p:ext>
            </p:extLst>
          </p:nvPr>
        </p:nvGraphicFramePr>
        <p:xfrm>
          <a:off x="377214" y="1143000"/>
          <a:ext cx="11435985" cy="5115351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765786">
                  <a:extLst>
                    <a:ext uri="{9D8B030D-6E8A-4147-A177-3AD203B41FA5}">
                      <a16:colId xmlns:a16="http://schemas.microsoft.com/office/drawing/2014/main" val="3506067205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3338201664"/>
                    </a:ext>
                  </a:extLst>
                </a:gridCol>
                <a:gridCol w="4726599">
                  <a:extLst>
                    <a:ext uri="{9D8B030D-6E8A-4147-A177-3AD203B41FA5}">
                      <a16:colId xmlns:a16="http://schemas.microsoft.com/office/drawing/2014/main" val="1199779295"/>
                    </a:ext>
                  </a:extLst>
                </a:gridCol>
              </a:tblGrid>
              <a:tr h="34794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Step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5641" marR="75641" marT="37821" marB="37821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Command / Action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5641" marR="75641" marT="37821" marB="37821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Expected Result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5641" marR="75641" marT="37821" marB="37821"/>
                </a:tc>
                <a:extLst>
                  <a:ext uri="{0D108BD9-81ED-4DB2-BD59-A6C34878D82A}">
                    <a16:rowId xmlns:a16="http://schemas.microsoft.com/office/drawing/2014/main" val="2066836049"/>
                  </a:ext>
                </a:extLst>
              </a:tr>
              <a:tr h="34794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1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Open </a:t>
                      </a: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Modus-Shell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4034614014"/>
                  </a:ext>
                </a:extLst>
              </a:tr>
              <a:tr h="62025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2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mkdir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C:/MTB_Training &amp;&amp; cd C:/MTB_Training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Create a workspace directory for the training</a:t>
                      </a: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818344109"/>
                  </a:ext>
                </a:extLst>
              </a:tr>
              <a:tr h="62025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3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git clone </a:t>
                      </a:r>
                      <a:b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  <a:hlinkClick r:id="rId2"/>
                        </a:rPr>
                        <a:t>https://github.com/ClarkJ-Infineon/mtb-training-blinky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Project cloned into workspace (no 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mtb_shared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/ or libs/ yet)</a:t>
                      </a: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2270062384"/>
                  </a:ext>
                </a:extLst>
              </a:tr>
              <a:tr h="34794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4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cd 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-training-blinky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3290630325"/>
                  </a:ext>
                </a:extLst>
              </a:tr>
              <a:tr h="34794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5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ls deps/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See .mtb files for BSP and libraries</a:t>
                      </a: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2082638013"/>
                  </a:ext>
                </a:extLst>
              </a:tr>
              <a:tr h="62025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6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make 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getlibs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Libraries cloned into ../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mtb_shared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/, libs/mtb.mk generated</a:t>
                      </a: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3164773836"/>
                  </a:ext>
                </a:extLst>
              </a:tr>
              <a:tr h="62025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7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make build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Successful build for KIT_PSC3M5_EVK</a:t>
                      </a: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2594465060"/>
                  </a:ext>
                </a:extLst>
              </a:tr>
              <a:tr h="62025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8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Inspect libs/ directory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See transitive .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files and mtb.mk with SEARCH paths</a:t>
                      </a: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4176491696"/>
                  </a:ext>
                </a:extLst>
              </a:tr>
              <a:tr h="62025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9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Inspect libs/mtb.mk</a:t>
                      </a:r>
                    </a:p>
                  </a:txBody>
                  <a:tcPr marL="182880" marR="182880" marT="37821" marB="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See the SEARCH_ paths that wire libraries into the build</a:t>
                      </a:r>
                    </a:p>
                  </a:txBody>
                  <a:tcPr marL="182880" marR="182880" marT="37821" marB="0"/>
                </a:tc>
                <a:extLst>
                  <a:ext uri="{0D108BD9-81ED-4DB2-BD59-A6C34878D82A}">
                    <a16:rowId xmlns:a16="http://schemas.microsoft.com/office/drawing/2014/main" val="4194239959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EC9AA428-CDA5-B3A3-D013-832D9200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- Clone a real project and verify dependencies</a:t>
            </a:r>
          </a:p>
        </p:txBody>
      </p:sp>
    </p:spTree>
    <p:extLst>
      <p:ext uri="{BB962C8B-B14F-4D97-AF65-F5344CB8AC3E}">
        <p14:creationId xmlns:p14="http://schemas.microsoft.com/office/powerpoint/2010/main" val="1906171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FF6C4-141D-40FB-873C-109F1FA2C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75B56BF-40AE-D8FF-FE52-382578FCF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Sharing, importing and</a:t>
            </a:r>
            <a:br>
              <a:rPr lang="en-US" dirty="0"/>
            </a:br>
            <a:r>
              <a:rPr lang="en-US" dirty="0"/>
              <a:t>exporting projects	</a:t>
            </a:r>
          </a:p>
        </p:txBody>
      </p:sp>
    </p:spTree>
    <p:extLst>
      <p:ext uri="{BB962C8B-B14F-4D97-AF65-F5344CB8AC3E}">
        <p14:creationId xmlns:p14="http://schemas.microsoft.com/office/powerpoint/2010/main" val="243549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AF9F56C-1608-4886-744E-A74DCA01B09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5451" y="4724400"/>
            <a:ext cx="11520000" cy="1600200"/>
          </a:xfrm>
        </p:spPr>
        <p:txBody>
          <a:bodyPr/>
          <a:lstStyle/>
          <a:p>
            <a:r>
              <a:rPr lang="en-US" sz="1600" b="1" dirty="0"/>
              <a:t>Do not include </a:t>
            </a:r>
            <a:r>
              <a:rPr lang="en-US" sz="1600" b="1" dirty="0" err="1"/>
              <a:t>mtb_shared</a:t>
            </a:r>
            <a:r>
              <a:rPr lang="en-US" sz="1600" b="1" dirty="0"/>
              <a:t>/ in archives.</a:t>
            </a:r>
            <a:r>
              <a:rPr lang="en-US" sz="1600" dirty="0"/>
              <a:t> </a:t>
            </a:r>
            <a:r>
              <a:rPr lang="en-US" sz="1600" dirty="0" err="1"/>
              <a:t>mtb_shared</a:t>
            </a:r>
            <a:r>
              <a:rPr lang="en-US" sz="1600" dirty="0"/>
              <a:t>/ is a workspace-level cache shared across all projects.</a:t>
            </a:r>
          </a:p>
          <a:p>
            <a:r>
              <a:rPr lang="en-US" sz="1600" dirty="0"/>
              <a:t>It contains every library version you've ever resolved, not just the ones your project uses. </a:t>
            </a:r>
          </a:p>
          <a:p>
            <a:r>
              <a:rPr lang="en-US" sz="1600" dirty="0"/>
              <a:t>Including it unnecessary files (often 200+ MB), creates confusion for the recipient, and may be overwritten anyway if the import process re-runs make </a:t>
            </a:r>
            <a:r>
              <a:rPr lang="en-US" sz="1600" dirty="0" err="1"/>
              <a:t>getlibs</a:t>
            </a:r>
            <a:r>
              <a:rPr lang="en-US" sz="1600" dirty="0"/>
              <a:t>. </a:t>
            </a:r>
          </a:p>
          <a:p>
            <a:r>
              <a:rPr lang="en-US" sz="1600" dirty="0"/>
              <a:t>Always let the recipient run make </a:t>
            </a:r>
            <a:r>
              <a:rPr lang="en-US" sz="1600" dirty="0" err="1"/>
              <a:t>getlibs</a:t>
            </a:r>
            <a:r>
              <a:rPr lang="en-US" sz="1600" dirty="0"/>
              <a:t> to get exactly what the project needs.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3AF0C9-9303-4693-B70D-F074E2523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typical ways to share a project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F20B9C-3DEB-AC04-F923-B9AC1ECA1A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048549"/>
              </p:ext>
            </p:extLst>
          </p:nvPr>
        </p:nvGraphicFramePr>
        <p:xfrm>
          <a:off x="334963" y="1219200"/>
          <a:ext cx="11520488" cy="325001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874837">
                  <a:extLst>
                    <a:ext uri="{9D8B030D-6E8A-4147-A177-3AD203B41FA5}">
                      <a16:colId xmlns:a16="http://schemas.microsoft.com/office/drawing/2014/main" val="2275970496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1805728526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1014884257"/>
                    </a:ext>
                  </a:extLst>
                </a:gridCol>
                <a:gridCol w="3321051">
                  <a:extLst>
                    <a:ext uri="{9D8B030D-6E8A-4147-A177-3AD203B41FA5}">
                      <a16:colId xmlns:a16="http://schemas.microsoft.com/office/drawing/2014/main" val="1151151884"/>
                    </a:ext>
                  </a:extLst>
                </a:gridCol>
              </a:tblGrid>
              <a:tr h="47633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Scenario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What controls the outcome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Includes 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  <a:effectLst/>
                        </a:rPr>
                        <a:t>mtb_shared</a:t>
                      </a: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?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4248407544"/>
                  </a:ext>
                </a:extLst>
              </a:tr>
              <a:tr h="76678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Git repo</a:t>
                      </a:r>
                      <a:b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(push/pull)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Cleanest for teams leveraging Git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.</a:t>
                      </a:r>
                      <a:r>
                        <a:rPr lang="en-US" sz="1600" b="1" dirty="0" err="1">
                          <a:solidFill>
                            <a:srgbClr val="222222"/>
                          </a:solidFill>
                          <a:effectLst/>
                        </a:rPr>
                        <a:t>gitignore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Defines what's tracked vs. excluded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No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Recipient runs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make </a:t>
                      </a:r>
                      <a:r>
                        <a:rPr lang="en-US" sz="1600" b="1" dirty="0" err="1">
                          <a:solidFill>
                            <a:srgbClr val="222222"/>
                          </a:solidFill>
                          <a:effectLst/>
                        </a:rPr>
                        <a:t>getlibs</a:t>
                      </a:r>
                      <a:endParaRPr lang="en-US" sz="1600" b="1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182880"/>
                </a:tc>
                <a:extLst>
                  <a:ext uri="{0D108BD9-81ED-4DB2-BD59-A6C34878D82A}">
                    <a16:rowId xmlns:a16="http://schemas.microsoft.com/office/drawing/2014/main" val="3180609621"/>
                  </a:ext>
                </a:extLst>
              </a:tr>
              <a:tr h="76678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 err="1">
                          <a:solidFill>
                            <a:srgbClr val="222222"/>
                          </a:solidFill>
                          <a:effectLst/>
                        </a:rPr>
                        <a:t>mtbarchive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(CLI or GUI)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MTB-aware archive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Includes the right files, excludes generated artifacts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Built-in best practices, tool knows the MTB project structure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No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Recipient runs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make </a:t>
                      </a:r>
                      <a:r>
                        <a:rPr lang="en-US" sz="1600" b="1" dirty="0" err="1">
                          <a:solidFill>
                            <a:srgbClr val="222222"/>
                          </a:solidFill>
                          <a:effectLst/>
                        </a:rPr>
                        <a:t>getlibs</a:t>
                      </a:r>
                      <a:endParaRPr lang="en-US" sz="1600" b="1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182880"/>
                </a:tc>
                <a:extLst>
                  <a:ext uri="{0D108BD9-81ED-4DB2-BD59-A6C34878D82A}">
                    <a16:rowId xmlns:a16="http://schemas.microsoft.com/office/drawing/2014/main" val="4022126115"/>
                  </a:ext>
                </a:extLst>
              </a:tr>
              <a:tr h="580897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IDE Export / manual ZIP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IDE "Export ModusToolbox™ Application" or zip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User's understanding of what to include — YMMV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No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See warning below</a:t>
                      </a:r>
                    </a:p>
                  </a:txBody>
                  <a:tcPr marL="182880" marR="182880" marT="91440" marB="182880"/>
                </a:tc>
                <a:extLst>
                  <a:ext uri="{0D108BD9-81ED-4DB2-BD59-A6C34878D82A}">
                    <a16:rowId xmlns:a16="http://schemas.microsoft.com/office/drawing/2014/main" val="3286744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9639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9887E3-12BF-6386-6838-AA191CEB32A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b="1" dirty="0"/>
              <a:t>GUI version is accessible via</a:t>
            </a:r>
          </a:p>
          <a:p>
            <a:pPr lvl="1"/>
            <a:r>
              <a:rPr lang="en-US" dirty="0"/>
              <a:t>Eclipse IDE for ModusToolbox™ Quick Panel</a:t>
            </a:r>
          </a:p>
          <a:p>
            <a:pPr lvl="1"/>
            <a:r>
              <a:rPr lang="en-US" dirty="0"/>
              <a:t>VS Code ModusToolbox™ Assistant extension </a:t>
            </a:r>
          </a:p>
          <a:p>
            <a:pPr lvl="1"/>
            <a:r>
              <a:rPr lang="en-US" dirty="0"/>
              <a:t>ModusToolbox™ tools installation directory</a:t>
            </a:r>
          </a:p>
          <a:p>
            <a:pPr lvl="1"/>
            <a:endParaRPr lang="en-US" dirty="0"/>
          </a:p>
          <a:p>
            <a:r>
              <a:rPr lang="en-US" b="1" dirty="0"/>
              <a:t>CLI version available from Modus-Shell</a:t>
            </a:r>
          </a:p>
          <a:p>
            <a:pPr lvl="1"/>
            <a:r>
              <a:rPr lang="en-US" dirty="0" err="1">
                <a:solidFill>
                  <a:srgbClr val="0A8276"/>
                </a:solidFill>
                <a:latin typeface="Consolas" panose="020B0609020204030204" pitchFamily="49" charset="0"/>
              </a:rPr>
              <a:t>mtbarchive</a:t>
            </a:r>
            <a:r>
              <a:rPr lang="en-US" dirty="0">
                <a:solidFill>
                  <a:srgbClr val="0A8276"/>
                </a:solidFill>
                <a:latin typeface="Consolas" panose="020B0609020204030204" pitchFamily="49" charset="0"/>
              </a:rPr>
              <a:t> -o my_project_archive.zip -f &lt;project-folder&gt;</a:t>
            </a:r>
          </a:p>
          <a:p>
            <a:pPr lvl="1"/>
            <a:endParaRPr lang="en-US" dirty="0"/>
          </a:p>
          <a:p>
            <a:r>
              <a:rPr lang="en-US" b="1" dirty="0"/>
              <a:t>Why use it over a plain ZIP?</a:t>
            </a:r>
            <a:endParaRPr lang="en-US" dirty="0"/>
          </a:p>
          <a:p>
            <a:pPr lvl="1"/>
            <a:r>
              <a:rPr lang="en-US" dirty="0"/>
              <a:t>Knows which artifacts are generated vs. authored</a:t>
            </a:r>
            <a:br>
              <a:rPr lang="en-US" dirty="0"/>
            </a:br>
            <a:r>
              <a:rPr lang="en-US" dirty="0"/>
              <a:t>won't accidentally include 200 MB of libs/</a:t>
            </a:r>
          </a:p>
          <a:p>
            <a:pPr lvl="1"/>
            <a:r>
              <a:rPr lang="en-US" dirty="0"/>
              <a:t>Produces a clean archive that recipients can open with </a:t>
            </a:r>
            <a:br>
              <a:rPr lang="en-US" dirty="0"/>
            </a:br>
            <a:r>
              <a:rPr lang="en-US" dirty="0"/>
              <a:t>make </a:t>
            </a:r>
            <a:r>
              <a:rPr lang="en-US" dirty="0" err="1"/>
              <a:t>getlibs</a:t>
            </a:r>
            <a:r>
              <a:rPr lang="en-US" dirty="0"/>
              <a:t> → make build</a:t>
            </a:r>
          </a:p>
          <a:p>
            <a:pPr lvl="1"/>
            <a:r>
              <a:rPr lang="en-US" dirty="0"/>
              <a:t>Ideal for support tickets, customer handoff, </a:t>
            </a:r>
            <a:br>
              <a:rPr lang="en-US" dirty="0"/>
            </a:br>
            <a:r>
              <a:rPr lang="en-US" dirty="0"/>
              <a:t>email/USB sharing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E35380-6B5D-D282-43FE-D0F95FEA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ModusToolbox Archiving and Sharing Utility - </a:t>
            </a:r>
            <a:r>
              <a:rPr lang="en-US" dirty="0" err="1"/>
              <a:t>mtbarchive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E6DBB1-415C-4E29-E677-57464FC27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3657600"/>
            <a:ext cx="4850185" cy="2506088"/>
          </a:xfrm>
          <a:prstGeom prst="roundRect">
            <a:avLst>
              <a:gd name="adj" fmla="val 2794"/>
            </a:avLst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3192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1FABDCF-AEA1-3FDB-8C9F-4974E520590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668004042"/>
              </p:ext>
            </p:extLst>
          </p:nvPr>
        </p:nvGraphicFramePr>
        <p:xfrm>
          <a:off x="354807" y="1307641"/>
          <a:ext cx="11287143" cy="1550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3456FD09-CCB0-1A39-6807-42DEB592B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82" y="188720"/>
            <a:ext cx="9613068" cy="720000"/>
          </a:xfrm>
        </p:spPr>
        <p:txBody>
          <a:bodyPr/>
          <a:lstStyle/>
          <a:p>
            <a:r>
              <a:rPr lang="en-US" dirty="0"/>
              <a:t>Saving and sharing your work with git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A0412E-618D-88F7-D796-57D569871B9B}"/>
              </a:ext>
            </a:extLst>
          </p:cNvPr>
          <p:cNvSpPr txBox="1"/>
          <p:nvPr/>
        </p:nvSpPr>
        <p:spPr bwMode="auto">
          <a:xfrm>
            <a:off x="6841350" y="3419475"/>
            <a:ext cx="4800600" cy="2985433"/>
          </a:xfrm>
          <a:prstGeom prst="rect">
            <a:avLst/>
          </a:prstGeom>
          <a:noFill/>
          <a:ln w="28575">
            <a:solidFill>
              <a:srgbClr val="0A8276"/>
            </a:solidFill>
            <a:miter lim="800000"/>
            <a:headEnd/>
            <a:tailEnd/>
          </a:ln>
          <a:effectLst/>
        </p:spPr>
        <p:txBody>
          <a:bodyPr wrap="square" lIns="91440" tIns="91440" rIns="91440" bIns="91440" rtlCol="0" anchor="t" anchorCtr="0">
            <a:spAutoFit/>
          </a:bodyPr>
          <a:lstStyle/>
          <a:p>
            <a:r>
              <a:rPr lang="en-US" sz="12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# Check what's changed</a:t>
            </a:r>
          </a:p>
          <a:p>
            <a:r>
              <a:rPr lang="en-US" sz="1200" b="1" dirty="0">
                <a:solidFill>
                  <a:schemeClr val="tx2"/>
                </a:solidFill>
                <a:latin typeface="Consolas" panose="020B0609020204030204" pitchFamily="49" charset="0"/>
              </a:rPr>
              <a:t>git</a:t>
            </a:r>
            <a:r>
              <a:rPr lang="en-US" sz="1200" b="1" dirty="0">
                <a:latin typeface="Consolas" panose="020B0609020204030204" pitchFamily="49" charset="0"/>
              </a:rPr>
              <a:t> status</a:t>
            </a:r>
          </a:p>
          <a:p>
            <a:endParaRPr lang="en-US" sz="1200" b="1" dirty="0">
              <a:latin typeface="Consolas" panose="020B0609020204030204" pitchFamily="49" charset="0"/>
            </a:endParaRPr>
          </a:p>
          <a:p>
            <a:r>
              <a:rPr lang="en-US" sz="12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# Stage specific files (or all changes)</a:t>
            </a:r>
          </a:p>
          <a:p>
            <a:r>
              <a:rPr lang="en-US" sz="1200" b="1" dirty="0">
                <a:solidFill>
                  <a:schemeClr val="tx2"/>
                </a:solidFill>
                <a:latin typeface="Consolas" panose="020B0609020204030204" pitchFamily="49" charset="0"/>
              </a:rPr>
              <a:t>git add </a:t>
            </a:r>
            <a:r>
              <a:rPr lang="en-US" sz="1200" b="1" dirty="0">
                <a:latin typeface="Consolas" panose="020B0609020204030204" pitchFamily="49" charset="0"/>
              </a:rPr>
              <a:t>&lt;file&gt;</a:t>
            </a:r>
          </a:p>
          <a:p>
            <a:r>
              <a:rPr lang="en-US" sz="1200" b="1" dirty="0">
                <a:solidFill>
                  <a:schemeClr val="tx2"/>
                </a:solidFill>
                <a:latin typeface="Consolas" panose="020B0609020204030204" pitchFamily="49" charset="0"/>
              </a:rPr>
              <a:t>git add </a:t>
            </a:r>
            <a:r>
              <a:rPr lang="en-US" sz="1200" b="1" dirty="0">
                <a:latin typeface="Consolas" panose="020B0609020204030204" pitchFamily="49" charset="0"/>
              </a:rPr>
              <a:t>.</a:t>
            </a:r>
          </a:p>
          <a:p>
            <a:endParaRPr lang="en-US" sz="1200" b="1" dirty="0">
              <a:latin typeface="Consolas" panose="020B0609020204030204" pitchFamily="49" charset="0"/>
            </a:endParaRPr>
          </a:p>
          <a:p>
            <a:r>
              <a:rPr lang="en-US" sz="12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# Commit with a descriptive message</a:t>
            </a:r>
          </a:p>
          <a:p>
            <a:r>
              <a:rPr lang="en-US" sz="1200" b="1" dirty="0">
                <a:solidFill>
                  <a:schemeClr val="tx2"/>
                </a:solidFill>
                <a:latin typeface="Consolas" panose="020B0609020204030204" pitchFamily="49" charset="0"/>
              </a:rPr>
              <a:t>git commit </a:t>
            </a:r>
            <a:r>
              <a:rPr lang="en-US" sz="1200" b="1" dirty="0">
                <a:latin typeface="Consolas" panose="020B0609020204030204" pitchFamily="49" charset="0"/>
              </a:rPr>
              <a:t>-m "Add UART debug output to main loop"</a:t>
            </a:r>
          </a:p>
          <a:p>
            <a:endParaRPr lang="en-US" sz="1200" b="1" dirty="0">
              <a:latin typeface="Consolas" panose="020B0609020204030204" pitchFamily="49" charset="0"/>
            </a:endParaRPr>
          </a:p>
          <a:p>
            <a:r>
              <a:rPr lang="en-US" sz="12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# Push to remote repository</a:t>
            </a:r>
          </a:p>
          <a:p>
            <a:r>
              <a:rPr lang="en-US" sz="1200" b="1" dirty="0">
                <a:solidFill>
                  <a:schemeClr val="tx2"/>
                </a:solidFill>
                <a:latin typeface="Consolas" panose="020B0609020204030204" pitchFamily="49" charset="0"/>
              </a:rPr>
              <a:t>git push </a:t>
            </a:r>
            <a:r>
              <a:rPr lang="en-US" sz="1200" b="1" dirty="0">
                <a:latin typeface="Consolas" panose="020B0609020204030204" pitchFamily="49" charset="0"/>
              </a:rPr>
              <a:t>origin main</a:t>
            </a:r>
          </a:p>
          <a:p>
            <a:endParaRPr lang="en-US" sz="1200" b="1" dirty="0">
              <a:latin typeface="Consolas" panose="020B0609020204030204" pitchFamily="49" charset="0"/>
            </a:endParaRPr>
          </a:p>
          <a:p>
            <a:r>
              <a:rPr lang="en-US" sz="1200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# Pull latest changes from remote</a:t>
            </a:r>
          </a:p>
          <a:p>
            <a:r>
              <a:rPr lang="en-US" sz="1200" b="1" dirty="0">
                <a:solidFill>
                  <a:schemeClr val="tx2"/>
                </a:solidFill>
                <a:latin typeface="Consolas" panose="020B0609020204030204" pitchFamily="49" charset="0"/>
              </a:rPr>
              <a:t>git pull </a:t>
            </a:r>
            <a:r>
              <a:rPr lang="en-US" sz="1200" b="1" dirty="0">
                <a:latin typeface="Consolas" panose="020B0609020204030204" pitchFamily="49" charset="0"/>
              </a:rPr>
              <a:t>origin main</a:t>
            </a:r>
            <a:endParaRPr lang="en-US" sz="1600" b="1" kern="0" baseline="0" dirty="0">
              <a:latin typeface="Consolas" panose="020B06090202040302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AE4063A-73E9-DB16-5481-0F2D6A6B80D5}"/>
              </a:ext>
            </a:extLst>
          </p:cNvPr>
          <p:cNvGrpSpPr/>
          <p:nvPr/>
        </p:nvGrpSpPr>
        <p:grpSpPr>
          <a:xfrm rot="10800000">
            <a:off x="8764597" y="2115677"/>
            <a:ext cx="459763" cy="537836"/>
            <a:chOff x="8462877" y="506575"/>
            <a:chExt cx="459763" cy="537836"/>
          </a:xfrm>
        </p:grpSpPr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2196D1AA-EAEF-DD2E-031E-C68E6C437BED}"/>
                </a:ext>
              </a:extLst>
            </p:cNvPr>
            <p:cNvSpPr/>
            <p:nvPr/>
          </p:nvSpPr>
          <p:spPr>
            <a:xfrm>
              <a:off x="8462877" y="506575"/>
              <a:ext cx="459763" cy="537836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Arrow: Right 4">
              <a:extLst>
                <a:ext uri="{FF2B5EF4-FFF2-40B4-BE49-F238E27FC236}">
                  <a16:creationId xmlns:a16="http://schemas.microsoft.com/office/drawing/2014/main" id="{E9CDDEA5-9973-DCB0-8409-D0C717F07A91}"/>
                </a:ext>
              </a:extLst>
            </p:cNvPr>
            <p:cNvSpPr txBox="1"/>
            <p:nvPr/>
          </p:nvSpPr>
          <p:spPr>
            <a:xfrm>
              <a:off x="8462877" y="614142"/>
              <a:ext cx="321834" cy="3227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600" kern="120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73C4F1D-CFD3-15D9-BC9D-5DD14AABBD50}"/>
              </a:ext>
            </a:extLst>
          </p:cNvPr>
          <p:cNvSpPr txBox="1"/>
          <p:nvPr/>
        </p:nvSpPr>
        <p:spPr bwMode="auto">
          <a:xfrm>
            <a:off x="2466173" y="2746122"/>
            <a:ext cx="990600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ctr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baseline="0" dirty="0">
                <a:solidFill>
                  <a:srgbClr val="575352"/>
                </a:solidFill>
                <a:latin typeface="+mn-lt"/>
                <a:ea typeface="+mn-ea"/>
                <a:cs typeface="+mn-cs"/>
              </a:rPr>
              <a:t>git add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571F72-7AB3-597E-39EE-E993B48F8499}"/>
              </a:ext>
            </a:extLst>
          </p:cNvPr>
          <p:cNvSpPr txBox="1"/>
          <p:nvPr/>
        </p:nvSpPr>
        <p:spPr bwMode="auto">
          <a:xfrm>
            <a:off x="5368343" y="2746122"/>
            <a:ext cx="1260069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ctr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baseline="0" dirty="0">
                <a:solidFill>
                  <a:srgbClr val="575352"/>
                </a:solidFill>
                <a:latin typeface="+mn-lt"/>
                <a:ea typeface="+mn-ea"/>
                <a:cs typeface="+mn-cs"/>
              </a:rPr>
              <a:t>git commit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04A343-69A0-29D0-6327-7D531E967B17}"/>
              </a:ext>
            </a:extLst>
          </p:cNvPr>
          <p:cNvSpPr txBox="1"/>
          <p:nvPr/>
        </p:nvSpPr>
        <p:spPr bwMode="auto">
          <a:xfrm>
            <a:off x="8364443" y="2746122"/>
            <a:ext cx="1260069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ctr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baseline="0" dirty="0">
                <a:solidFill>
                  <a:srgbClr val="575352"/>
                </a:solidFill>
                <a:latin typeface="+mn-lt"/>
                <a:ea typeface="+mn-ea"/>
                <a:cs typeface="+mn-cs"/>
              </a:rPr>
              <a:t>git pull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04D1D-FA10-3255-E922-3ADDBFF0B533}"/>
              </a:ext>
            </a:extLst>
          </p:cNvPr>
          <p:cNvSpPr txBox="1"/>
          <p:nvPr/>
        </p:nvSpPr>
        <p:spPr bwMode="auto">
          <a:xfrm>
            <a:off x="8364443" y="1066800"/>
            <a:ext cx="1260069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ctr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baseline="0" dirty="0">
                <a:solidFill>
                  <a:srgbClr val="575352"/>
                </a:solidFill>
                <a:latin typeface="+mn-lt"/>
                <a:ea typeface="+mn-ea"/>
                <a:cs typeface="+mn-cs"/>
              </a:rPr>
              <a:t>git push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C6A30405-0C40-754B-E405-F6B74D47A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122527"/>
              </p:ext>
            </p:extLst>
          </p:nvPr>
        </p:nvGraphicFramePr>
        <p:xfrm>
          <a:off x="373857" y="3683069"/>
          <a:ext cx="5837238" cy="2458244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2918619">
                  <a:extLst>
                    <a:ext uri="{9D8B030D-6E8A-4147-A177-3AD203B41FA5}">
                      <a16:colId xmlns:a16="http://schemas.microsoft.com/office/drawing/2014/main" val="3098836410"/>
                    </a:ext>
                  </a:extLst>
                </a:gridCol>
                <a:gridCol w="2918619">
                  <a:extLst>
                    <a:ext uri="{9D8B030D-6E8A-4147-A177-3AD203B41FA5}">
                      <a16:colId xmlns:a16="http://schemas.microsoft.com/office/drawing/2014/main" val="3984036237"/>
                    </a:ext>
                  </a:extLst>
                </a:gridCol>
              </a:tblGrid>
              <a:tr h="44656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</a:rPr>
                        <a:t>Best Practices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</a:rPr>
                        <a:t>Why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1811482529"/>
                  </a:ext>
                </a:extLst>
              </a:tr>
              <a:tr h="44656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effectLst/>
                        </a:rPr>
                        <a:t>Commit often, in small logical chunks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400">
                          <a:solidFill>
                            <a:srgbClr val="222222"/>
                          </a:solidFill>
                          <a:effectLst/>
                        </a:rPr>
                        <a:t>Easier to review, revert, and bisect issues</a:t>
                      </a: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2599707302"/>
                  </a:ext>
                </a:extLst>
              </a:tr>
              <a:tr h="44656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effectLst/>
                        </a:rPr>
                        <a:t>Write descriptive commit messages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400">
                          <a:solidFill>
                            <a:srgbClr val="222222"/>
                          </a:solidFill>
                          <a:effectLst/>
                        </a:rPr>
                        <a:t>Future-you (and teammates) will thank you</a:t>
                      </a: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3631000657"/>
                  </a:ext>
                </a:extLst>
              </a:tr>
              <a:tr h="44656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effectLst/>
                        </a:rPr>
                        <a:t>Always make build before committing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effectLst/>
                        </a:rPr>
                        <a:t>Don't push broken code</a:t>
                      </a: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4039418569"/>
                  </a:ext>
                </a:extLst>
              </a:tr>
              <a:tr h="44656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400">
                          <a:solidFill>
                            <a:srgbClr val="222222"/>
                          </a:solidFill>
                          <a:effectLst/>
                        </a:rPr>
                        <a:t>Review git status before committing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effectLst/>
                        </a:rPr>
                        <a:t>Catch unintended files (e.g., build/ artifacts)</a:t>
                      </a: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3158135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58143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7AD5167-3266-7287-9D25-8B59FC4EE368}"/>
              </a:ext>
            </a:extLst>
          </p:cNvPr>
          <p:cNvSpPr/>
          <p:nvPr/>
        </p:nvSpPr>
        <p:spPr bwMode="auto">
          <a:xfrm>
            <a:off x="404020" y="1143000"/>
            <a:ext cx="5410200" cy="42672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BF5A46-E26D-6917-AA5E-D35E231DD27D}"/>
              </a:ext>
            </a:extLst>
          </p:cNvPr>
          <p:cNvSpPr/>
          <p:nvPr/>
        </p:nvSpPr>
        <p:spPr bwMode="auto">
          <a:xfrm>
            <a:off x="5959080" y="1143000"/>
            <a:ext cx="5798740" cy="42672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0A8276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64E15A-31CA-60CA-6F1B-D291C9936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a shared project into your IDE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CBD4C30C-CB85-C175-DC51-2C62556E1F27}"/>
              </a:ext>
            </a:extLst>
          </p:cNvPr>
          <p:cNvSpPr txBox="1">
            <a:spLocks/>
          </p:cNvSpPr>
          <p:nvPr/>
        </p:nvSpPr>
        <p:spPr>
          <a:xfrm>
            <a:off x="510780" y="1371600"/>
            <a:ext cx="4770040" cy="3374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52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cs typeface="+mn-cs"/>
              </a:defRPr>
            </a:lvl6pPr>
            <a:lvl7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7pPr>
            <a:lvl8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8pPr>
            <a:lvl9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>
              <a:spcAft>
                <a:spcPts val="600"/>
              </a:spcAft>
              <a:buClr>
                <a:schemeClr val="bg1"/>
              </a:buClr>
            </a:pPr>
            <a:r>
              <a:rPr lang="en-US" b="1" dirty="0">
                <a:solidFill>
                  <a:schemeClr val="bg1"/>
                </a:solidFill>
              </a:rPr>
              <a:t>Eclipse IDE for ModusToolbox™:</a:t>
            </a:r>
            <a:endParaRPr lang="en-US" dirty="0">
              <a:solidFill>
                <a:schemeClr val="bg1"/>
              </a:solidFill>
            </a:endParaRPr>
          </a:p>
          <a:p>
            <a:pPr lvl="1">
              <a:spcAft>
                <a:spcPts val="600"/>
              </a:spcAft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Clone or copy the project into your desired </a:t>
            </a:r>
            <a:r>
              <a:rPr lang="en-US" b="1" dirty="0">
                <a:solidFill>
                  <a:schemeClr val="bg1"/>
                </a:solidFill>
              </a:rPr>
              <a:t>workspace folder</a:t>
            </a:r>
            <a:endParaRPr lang="en-US" dirty="0">
              <a:solidFill>
                <a:schemeClr val="bg1"/>
              </a:solidFill>
            </a:endParaRPr>
          </a:p>
          <a:p>
            <a:pPr lvl="1">
              <a:spcAft>
                <a:spcPts val="600"/>
              </a:spcAft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Launch Eclipse IDE and set the workspace to the project's </a:t>
            </a:r>
            <a:r>
              <a:rPr lang="en-US" b="1" dirty="0">
                <a:solidFill>
                  <a:schemeClr val="bg1"/>
                </a:solidFill>
              </a:rPr>
              <a:t>parent folder</a:t>
            </a:r>
            <a:endParaRPr lang="en-US" dirty="0">
              <a:solidFill>
                <a:schemeClr val="bg1"/>
              </a:solidFill>
            </a:endParaRPr>
          </a:p>
          <a:p>
            <a:pPr lvl="1">
              <a:spcAft>
                <a:spcPts val="600"/>
              </a:spcAft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From the </a:t>
            </a:r>
            <a:r>
              <a:rPr lang="en-US" b="1" dirty="0">
                <a:solidFill>
                  <a:schemeClr val="bg1"/>
                </a:solidFill>
              </a:rPr>
              <a:t>Quick Panel</a:t>
            </a:r>
            <a:r>
              <a:rPr lang="en-US" dirty="0">
                <a:solidFill>
                  <a:schemeClr val="bg1"/>
                </a:solidFill>
              </a:rPr>
              <a:t> → click 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Import Existing Application In-Place</a:t>
            </a:r>
            <a:endParaRPr lang="en-US" dirty="0">
              <a:solidFill>
                <a:schemeClr val="bg1"/>
              </a:solidFill>
            </a:endParaRPr>
          </a:p>
          <a:p>
            <a:pPr lvl="1">
              <a:spcAft>
                <a:spcPts val="600"/>
              </a:spcAft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Select the project folder → Eclipse registers it as a managed MTB project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2E3F14A8-FA7D-04C9-45EE-1DCF675DC829}"/>
              </a:ext>
            </a:extLst>
          </p:cNvPr>
          <p:cNvSpPr txBox="1">
            <a:spLocks/>
          </p:cNvSpPr>
          <p:nvPr/>
        </p:nvSpPr>
        <p:spPr>
          <a:xfrm>
            <a:off x="6042820" y="1371600"/>
            <a:ext cx="5715000" cy="4038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52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cs typeface="+mn-cs"/>
              </a:defRPr>
            </a:lvl6pPr>
            <a:lvl7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7pPr>
            <a:lvl8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8pPr>
            <a:lvl9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en-US" b="1" dirty="0"/>
              <a:t>VS Code (with ModusToolbox™ extension):</a:t>
            </a:r>
            <a:endParaRPr lang="en-US" dirty="0"/>
          </a:p>
          <a:p>
            <a:pPr lvl="1">
              <a:spcAft>
                <a:spcPts val="600"/>
              </a:spcAft>
            </a:pPr>
            <a:r>
              <a:rPr lang="en-US" dirty="0"/>
              <a:t>Clone or copy the project to the desired location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Open VS Code → </a:t>
            </a:r>
            <a:r>
              <a:rPr lang="en-US" b="1" dirty="0"/>
              <a:t>File → Open Folder...</a:t>
            </a:r>
            <a:r>
              <a:rPr lang="en-US" dirty="0"/>
              <a:t> → select the project folder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</a:pPr>
            <a:r>
              <a:rPr lang="en-US" b="1" dirty="0"/>
              <a:t>VS Code (without ModusToolbox™ extension):</a:t>
            </a:r>
            <a:endParaRPr lang="en-US" dirty="0"/>
          </a:p>
          <a:p>
            <a:pPr lvl="1">
              <a:spcAft>
                <a:spcPts val="600"/>
              </a:spcAft>
            </a:pPr>
            <a:r>
              <a:rPr lang="en-US" dirty="0"/>
              <a:t>Clone or copy the project to the desired location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Open Modus-Shell, navigate to the project folder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Run </a:t>
            </a:r>
            <a:r>
              <a:rPr lang="en-US" b="1" dirty="0"/>
              <a:t>make </a:t>
            </a:r>
            <a:r>
              <a:rPr lang="en-US" b="1" dirty="0" err="1"/>
              <a:t>vscode</a:t>
            </a:r>
            <a:r>
              <a:rPr lang="en-US" b="1" dirty="0"/>
              <a:t> </a:t>
            </a:r>
            <a:r>
              <a:rPr lang="en-US" dirty="0"/>
              <a:t>— generates .</a:t>
            </a:r>
            <a:r>
              <a:rPr lang="en-US" dirty="0" err="1"/>
              <a:t>vscode</a:t>
            </a:r>
            <a:r>
              <a:rPr lang="en-US" dirty="0"/>
              <a:t>/ settings and a .code-workspace file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Open the generated .code-workspace file in VS Code</a:t>
            </a:r>
          </a:p>
        </p:txBody>
      </p:sp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3AB13771-DAA2-EEA2-3E28-1FAB85386897}"/>
              </a:ext>
            </a:extLst>
          </p:cNvPr>
          <p:cNvSpPr txBox="1">
            <a:spLocks/>
          </p:cNvSpPr>
          <p:nvPr/>
        </p:nvSpPr>
        <p:spPr>
          <a:xfrm>
            <a:off x="457200" y="5709317"/>
            <a:ext cx="11520000" cy="51117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52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cs typeface="+mn-cs"/>
              </a:defRPr>
            </a:lvl6pPr>
            <a:lvl7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7pPr>
            <a:lvl8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8pPr>
            <a:lvl9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/>
              <a:t>IAR / µVision:</a:t>
            </a:r>
            <a:r>
              <a:rPr lang="en-US" sz="1600" dirty="0"/>
              <a:t> Refer to the respective user guides, similar import-in-place workflow applies. </a:t>
            </a:r>
            <a:br>
              <a:rPr lang="en-US" sz="1600" dirty="0"/>
            </a:br>
            <a:r>
              <a:rPr lang="en-US" sz="1600" dirty="0"/>
              <a:t>Use </a:t>
            </a:r>
            <a:r>
              <a:rPr lang="en-US" sz="1600" b="1" dirty="0"/>
              <a:t>make ewarm8 </a:t>
            </a:r>
            <a:r>
              <a:rPr lang="en-US" sz="1600" dirty="0"/>
              <a:t>or </a:t>
            </a:r>
            <a:r>
              <a:rPr lang="en-US" sz="1600" b="1" dirty="0"/>
              <a:t>make uvision5 </a:t>
            </a:r>
            <a:r>
              <a:rPr lang="en-US" sz="1600" dirty="0"/>
              <a:t>from Modus-Shell to generate IDE project files.</a:t>
            </a:r>
            <a:endParaRPr lang="en-US" sz="1600" kern="0" dirty="0"/>
          </a:p>
        </p:txBody>
      </p:sp>
    </p:spTree>
    <p:extLst>
      <p:ext uri="{BB962C8B-B14F-4D97-AF65-F5344CB8AC3E}">
        <p14:creationId xmlns:p14="http://schemas.microsoft.com/office/powerpoint/2010/main" val="902554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37682-5FAF-1A32-CAD7-9B3032F6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9AA20A1-0C83-C13D-1F2D-E100563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2134800"/>
            <a:ext cx="8137525" cy="2361000"/>
          </a:xfrm>
        </p:spPr>
        <p:txBody>
          <a:bodyPr anchor="t"/>
          <a:lstStyle/>
          <a:p>
            <a:r>
              <a:rPr lang="en-US" dirty="0"/>
              <a:t>Demo / Exercise</a:t>
            </a:r>
            <a:br>
              <a:rPr lang="en-US" dirty="0"/>
            </a:br>
            <a:r>
              <a:rPr lang="en-US" sz="3200" b="0" dirty="0"/>
              <a:t>IDE import and archive / sharing export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26529088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D45C7AF-9546-0278-45AD-804B6D4E5BF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47141866"/>
              </p:ext>
            </p:extLst>
          </p:nvPr>
        </p:nvGraphicFramePr>
        <p:xfrm>
          <a:off x="334963" y="1562100"/>
          <a:ext cx="11520486" cy="373380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808037">
                  <a:extLst>
                    <a:ext uri="{9D8B030D-6E8A-4147-A177-3AD203B41FA5}">
                      <a16:colId xmlns:a16="http://schemas.microsoft.com/office/drawing/2014/main" val="2671743513"/>
                    </a:ext>
                  </a:extLst>
                </a:gridCol>
                <a:gridCol w="5867400">
                  <a:extLst>
                    <a:ext uri="{9D8B030D-6E8A-4147-A177-3AD203B41FA5}">
                      <a16:colId xmlns:a16="http://schemas.microsoft.com/office/drawing/2014/main" val="1029622647"/>
                    </a:ext>
                  </a:extLst>
                </a:gridCol>
                <a:gridCol w="4845049">
                  <a:extLst>
                    <a:ext uri="{9D8B030D-6E8A-4147-A177-3AD203B41FA5}">
                      <a16:colId xmlns:a16="http://schemas.microsoft.com/office/drawing/2014/main" val="8737938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Step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Action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Expected Result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3442702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1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Launch </a:t>
                      </a:r>
                      <a:r>
                        <a:rPr lang="en-US" b="1" dirty="0">
                          <a:solidFill>
                            <a:srgbClr val="222222"/>
                          </a:solidFill>
                          <a:effectLst/>
                        </a:rPr>
                        <a:t>ModusToolbox™ Eclipse IDE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When prompted for workspace, set to C:/MTB_Training</a:t>
                      </a:r>
                      <a:endParaRPr lang="en-US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extLst>
                  <a:ext uri="{0D108BD9-81ED-4DB2-BD59-A6C34878D82A}">
                    <a16:rowId xmlns:a16="http://schemas.microsoft.com/office/drawing/2014/main" val="3029956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2</a:t>
                      </a:r>
                      <a:endParaRPr lang="en-US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From the </a:t>
                      </a:r>
                      <a:r>
                        <a:rPr lang="en-US" b="1" dirty="0">
                          <a:solidFill>
                            <a:srgbClr val="222222"/>
                          </a:solidFill>
                          <a:effectLst/>
                        </a:rPr>
                        <a:t>Quick Panel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 → </a:t>
                      </a:r>
                      <a:r>
                        <a:rPr lang="en-US" b="1" dirty="0">
                          <a:solidFill>
                            <a:srgbClr val="222222"/>
                          </a:solidFill>
                          <a:effectLst/>
                        </a:rPr>
                        <a:t>Import ModusToolbox™ Application In-Place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Select mtb-training-blinky folder</a:t>
                      </a:r>
                      <a:endParaRPr lang="en-US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extLst>
                  <a:ext uri="{0D108BD9-81ED-4DB2-BD59-A6C34878D82A}">
                    <a16:rowId xmlns:a16="http://schemas.microsoft.com/office/drawing/2014/main" val="2006620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3</a:t>
                      </a:r>
                      <a:endParaRPr lang="en-US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Project appears in Eclipse Project Explorer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Source files, BSP, and dependencies visible</a:t>
                      </a:r>
                      <a:endParaRPr lang="en-US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extLst>
                  <a:ext uri="{0D108BD9-81ED-4DB2-BD59-A6C34878D82A}">
                    <a16:rowId xmlns:a16="http://schemas.microsoft.com/office/drawing/2014/main" val="3748736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4</a:t>
                      </a:r>
                      <a:endParaRPr lang="en-US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Build from Eclipse (Quick Panel → </a:t>
                      </a:r>
                      <a:r>
                        <a:rPr lang="en-US" b="1" dirty="0">
                          <a:solidFill>
                            <a:srgbClr val="222222"/>
                          </a:solidFill>
                          <a:effectLst/>
                        </a:rPr>
                        <a:t>Build Application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)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Confirm the project builds successfully in the IDE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extLst>
                  <a:ext uri="{0D108BD9-81ED-4DB2-BD59-A6C34878D82A}">
                    <a16:rowId xmlns:a16="http://schemas.microsoft.com/office/drawing/2014/main" val="2201572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</a:rPr>
                        <a:t>5</a:t>
                      </a:r>
                      <a:endParaRPr lang="en-US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From Quick Panel → Tools section → launch </a:t>
                      </a:r>
                      <a:b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b="1" dirty="0">
                          <a:solidFill>
                            <a:srgbClr val="222222"/>
                          </a:solidFill>
                          <a:effectLst/>
                        </a:rPr>
                        <a:t>ModusToolbox™ archiving and sharing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 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</a:rPr>
                        <a:t>GUI opens with project pre-selected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76200" marT="91440" marB="91440"/>
                </a:tc>
                <a:extLst>
                  <a:ext uri="{0D108BD9-81ED-4DB2-BD59-A6C34878D82A}">
                    <a16:rowId xmlns:a16="http://schemas.microsoft.com/office/drawing/2014/main" val="2647339287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E65F0EF0-63BA-EC3C-5054-D41C64D67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- IDE import and archive / sharing export</a:t>
            </a:r>
          </a:p>
        </p:txBody>
      </p:sp>
    </p:spTree>
    <p:extLst>
      <p:ext uri="{BB962C8B-B14F-4D97-AF65-F5344CB8AC3E}">
        <p14:creationId xmlns:p14="http://schemas.microsoft.com/office/powerpoint/2010/main" val="5783305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6E19F-5FAB-E742-F43C-167028D97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7F347D8-21ED-96AB-C753-F5A45FF03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</a:t>
            </a:r>
            <a:br>
              <a:rPr lang="en-US" dirty="0"/>
            </a:br>
            <a:r>
              <a:rPr lang="en-US" dirty="0"/>
              <a:t>ModusToolbox™ BSP concept	</a:t>
            </a:r>
          </a:p>
        </p:txBody>
      </p:sp>
    </p:spTree>
    <p:extLst>
      <p:ext uri="{BB962C8B-B14F-4D97-AF65-F5344CB8AC3E}">
        <p14:creationId xmlns:p14="http://schemas.microsoft.com/office/powerpoint/2010/main" val="685938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5F01A-9EF9-C3E1-8D84-433AE1EB98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289786" y="1268414"/>
            <a:ext cx="4565014" cy="5113337"/>
          </a:xfrm>
        </p:spPr>
        <p:txBody>
          <a:bodyPr/>
          <a:lstStyle/>
          <a:p>
            <a:r>
              <a:rPr lang="en-US" b="1" dirty="0"/>
              <a:t>The BSP answers three questions:</a:t>
            </a:r>
            <a:br>
              <a:rPr lang="en-US" b="1" dirty="0"/>
            </a:br>
            <a:endParaRPr lang="en-US" dirty="0"/>
          </a:p>
          <a:p>
            <a:pPr lvl="1"/>
            <a:r>
              <a:rPr lang="en-US" b="1" dirty="0"/>
              <a:t>Which chip</a:t>
            </a:r>
            <a:r>
              <a:rPr lang="en-US" dirty="0"/>
              <a:t> — device ID, core type, flash/RAM sizes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How is it wired</a:t>
            </a:r>
            <a:r>
              <a:rPr lang="en-US" dirty="0"/>
              <a:t> — pin assignments, crystal frequencies, debug interface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How does it boot</a:t>
            </a:r>
            <a:r>
              <a:rPr lang="en-US" dirty="0"/>
              <a:t> — startup code, linker scripts, memory map</a:t>
            </a:r>
          </a:p>
          <a:p>
            <a:endParaRPr lang="en-US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50800C6-5AE9-FBA0-B0A4-57247CF4E0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What is a ModusToolbox™ BSP?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007A0F2-3956-D16F-0331-2ADDD7E4A279}"/>
              </a:ext>
            </a:extLst>
          </p:cNvPr>
          <p:cNvGrpSpPr/>
          <p:nvPr/>
        </p:nvGrpSpPr>
        <p:grpSpPr>
          <a:xfrm>
            <a:off x="306785" y="1239839"/>
            <a:ext cx="7086601" cy="5111998"/>
            <a:chOff x="533400" y="1269085"/>
            <a:chExt cx="7086601" cy="5111998"/>
          </a:xfrm>
        </p:grpSpPr>
        <p:sp>
          <p:nvSpPr>
            <p:cNvPr id="7" name="Chevron 6">
              <a:extLst>
                <a:ext uri="{FF2B5EF4-FFF2-40B4-BE49-F238E27FC236}">
                  <a16:creationId xmlns:a16="http://schemas.microsoft.com/office/drawing/2014/main" id="{08AF3F57-F3FB-1B01-DBF4-1FAE412F3822}"/>
                </a:ext>
              </a:extLst>
            </p:cNvPr>
            <p:cNvSpPr/>
            <p:nvPr/>
          </p:nvSpPr>
          <p:spPr>
            <a:xfrm rot="5400000">
              <a:off x="3034374" y="4311034"/>
              <a:ext cx="1626475" cy="2513623"/>
            </a:xfrm>
            <a:prstGeom prst="chevron">
              <a:avLst>
                <a:gd name="adj" fmla="val 20758"/>
              </a:avLst>
            </a:prstGeom>
            <a:solidFill>
              <a:schemeClr val="tx2"/>
            </a:solidFill>
            <a:ln w="3810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lIns="216000" tIns="72000" rIns="72000" bIns="72000" rtlCol="0" anchor="t" anchorCtr="0"/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</a:rPr>
                <a:t>Silicon (MCU)</a:t>
              </a:r>
              <a:endParaRPr lang="en-US" sz="1200" dirty="0">
                <a:solidFill>
                  <a:srgbClr val="FFFFFF"/>
                </a:solidFill>
              </a:endParaRPr>
            </a:p>
          </p:txBody>
        </p:sp>
        <p:sp>
          <p:nvSpPr>
            <p:cNvPr id="9" name="Chevron 21">
              <a:extLst>
                <a:ext uri="{FF2B5EF4-FFF2-40B4-BE49-F238E27FC236}">
                  <a16:creationId xmlns:a16="http://schemas.microsoft.com/office/drawing/2014/main" id="{F5FA16DA-303A-1E2B-5BD5-11025D05B027}"/>
                </a:ext>
              </a:extLst>
            </p:cNvPr>
            <p:cNvSpPr/>
            <p:nvPr/>
          </p:nvSpPr>
          <p:spPr>
            <a:xfrm rot="5400000">
              <a:off x="3034373" y="1787967"/>
              <a:ext cx="1626476" cy="2513623"/>
            </a:xfrm>
            <a:prstGeom prst="chevron">
              <a:avLst>
                <a:gd name="adj" fmla="val 20758"/>
              </a:avLst>
            </a:prstGeom>
            <a:solidFill>
              <a:srgbClr val="6CB4AD"/>
            </a:solidFill>
            <a:ln w="3810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lIns="216000" tIns="72000" rIns="72000" bIns="72000" rtlCol="0" anchor="t" anchorCtr="0"/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</a:rPr>
                <a:t>Middleware / Peripheral Drivers</a:t>
              </a:r>
              <a:endParaRPr lang="en-US" sz="1200" dirty="0">
                <a:solidFill>
                  <a:srgbClr val="FFFFFF"/>
                </a:solidFill>
              </a:endParaRPr>
            </a:p>
          </p:txBody>
        </p:sp>
        <p:sp>
          <p:nvSpPr>
            <p:cNvPr id="10" name="Pentagon 3">
              <a:extLst>
                <a:ext uri="{FF2B5EF4-FFF2-40B4-BE49-F238E27FC236}">
                  <a16:creationId xmlns:a16="http://schemas.microsoft.com/office/drawing/2014/main" id="{60523A9E-0BEE-292D-3F6F-CFDF9F186134}"/>
                </a:ext>
              </a:extLst>
            </p:cNvPr>
            <p:cNvSpPr/>
            <p:nvPr/>
          </p:nvSpPr>
          <p:spPr>
            <a:xfrm rot="5400000">
              <a:off x="3164166" y="695718"/>
              <a:ext cx="1366890" cy="2513623"/>
            </a:xfrm>
            <a:prstGeom prst="homePlate">
              <a:avLst>
                <a:gd name="adj" fmla="val 22102"/>
              </a:avLst>
            </a:prstGeom>
            <a:solidFill>
              <a:srgbClr val="B8DEDA"/>
            </a:solidFill>
            <a:ln w="38100"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lIns="216000" tIns="72000" rIns="72000" bIns="72000" rtlCol="0" anchor="ctr" anchorCtr="0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</a:rPr>
                <a:t>Your Application Code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">
              <a:extLst>
                <a:ext uri="{FF2B5EF4-FFF2-40B4-BE49-F238E27FC236}">
                  <a16:creationId xmlns:a16="http://schemas.microsoft.com/office/drawing/2014/main" id="{E14F5E71-71CB-2F2E-757F-85B551B04AFB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 bwMode="auto">
            <a:xfrm>
              <a:off x="5306630" y="2598311"/>
              <a:ext cx="1780949" cy="751809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marL="216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sz="1800" baseline="0">
                  <a:latin typeface="+mn-lt"/>
                </a:defRPr>
              </a:lvl1pPr>
              <a:lvl2pPr marL="432000" lvl="1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sz="1600">
                  <a:latin typeface="+mn-lt"/>
                </a:defRPr>
              </a:lvl2pPr>
              <a:lvl3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3pPr>
              <a:lvl4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4pPr>
              <a:lvl5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5pPr>
              <a:lvl6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6pPr>
              <a:lvl7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7pPr>
              <a:lvl8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8pPr>
              <a:lvl9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9pPr>
            </a:lstStyle>
            <a:p>
              <a:pPr marL="0" indent="0">
                <a:buNone/>
              </a:pPr>
              <a:r>
                <a:rPr lang="en-US" b="1" dirty="0"/>
                <a:t>Device-family API layer</a:t>
              </a:r>
            </a:p>
          </p:txBody>
        </p:sp>
        <p:sp>
          <p:nvSpPr>
            <p:cNvPr id="33" name="TextBox">
              <a:extLst>
                <a:ext uri="{FF2B5EF4-FFF2-40B4-BE49-F238E27FC236}">
                  <a16:creationId xmlns:a16="http://schemas.microsoft.com/office/drawing/2014/main" id="{0E728898-06A3-C9EE-C7F5-E625E5E435CE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 bwMode="auto">
            <a:xfrm>
              <a:off x="5306631" y="5081895"/>
              <a:ext cx="2313370" cy="751809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marL="216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sz="1800" baseline="0">
                  <a:latin typeface="+mn-lt"/>
                </a:defRPr>
              </a:lvl1pPr>
              <a:lvl2pPr marL="432000" lvl="1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sz="1600">
                  <a:latin typeface="+mn-lt"/>
                </a:defRPr>
              </a:lvl2pPr>
              <a:lvl3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3pPr>
              <a:lvl4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4pPr>
              <a:lvl5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5pPr>
              <a:lvl6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6pPr>
              <a:lvl7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7pPr>
              <a:lvl8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8pPr>
              <a:lvl9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9pPr>
            </a:lstStyle>
            <a:p>
              <a:pPr marL="0" indent="0">
                <a:buNone/>
              </a:pPr>
              <a:r>
                <a:rPr lang="en-US" b="1" dirty="0"/>
                <a:t>PSOC™ Control, PSOC™ Edge, </a:t>
              </a:r>
              <a:r>
                <a:rPr lang="en-US" b="1" dirty="0" err="1"/>
                <a:t>etc</a:t>
              </a:r>
              <a:r>
                <a:rPr lang="en-US" b="1" dirty="0"/>
                <a:t>…</a:t>
              </a:r>
            </a:p>
          </p:txBody>
        </p:sp>
        <p:sp>
          <p:nvSpPr>
            <p:cNvPr id="34" name="TextBox">
              <a:extLst>
                <a:ext uri="{FF2B5EF4-FFF2-40B4-BE49-F238E27FC236}">
                  <a16:creationId xmlns:a16="http://schemas.microsoft.com/office/drawing/2014/main" id="{54528C9C-9226-5B1D-A1DF-1536BDADE672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 bwMode="auto">
            <a:xfrm>
              <a:off x="685800" y="1576624"/>
              <a:ext cx="1702792" cy="751809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marL="216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sz="1800" baseline="0">
                  <a:latin typeface="+mn-lt"/>
                </a:defRPr>
              </a:lvl1pPr>
              <a:lvl2pPr marL="432000" lvl="1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sz="1600">
                  <a:latin typeface="+mn-lt"/>
                </a:defRPr>
              </a:lvl2pPr>
              <a:lvl3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3pPr>
              <a:lvl4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4pPr>
              <a:lvl5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5pPr>
              <a:lvl6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6pPr>
              <a:lvl7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7pPr>
              <a:lvl8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8pPr>
              <a:lvl9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9pPr>
            </a:lstStyle>
            <a:p>
              <a:pPr marL="0" indent="0" algn="r">
                <a:buNone/>
              </a:pPr>
              <a:r>
                <a:rPr lang="en-US" b="1" dirty="0"/>
                <a:t>Portable across boards</a:t>
              </a:r>
            </a:p>
          </p:txBody>
        </p:sp>
        <p:sp>
          <p:nvSpPr>
            <p:cNvPr id="35" name="TextBox">
              <a:extLst>
                <a:ext uri="{FF2B5EF4-FFF2-40B4-BE49-F238E27FC236}">
                  <a16:creationId xmlns:a16="http://schemas.microsoft.com/office/drawing/2014/main" id="{3CE05592-7A9E-51AA-2E18-382EE6B3FEA7}"/>
                </a:ext>
              </a:extLst>
            </p:cNvPr>
            <p:cNvSpPr txBox="1"/>
            <p:nvPr>
              <p:custDataLst>
                <p:tags r:id="rId5"/>
              </p:custDataLst>
            </p:nvPr>
          </p:nvSpPr>
          <p:spPr bwMode="auto">
            <a:xfrm>
              <a:off x="533400" y="3827580"/>
              <a:ext cx="1855192" cy="751809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marL="216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sz="1800" baseline="0">
                  <a:latin typeface="+mn-lt"/>
                </a:defRPr>
              </a:lvl1pPr>
              <a:lvl2pPr marL="432000" lvl="1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sz="1600">
                  <a:latin typeface="+mn-lt"/>
                </a:defRPr>
              </a:lvl2pPr>
              <a:lvl3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3pPr>
              <a:lvl4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4pPr>
              <a:lvl5pPr marL="648000" indent="-216000" defTabSz="576000" ea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SzPct val="100000"/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5pPr>
              <a:lvl6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 baseline="0">
                  <a:latin typeface="+mn-lt"/>
                </a:defRPr>
              </a:lvl6pPr>
              <a:lvl7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7pPr>
              <a:lvl8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8pPr>
              <a:lvl9pPr marL="648000" indent="-216000" defTabSz="576000" fontAlgn="base">
                <a:lnSpc>
                  <a:spcPct val="120000"/>
                </a:lnSpc>
                <a:spcBef>
                  <a:spcPts val="0"/>
                </a:spcBef>
                <a:spcAft>
                  <a:spcPct val="0"/>
                </a:spcAft>
                <a:buClr>
                  <a:schemeClr val="tx2"/>
                </a:buClr>
                <a:buFont typeface="Symbol" panose="05050102010706020507" pitchFamily="18" charset="2"/>
                <a:buChar char="-"/>
                <a:defRPr>
                  <a:latin typeface="+mn-lt"/>
                </a:defRPr>
              </a:lvl9pPr>
            </a:lstStyle>
            <a:p>
              <a:pPr marL="0" indent="0" algn="r">
                <a:buNone/>
              </a:pPr>
              <a:r>
                <a:rPr lang="en-US" b="1" dirty="0"/>
                <a:t>Pins, clocks, memory, startup</a:t>
              </a:r>
            </a:p>
          </p:txBody>
        </p:sp>
        <p:sp>
          <p:nvSpPr>
            <p:cNvPr id="8" name="Chevron 20">
              <a:extLst>
                <a:ext uri="{FF2B5EF4-FFF2-40B4-BE49-F238E27FC236}">
                  <a16:creationId xmlns:a16="http://schemas.microsoft.com/office/drawing/2014/main" id="{66B06299-F78C-462F-99B0-9396F176D004}"/>
                </a:ext>
              </a:extLst>
            </p:cNvPr>
            <p:cNvSpPr/>
            <p:nvPr/>
          </p:nvSpPr>
          <p:spPr>
            <a:xfrm rot="5400000">
              <a:off x="3034374" y="3052000"/>
              <a:ext cx="1626475" cy="2513623"/>
            </a:xfrm>
            <a:prstGeom prst="chevron">
              <a:avLst>
                <a:gd name="adj" fmla="val 20758"/>
              </a:avLst>
            </a:prstGeom>
            <a:solidFill>
              <a:srgbClr val="3B9B91"/>
            </a:solidFill>
            <a:ln w="38100">
              <a:solidFill>
                <a:srgbClr val="B9D2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lIns="216000" tIns="72000" rIns="72000" bIns="72000" rtlCol="0" anchor="t" anchorCtr="0"/>
            <a:lstStyle/>
            <a:p>
              <a:pPr algn="ctr"/>
              <a:r>
                <a:rPr lang="en-US" sz="2000" b="1" dirty="0">
                  <a:solidFill>
                    <a:srgbClr val="FFFFFF"/>
                  </a:solidFill>
                </a:rPr>
                <a:t>Board Support Package</a:t>
              </a:r>
              <a:endParaRPr lang="en-US" dirty="0">
                <a:solidFill>
                  <a:srgbClr val="FFFFFF"/>
                </a:solidFill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233939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Anatomy of a Board Support Package</a:t>
            </a:r>
          </a:p>
        </p:txBody>
      </p:sp>
      <p:sp>
        <p:nvSpPr>
          <p:cNvPr id="5" name="Oval 36">
            <a:extLst>
              <a:ext uri="{FF2B5EF4-FFF2-40B4-BE49-F238E27FC236}">
                <a16:creationId xmlns:a16="http://schemas.microsoft.com/office/drawing/2014/main" id="{1501EF7D-0999-3E44-AC09-628424A12CA2}"/>
              </a:ext>
            </a:extLst>
          </p:cNvPr>
          <p:cNvSpPr/>
          <p:nvPr/>
        </p:nvSpPr>
        <p:spPr>
          <a:xfrm>
            <a:off x="4425015" y="2121496"/>
            <a:ext cx="3341970" cy="335827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val 37">
            <a:extLst>
              <a:ext uri="{FF2B5EF4-FFF2-40B4-BE49-F238E27FC236}">
                <a16:creationId xmlns:a16="http://schemas.microsoft.com/office/drawing/2014/main" id="{44B15514-CD0E-4DD0-5F9D-7F983D7C6713}"/>
              </a:ext>
            </a:extLst>
          </p:cNvPr>
          <p:cNvSpPr/>
          <p:nvPr/>
        </p:nvSpPr>
        <p:spPr>
          <a:xfrm>
            <a:off x="4988217" y="2687445"/>
            <a:ext cx="2215566" cy="22263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38">
            <a:extLst>
              <a:ext uri="{FF2B5EF4-FFF2-40B4-BE49-F238E27FC236}">
                <a16:creationId xmlns:a16="http://schemas.microsoft.com/office/drawing/2014/main" id="{142E60CF-0C38-E2E4-B618-8803212AF466}"/>
              </a:ext>
            </a:extLst>
          </p:cNvPr>
          <p:cNvSpPr txBox="1"/>
          <p:nvPr/>
        </p:nvSpPr>
        <p:spPr>
          <a:xfrm>
            <a:off x="4754278" y="3258982"/>
            <a:ext cx="2694272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ModusToolbox™ Board Support Package </a:t>
            </a:r>
            <a:br>
              <a:rPr lang="de-DE" sz="1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(BSP)</a:t>
            </a:r>
          </a:p>
        </p:txBody>
      </p:sp>
      <p:cxnSp>
        <p:nvCxnSpPr>
          <p:cNvPr id="9" name="Gerade Verbindung 16">
            <a:extLst>
              <a:ext uri="{FF2B5EF4-FFF2-40B4-BE49-F238E27FC236}">
                <a16:creationId xmlns:a16="http://schemas.microsoft.com/office/drawing/2014/main" id="{90F92063-0DAF-08E4-8800-8856920031FA}"/>
              </a:ext>
            </a:extLst>
          </p:cNvPr>
          <p:cNvCxnSpPr>
            <a:cxnSpLocks/>
          </p:cNvCxnSpPr>
          <p:nvPr/>
        </p:nvCxnSpPr>
        <p:spPr>
          <a:xfrm flipV="1">
            <a:off x="7325468" y="3819458"/>
            <a:ext cx="1011445" cy="1754"/>
          </a:xfrm>
          <a:prstGeom prst="line">
            <a:avLst/>
          </a:prstGeom>
          <a:ln w="6350">
            <a:solidFill>
              <a:schemeClr val="tx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ihandform 21">
            <a:extLst>
              <a:ext uri="{FF2B5EF4-FFF2-40B4-BE49-F238E27FC236}">
                <a16:creationId xmlns:a16="http://schemas.microsoft.com/office/drawing/2014/main" id="{1DCF909E-8BAC-56CD-1196-599B6FD33BFF}"/>
              </a:ext>
            </a:extLst>
          </p:cNvPr>
          <p:cNvSpPr/>
          <p:nvPr/>
        </p:nvSpPr>
        <p:spPr bwMode="auto">
          <a:xfrm flipV="1">
            <a:off x="6521777" y="2009388"/>
            <a:ext cx="1815141" cy="654383"/>
          </a:xfrm>
          <a:custGeom>
            <a:avLst/>
            <a:gdLst>
              <a:gd name="connsiteX0" fmla="*/ 1450848 w 1450848"/>
              <a:gd name="connsiteY0" fmla="*/ 792480 h 792480"/>
              <a:gd name="connsiteX1" fmla="*/ 780288 w 1450848"/>
              <a:gd name="connsiteY1" fmla="*/ 792480 h 792480"/>
              <a:gd name="connsiteX2" fmla="*/ 0 w 1450848"/>
              <a:gd name="connsiteY2" fmla="*/ 0 h 792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50848" h="792480">
                <a:moveTo>
                  <a:pt x="1450848" y="792480"/>
                </a:moveTo>
                <a:lnTo>
                  <a:pt x="780288" y="792480"/>
                </a:lnTo>
                <a:lnTo>
                  <a:pt x="0" y="0"/>
                </a:lnTo>
              </a:path>
            </a:pathLst>
          </a:custGeom>
          <a:noFill/>
          <a:ln w="6350">
            <a:solidFill>
              <a:schemeClr val="tx2"/>
            </a:solidFill>
            <a:miter lim="800000"/>
            <a:headEnd/>
            <a:tailEnd/>
          </a:ln>
        </p:spPr>
        <p:txBody>
          <a:bodyPr rtlCol="0" anchor="ctr"/>
          <a:lstStyle/>
          <a:p>
            <a:pPr algn="ctr"/>
            <a:endParaRPr lang="en-US" sz="4267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7691AFF-2E4E-C203-E2A8-71B9B9E812B0}"/>
              </a:ext>
            </a:extLst>
          </p:cNvPr>
          <p:cNvSpPr/>
          <p:nvPr/>
        </p:nvSpPr>
        <p:spPr bwMode="auto">
          <a:xfrm>
            <a:off x="8336915" y="1262610"/>
            <a:ext cx="3517884" cy="1485914"/>
          </a:xfrm>
          <a:prstGeom prst="rect">
            <a:avLst/>
          </a:prstGeom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DCD5D7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vert="horz" lIns="180000" tIns="72000" rIns="72000" bIns="72000" rtlCol="0" anchor="ctr">
            <a:noAutofit/>
          </a:bodyPr>
          <a:lstStyle/>
          <a:p>
            <a:pPr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</a:pPr>
            <a:r>
              <a:rPr lang="en-US" sz="2000" dirty="0"/>
              <a:t>Device resource initialization</a:t>
            </a:r>
            <a:br>
              <a:rPr lang="en-US" sz="2000" dirty="0"/>
            </a:br>
            <a:r>
              <a:rPr lang="en-US" sz="2000" dirty="0"/>
              <a:t>Pins, Clocks, Power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6B615A3-5A04-C633-C840-C534C1BF9143}"/>
              </a:ext>
            </a:extLst>
          </p:cNvPr>
          <p:cNvSpPr/>
          <p:nvPr/>
        </p:nvSpPr>
        <p:spPr bwMode="auto">
          <a:xfrm>
            <a:off x="8336915" y="3080031"/>
            <a:ext cx="3517884" cy="1473453"/>
          </a:xfrm>
          <a:prstGeom prst="rect">
            <a:avLst/>
          </a:prstGeom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DCD5D7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vert="horz" lIns="180000" tIns="72000" rIns="72000" bIns="72000" rtlCol="0" anchor="ctr">
            <a:noAutofit/>
          </a:bodyPr>
          <a:lstStyle/>
          <a:p>
            <a:pPr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</a:pPr>
            <a:r>
              <a:rPr lang="en-US" sz="2000" dirty="0"/>
              <a:t>Board dependent libraries and build recipes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88E2F5D-B11B-AE2D-BFCB-14BB574927A7}"/>
              </a:ext>
            </a:extLst>
          </p:cNvPr>
          <p:cNvSpPr/>
          <p:nvPr/>
        </p:nvSpPr>
        <p:spPr bwMode="auto">
          <a:xfrm>
            <a:off x="8336915" y="4906544"/>
            <a:ext cx="3517884" cy="1475207"/>
          </a:xfrm>
          <a:prstGeom prst="rect">
            <a:avLst/>
          </a:prstGeom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DCD5D7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vert="horz" lIns="180000" tIns="72000" rIns="72000" bIns="72000" rtlCol="0" anchor="ctr">
            <a:noAutofit/>
          </a:bodyPr>
          <a:lstStyle/>
          <a:p>
            <a:pPr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</a:pPr>
            <a:r>
              <a:rPr lang="en-US" sz="2000" dirty="0"/>
              <a:t>Secure domain partition resources</a:t>
            </a:r>
          </a:p>
        </p:txBody>
      </p:sp>
      <p:cxnSp>
        <p:nvCxnSpPr>
          <p:cNvPr id="55" name="Gerade Verbindung 16">
            <a:extLst>
              <a:ext uri="{FF2B5EF4-FFF2-40B4-BE49-F238E27FC236}">
                <a16:creationId xmlns:a16="http://schemas.microsoft.com/office/drawing/2014/main" id="{4FCFC1A5-F28C-944F-55D4-0337F5BCE9BE}"/>
              </a:ext>
            </a:extLst>
          </p:cNvPr>
          <p:cNvCxnSpPr>
            <a:cxnSpLocks/>
          </p:cNvCxnSpPr>
          <p:nvPr/>
        </p:nvCxnSpPr>
        <p:spPr>
          <a:xfrm flipH="1" flipV="1">
            <a:off x="3858538" y="3819458"/>
            <a:ext cx="1011445" cy="1754"/>
          </a:xfrm>
          <a:prstGeom prst="line">
            <a:avLst/>
          </a:prstGeom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Freihandform 21">
            <a:extLst>
              <a:ext uri="{FF2B5EF4-FFF2-40B4-BE49-F238E27FC236}">
                <a16:creationId xmlns:a16="http://schemas.microsoft.com/office/drawing/2014/main" id="{B872271E-20BF-5B98-ECAC-0911721207DA}"/>
              </a:ext>
            </a:extLst>
          </p:cNvPr>
          <p:cNvSpPr/>
          <p:nvPr/>
        </p:nvSpPr>
        <p:spPr bwMode="auto">
          <a:xfrm flipH="1" flipV="1">
            <a:off x="3858533" y="1967769"/>
            <a:ext cx="1815141" cy="696001"/>
          </a:xfrm>
          <a:custGeom>
            <a:avLst/>
            <a:gdLst>
              <a:gd name="connsiteX0" fmla="*/ 1450848 w 1450848"/>
              <a:gd name="connsiteY0" fmla="*/ 792480 h 792480"/>
              <a:gd name="connsiteX1" fmla="*/ 780288 w 1450848"/>
              <a:gd name="connsiteY1" fmla="*/ 792480 h 792480"/>
              <a:gd name="connsiteX2" fmla="*/ 0 w 1450848"/>
              <a:gd name="connsiteY2" fmla="*/ 0 h 792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50848" h="792480">
                <a:moveTo>
                  <a:pt x="1450848" y="792480"/>
                </a:moveTo>
                <a:lnTo>
                  <a:pt x="780288" y="792480"/>
                </a:lnTo>
                <a:lnTo>
                  <a:pt x="0" y="0"/>
                </a:lnTo>
              </a:path>
            </a:pathLst>
          </a:custGeom>
          <a:noFill/>
          <a:ln w="6350">
            <a:solidFill>
              <a:schemeClr val="tx2"/>
            </a:solidFill>
            <a:miter lim="800000"/>
            <a:headEnd/>
            <a:tailEnd/>
          </a:ln>
        </p:spPr>
        <p:txBody>
          <a:bodyPr rtlCol="0" anchor="ctr"/>
          <a:lstStyle/>
          <a:p>
            <a:pPr algn="ctr"/>
            <a:endParaRPr lang="en-US" sz="4267" dirty="0"/>
          </a:p>
        </p:txBody>
      </p:sp>
      <p:sp>
        <p:nvSpPr>
          <p:cNvPr id="70" name="Rechteck 16">
            <a:extLst>
              <a:ext uri="{FF2B5EF4-FFF2-40B4-BE49-F238E27FC236}">
                <a16:creationId xmlns:a16="http://schemas.microsoft.com/office/drawing/2014/main" id="{7502AE86-872B-09B9-AB10-C22B85A38A6D}"/>
              </a:ext>
            </a:extLst>
          </p:cNvPr>
          <p:cNvSpPr/>
          <p:nvPr/>
        </p:nvSpPr>
        <p:spPr bwMode="auto">
          <a:xfrm>
            <a:off x="334799" y="1262610"/>
            <a:ext cx="3524080" cy="1485914"/>
          </a:xfrm>
          <a:prstGeom prst="rect">
            <a:avLst/>
          </a:prstGeom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DCD5D7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vert="horz" lIns="72000" tIns="72000" rIns="180000" bIns="72000" rtlCol="0" anchor="ctr">
            <a:noAutofit/>
          </a:bodyPr>
          <a:lstStyle/>
          <a:p>
            <a:pPr algn="r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</a:pPr>
            <a:r>
              <a:rPr lang="en-US" sz="2000" dirty="0"/>
              <a:t>Linker scripts and </a:t>
            </a:r>
            <a:br>
              <a:rPr lang="en-US" sz="2000" dirty="0"/>
            </a:br>
            <a:r>
              <a:rPr lang="en-US" sz="2000" dirty="0"/>
              <a:t>startup code</a:t>
            </a:r>
          </a:p>
        </p:txBody>
      </p:sp>
      <p:sp>
        <p:nvSpPr>
          <p:cNvPr id="71" name="Rechteck 18">
            <a:extLst>
              <a:ext uri="{FF2B5EF4-FFF2-40B4-BE49-F238E27FC236}">
                <a16:creationId xmlns:a16="http://schemas.microsoft.com/office/drawing/2014/main" id="{9DF6DCA2-3BBC-5033-6AD5-5AD3E7FDFE26}"/>
              </a:ext>
            </a:extLst>
          </p:cNvPr>
          <p:cNvSpPr/>
          <p:nvPr/>
        </p:nvSpPr>
        <p:spPr bwMode="auto">
          <a:xfrm>
            <a:off x="334799" y="3080031"/>
            <a:ext cx="3524080" cy="1482223"/>
          </a:xfrm>
          <a:prstGeom prst="rect">
            <a:avLst/>
          </a:prstGeom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DCD5D7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vert="horz" lIns="72000" tIns="72000" rIns="180000" bIns="72000" rtlCol="0" anchor="ctr">
            <a:noAutofit/>
          </a:bodyPr>
          <a:lstStyle/>
          <a:p>
            <a:pPr algn="r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</a:pPr>
            <a:r>
              <a:rPr lang="en-US" sz="2000" dirty="0"/>
              <a:t>Peripheral configuration structures</a:t>
            </a:r>
          </a:p>
        </p:txBody>
      </p:sp>
      <p:sp>
        <p:nvSpPr>
          <p:cNvPr id="80" name="Rectangle 116">
            <a:extLst>
              <a:ext uri="{FF2B5EF4-FFF2-40B4-BE49-F238E27FC236}">
                <a16:creationId xmlns:a16="http://schemas.microsoft.com/office/drawing/2014/main" id="{022220F6-3CAF-4E94-B9CF-5DC7434B4F41}"/>
              </a:ext>
            </a:extLst>
          </p:cNvPr>
          <p:cNvSpPr/>
          <p:nvPr/>
        </p:nvSpPr>
        <p:spPr>
          <a:xfrm>
            <a:off x="3804920" y="3080031"/>
            <a:ext cx="53613" cy="1478715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7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Rectangle 116">
            <a:extLst>
              <a:ext uri="{FF2B5EF4-FFF2-40B4-BE49-F238E27FC236}">
                <a16:creationId xmlns:a16="http://schemas.microsoft.com/office/drawing/2014/main" id="{2A2E569C-9A4B-4C91-55DB-2C2418916013}"/>
              </a:ext>
            </a:extLst>
          </p:cNvPr>
          <p:cNvSpPr/>
          <p:nvPr/>
        </p:nvSpPr>
        <p:spPr>
          <a:xfrm>
            <a:off x="3804920" y="1262610"/>
            <a:ext cx="53613" cy="1478715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7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Rectangle 116">
            <a:extLst>
              <a:ext uri="{FF2B5EF4-FFF2-40B4-BE49-F238E27FC236}">
                <a16:creationId xmlns:a16="http://schemas.microsoft.com/office/drawing/2014/main" id="{3FF70D76-2776-6159-9353-7C4E8AEC0B2C}"/>
              </a:ext>
            </a:extLst>
          </p:cNvPr>
          <p:cNvSpPr/>
          <p:nvPr/>
        </p:nvSpPr>
        <p:spPr>
          <a:xfrm>
            <a:off x="8336569" y="1262610"/>
            <a:ext cx="54956" cy="1478715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7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Rectangle 116">
            <a:extLst>
              <a:ext uri="{FF2B5EF4-FFF2-40B4-BE49-F238E27FC236}">
                <a16:creationId xmlns:a16="http://schemas.microsoft.com/office/drawing/2014/main" id="{2114EDBD-AEA4-4DBC-6099-9410C15F6A4C}"/>
              </a:ext>
            </a:extLst>
          </p:cNvPr>
          <p:cNvSpPr/>
          <p:nvPr/>
        </p:nvSpPr>
        <p:spPr>
          <a:xfrm>
            <a:off x="8336569" y="3080031"/>
            <a:ext cx="54956" cy="1478715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7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reihandform 5">
            <a:extLst>
              <a:ext uri="{FF2B5EF4-FFF2-40B4-BE49-F238E27FC236}">
                <a16:creationId xmlns:a16="http://schemas.microsoft.com/office/drawing/2014/main" id="{A2ECAD72-830E-F65F-C29E-14E01CC9187E}"/>
              </a:ext>
            </a:extLst>
          </p:cNvPr>
          <p:cNvSpPr/>
          <p:nvPr/>
        </p:nvSpPr>
        <p:spPr bwMode="auto">
          <a:xfrm>
            <a:off x="6521777" y="4958075"/>
            <a:ext cx="1815141" cy="682830"/>
          </a:xfrm>
          <a:custGeom>
            <a:avLst/>
            <a:gdLst>
              <a:gd name="connsiteX0" fmla="*/ 1450848 w 1450848"/>
              <a:gd name="connsiteY0" fmla="*/ 792480 h 792480"/>
              <a:gd name="connsiteX1" fmla="*/ 780288 w 1450848"/>
              <a:gd name="connsiteY1" fmla="*/ 792480 h 792480"/>
              <a:gd name="connsiteX2" fmla="*/ 0 w 1450848"/>
              <a:gd name="connsiteY2" fmla="*/ 0 h 792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50848" h="792480">
                <a:moveTo>
                  <a:pt x="1450848" y="792480"/>
                </a:moveTo>
                <a:lnTo>
                  <a:pt x="780288" y="792480"/>
                </a:lnTo>
                <a:lnTo>
                  <a:pt x="0" y="0"/>
                </a:lnTo>
              </a:path>
            </a:pathLst>
          </a:custGeom>
          <a:noFill/>
          <a:ln w="6350">
            <a:solidFill>
              <a:schemeClr val="tx2"/>
            </a:solidFill>
            <a:miter lim="800000"/>
            <a:headEnd/>
            <a:tailEnd/>
          </a:ln>
        </p:spPr>
        <p:txBody>
          <a:bodyPr rtlCol="0" anchor="ctr"/>
          <a:lstStyle/>
          <a:p>
            <a:pPr algn="ctr"/>
            <a:endParaRPr lang="en-US" sz="4267" dirty="0"/>
          </a:p>
        </p:txBody>
      </p:sp>
      <p:sp>
        <p:nvSpPr>
          <p:cNvPr id="84" name="Rectangle 116">
            <a:extLst>
              <a:ext uri="{FF2B5EF4-FFF2-40B4-BE49-F238E27FC236}">
                <a16:creationId xmlns:a16="http://schemas.microsoft.com/office/drawing/2014/main" id="{2C379228-1CD3-5F14-31BF-B75A07606F5F}"/>
              </a:ext>
            </a:extLst>
          </p:cNvPr>
          <p:cNvSpPr/>
          <p:nvPr/>
        </p:nvSpPr>
        <p:spPr>
          <a:xfrm>
            <a:off x="8336569" y="4903036"/>
            <a:ext cx="54956" cy="1478715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7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 16">
            <a:extLst>
              <a:ext uri="{FF2B5EF4-FFF2-40B4-BE49-F238E27FC236}">
                <a16:creationId xmlns:a16="http://schemas.microsoft.com/office/drawing/2014/main" id="{2DCCF5BB-1E41-6B60-8F88-C9633443C747}"/>
              </a:ext>
            </a:extLst>
          </p:cNvPr>
          <p:cNvSpPr/>
          <p:nvPr/>
        </p:nvSpPr>
        <p:spPr bwMode="auto">
          <a:xfrm>
            <a:off x="334799" y="4899345"/>
            <a:ext cx="3524080" cy="1482406"/>
          </a:xfrm>
          <a:prstGeom prst="rect">
            <a:avLst/>
          </a:prstGeom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DCD5D7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vert="horz" lIns="72000" tIns="72000" rIns="180000" bIns="72000" rtlCol="0" anchor="ctr">
            <a:noAutofit/>
          </a:bodyPr>
          <a:lstStyle/>
          <a:p>
            <a:pPr algn="r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</a:pPr>
            <a:r>
              <a:rPr lang="en-US" sz="2000" dirty="0"/>
              <a:t>Software aliases for hardware resources</a:t>
            </a:r>
          </a:p>
        </p:txBody>
      </p:sp>
      <p:sp>
        <p:nvSpPr>
          <p:cNvPr id="13" name="Rectangle 116">
            <a:extLst>
              <a:ext uri="{FF2B5EF4-FFF2-40B4-BE49-F238E27FC236}">
                <a16:creationId xmlns:a16="http://schemas.microsoft.com/office/drawing/2014/main" id="{5BA77D23-28DE-2A86-CD91-BB1505F3AECA}"/>
              </a:ext>
            </a:extLst>
          </p:cNvPr>
          <p:cNvSpPr/>
          <p:nvPr/>
        </p:nvSpPr>
        <p:spPr>
          <a:xfrm>
            <a:off x="3804920" y="4903036"/>
            <a:ext cx="53613" cy="1478715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267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ihandform 5">
            <a:extLst>
              <a:ext uri="{FF2B5EF4-FFF2-40B4-BE49-F238E27FC236}">
                <a16:creationId xmlns:a16="http://schemas.microsoft.com/office/drawing/2014/main" id="{D5376F1C-B6ED-FC93-CB12-8BB0DAB319E1}"/>
              </a:ext>
            </a:extLst>
          </p:cNvPr>
          <p:cNvSpPr/>
          <p:nvPr/>
        </p:nvSpPr>
        <p:spPr bwMode="auto">
          <a:xfrm flipH="1">
            <a:off x="3858879" y="4958075"/>
            <a:ext cx="1815141" cy="682830"/>
          </a:xfrm>
          <a:custGeom>
            <a:avLst/>
            <a:gdLst>
              <a:gd name="connsiteX0" fmla="*/ 1450848 w 1450848"/>
              <a:gd name="connsiteY0" fmla="*/ 792480 h 792480"/>
              <a:gd name="connsiteX1" fmla="*/ 780288 w 1450848"/>
              <a:gd name="connsiteY1" fmla="*/ 792480 h 792480"/>
              <a:gd name="connsiteX2" fmla="*/ 0 w 1450848"/>
              <a:gd name="connsiteY2" fmla="*/ 0 h 792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50848" h="792480">
                <a:moveTo>
                  <a:pt x="1450848" y="792480"/>
                </a:moveTo>
                <a:lnTo>
                  <a:pt x="780288" y="792480"/>
                </a:lnTo>
                <a:lnTo>
                  <a:pt x="0" y="0"/>
                </a:lnTo>
              </a:path>
            </a:pathLst>
          </a:custGeom>
          <a:noFill/>
          <a:ln w="6350">
            <a:solidFill>
              <a:schemeClr val="tx2"/>
            </a:solidFill>
            <a:miter lim="800000"/>
            <a:headEnd/>
            <a:tailEnd/>
          </a:ln>
        </p:spPr>
        <p:txBody>
          <a:bodyPr rtlCol="0" anchor="ctr"/>
          <a:lstStyle/>
          <a:p>
            <a:pPr algn="ctr"/>
            <a:endParaRPr lang="en-US" sz="4267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92691821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75093-5B5F-B92B-AD28-30324B1DE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FCDB7D-B0B6-2A73-6433-59E1389DAE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1447800"/>
            <a:ext cx="4996800" cy="4933951"/>
          </a:xfrm>
        </p:spPr>
        <p:txBody>
          <a:bodyPr/>
          <a:lstStyle/>
          <a:p>
            <a:r>
              <a:rPr lang="en-US" dirty="0"/>
              <a:t>The config/</a:t>
            </a:r>
            <a:r>
              <a:rPr lang="en-US" dirty="0" err="1"/>
              <a:t>GeneratedSource</a:t>
            </a:r>
            <a:r>
              <a:rPr lang="en-US" dirty="0"/>
              <a:t>/ files are </a:t>
            </a:r>
            <a:r>
              <a:rPr lang="en-US" b="1" dirty="0"/>
              <a:t>generated by Device Configurator</a:t>
            </a:r>
            <a:r>
              <a:rPr lang="en-US" dirty="0"/>
              <a:t> from </a:t>
            </a:r>
            <a:r>
              <a:rPr lang="en-US" dirty="0" err="1"/>
              <a:t>design.modus</a:t>
            </a:r>
            <a:endParaRPr lang="en-US" dirty="0"/>
          </a:p>
          <a:p>
            <a:endParaRPr lang="en-US" dirty="0"/>
          </a:p>
          <a:p>
            <a:r>
              <a:rPr lang="en-US" dirty="0"/>
              <a:t>You edit </a:t>
            </a:r>
            <a:r>
              <a:rPr lang="en-US" dirty="0" err="1"/>
              <a:t>design.modus</a:t>
            </a:r>
            <a:r>
              <a:rPr lang="en-US" dirty="0"/>
              <a:t> in the GUI; the .c/.h files are regenerated automatically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85851C-025D-7C09-8AF1-65517008C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Directory structure of a Board Support Package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D094C5-7543-46AE-569D-648ACB900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60" y="908720"/>
            <a:ext cx="6441504" cy="5602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924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FCA72237-5A95-4584-1F52-0D46F0DA5C9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4800" y="5422065"/>
            <a:ext cx="11520000" cy="959686"/>
          </a:xfrm>
        </p:spPr>
        <p:txBody>
          <a:bodyPr/>
          <a:lstStyle/>
          <a:p>
            <a:r>
              <a:rPr lang="en-US" sz="1600" b="1" dirty="0" err="1"/>
              <a:t>design.modus</a:t>
            </a:r>
            <a:r>
              <a:rPr lang="en-US" sz="1600" b="1" dirty="0"/>
              <a:t> </a:t>
            </a:r>
            <a:r>
              <a:rPr lang="en-US" sz="1600" dirty="0"/>
              <a:t>is binary XML — always edit via Device Configurator, never manually</a:t>
            </a:r>
          </a:p>
          <a:p>
            <a:r>
              <a:rPr lang="en-US" sz="1600" dirty="0"/>
              <a:t>Changes to pin assignments, clock speeds, or peripheral configs go here</a:t>
            </a:r>
          </a:p>
          <a:p>
            <a:r>
              <a:rPr lang="en-US" sz="1600" dirty="0"/>
              <a:t>When you switch BSPs, you get a </a:t>
            </a:r>
            <a:r>
              <a:rPr lang="en-US" sz="1600" dirty="0">
                <a:solidFill>
                  <a:srgbClr val="0A8276"/>
                </a:solidFill>
              </a:rPr>
              <a:t>different</a:t>
            </a:r>
            <a:r>
              <a:rPr lang="en-US" sz="1600" dirty="0"/>
              <a:t> </a:t>
            </a:r>
            <a:r>
              <a:rPr lang="en-US" sz="1600" b="1" dirty="0" err="1"/>
              <a:t>design.modus</a:t>
            </a:r>
            <a:r>
              <a:rPr lang="en-US" sz="1600" b="1" dirty="0"/>
              <a:t> </a:t>
            </a:r>
            <a:r>
              <a:rPr lang="en-US" sz="1600" dirty="0"/>
              <a:t>for the new board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C2E995-5AC1-85DE-3E46-AA37B632B7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Device Configurator flow </a:t>
            </a:r>
          </a:p>
        </p:txBody>
      </p:sp>
      <p:sp>
        <p:nvSpPr>
          <p:cNvPr id="5" name="Chevron 6">
            <a:extLst>
              <a:ext uri="{FF2B5EF4-FFF2-40B4-BE49-F238E27FC236}">
                <a16:creationId xmlns:a16="http://schemas.microsoft.com/office/drawing/2014/main" id="{AC554603-5B46-F0E1-69BC-A272F84D5E4E}"/>
              </a:ext>
            </a:extLst>
          </p:cNvPr>
          <p:cNvSpPr/>
          <p:nvPr/>
        </p:nvSpPr>
        <p:spPr>
          <a:xfrm>
            <a:off x="7520066" y="1219203"/>
            <a:ext cx="4107788" cy="949257"/>
          </a:xfrm>
          <a:prstGeom prst="chevron">
            <a:avLst>
              <a:gd name="adj" fmla="val 20758"/>
            </a:avLst>
          </a:prstGeom>
          <a:solidFill>
            <a:schemeClr val="tx2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182880" tIns="0" bIns="91440" rtlCol="0" anchor="ctr" anchorCtr="0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Application Init</a:t>
            </a:r>
          </a:p>
          <a:p>
            <a:pPr algn="ctr"/>
            <a:r>
              <a:rPr lang="en-US" sz="1200" dirty="0" err="1">
                <a:solidFill>
                  <a:srgbClr val="FFFFFF"/>
                </a:solidFill>
              </a:rPr>
              <a:t>cybsp_init</a:t>
            </a:r>
            <a:r>
              <a:rPr lang="en-US" sz="1200" dirty="0">
                <a:solidFill>
                  <a:srgbClr val="FFFFFF"/>
                </a:solidFill>
              </a:rPr>
              <a:t>()</a:t>
            </a:r>
          </a:p>
        </p:txBody>
      </p:sp>
      <p:sp>
        <p:nvSpPr>
          <p:cNvPr id="6" name="Chevron 20">
            <a:extLst>
              <a:ext uri="{FF2B5EF4-FFF2-40B4-BE49-F238E27FC236}">
                <a16:creationId xmlns:a16="http://schemas.microsoft.com/office/drawing/2014/main" id="{64D9BDD1-50C0-2737-06FC-1A81B85756E9}"/>
              </a:ext>
            </a:extLst>
          </p:cNvPr>
          <p:cNvSpPr/>
          <p:nvPr/>
        </p:nvSpPr>
        <p:spPr>
          <a:xfrm>
            <a:off x="3715741" y="1219203"/>
            <a:ext cx="4107788" cy="949257"/>
          </a:xfrm>
          <a:prstGeom prst="chevron">
            <a:avLst>
              <a:gd name="adj" fmla="val 20758"/>
            </a:avLst>
          </a:prstGeom>
          <a:solidFill>
            <a:srgbClr val="3B9B91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182880" tIns="0" bIns="91440" rtlCol="0" anchor="ctr" anchorCtr="0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Auto-generated C files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</a:rPr>
              <a:t>config/</a:t>
            </a:r>
            <a:r>
              <a:rPr lang="en-US" sz="1200" dirty="0" err="1">
                <a:solidFill>
                  <a:srgbClr val="FFFFFF"/>
                </a:solidFill>
              </a:rPr>
              <a:t>GeneratedSource</a:t>
            </a:r>
            <a:r>
              <a:rPr lang="en-US" sz="1200" dirty="0">
                <a:solidFill>
                  <a:srgbClr val="FFFFFF"/>
                </a:solidFill>
              </a:rPr>
              <a:t>/</a:t>
            </a:r>
          </a:p>
        </p:txBody>
      </p:sp>
      <p:sp>
        <p:nvSpPr>
          <p:cNvPr id="8" name="Pentagon 3">
            <a:extLst>
              <a:ext uri="{FF2B5EF4-FFF2-40B4-BE49-F238E27FC236}">
                <a16:creationId xmlns:a16="http://schemas.microsoft.com/office/drawing/2014/main" id="{C52FCBE2-384B-FE01-1BCB-738E581E3B9E}"/>
              </a:ext>
            </a:extLst>
          </p:cNvPr>
          <p:cNvSpPr/>
          <p:nvPr/>
        </p:nvSpPr>
        <p:spPr>
          <a:xfrm>
            <a:off x="567016" y="1219203"/>
            <a:ext cx="3452188" cy="949257"/>
          </a:xfrm>
          <a:prstGeom prst="homePlate">
            <a:avLst>
              <a:gd name="adj" fmla="val 22102"/>
            </a:avLst>
          </a:prstGeom>
          <a:solidFill>
            <a:srgbClr val="6CB4AD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72000" tIns="0" rIns="72000" bIns="72000" rtlCol="0" anchor="ctr" anchorCtr="0"/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GUI based Configuration</a:t>
            </a:r>
          </a:p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chemeClr val="bg1"/>
                </a:solidFill>
              </a:rPr>
              <a:t>Device Configurator (</a:t>
            </a:r>
            <a:r>
              <a:rPr lang="en-US" sz="1200" dirty="0" err="1">
                <a:solidFill>
                  <a:schemeClr val="bg1"/>
                </a:solidFill>
              </a:rPr>
              <a:t>design.modus</a:t>
            </a:r>
            <a:r>
              <a:rPr lang="en-US" sz="1200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4" name="Straight Connector 16">
            <a:extLst>
              <a:ext uri="{FF2B5EF4-FFF2-40B4-BE49-F238E27FC236}">
                <a16:creationId xmlns:a16="http://schemas.microsoft.com/office/drawing/2014/main" id="{09FFEC8E-F40B-0024-DB32-B7D8049A4128}"/>
              </a:ext>
            </a:extLst>
          </p:cNvPr>
          <p:cNvCxnSpPr>
            <a:cxnSpLocks/>
          </p:cNvCxnSpPr>
          <p:nvPr/>
        </p:nvCxnSpPr>
        <p:spPr>
          <a:xfrm flipV="1">
            <a:off x="9528302" y="1884854"/>
            <a:ext cx="225" cy="439604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7">
            <a:extLst>
              <a:ext uri="{FF2B5EF4-FFF2-40B4-BE49-F238E27FC236}">
                <a16:creationId xmlns:a16="http://schemas.microsoft.com/office/drawing/2014/main" id="{2425D9A1-9076-65FC-76ED-983E1B8031E1}"/>
              </a:ext>
            </a:extLst>
          </p:cNvPr>
          <p:cNvCxnSpPr>
            <a:cxnSpLocks/>
          </p:cNvCxnSpPr>
          <p:nvPr/>
        </p:nvCxnSpPr>
        <p:spPr>
          <a:xfrm flipV="1">
            <a:off x="1852305" y="1884854"/>
            <a:ext cx="225" cy="439604"/>
          </a:xfrm>
          <a:prstGeom prst="line">
            <a:avLst/>
          </a:prstGeom>
          <a:ln>
            <a:solidFill>
              <a:srgbClr val="B8DE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8">
            <a:extLst>
              <a:ext uri="{FF2B5EF4-FFF2-40B4-BE49-F238E27FC236}">
                <a16:creationId xmlns:a16="http://schemas.microsoft.com/office/drawing/2014/main" id="{DF487EFB-0AB5-CE1B-CDD7-82C739A40CE0}"/>
              </a:ext>
            </a:extLst>
          </p:cNvPr>
          <p:cNvCxnSpPr>
            <a:cxnSpLocks/>
          </p:cNvCxnSpPr>
          <p:nvPr/>
        </p:nvCxnSpPr>
        <p:spPr>
          <a:xfrm flipV="1">
            <a:off x="5769522" y="1884854"/>
            <a:ext cx="225" cy="439604"/>
          </a:xfrm>
          <a:prstGeom prst="line">
            <a:avLst/>
          </a:prstGeom>
          <a:ln>
            <a:solidFill>
              <a:srgbClr val="3B9B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">
            <a:extLst>
              <a:ext uri="{FF2B5EF4-FFF2-40B4-BE49-F238E27FC236}">
                <a16:creationId xmlns:a16="http://schemas.microsoft.com/office/drawing/2014/main" id="{8A3CC325-B502-6523-CECC-FEEB21E0508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>
            <a:off x="667107" y="3088540"/>
            <a:ext cx="2871509" cy="1620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r>
              <a:rPr lang="en-US" sz="1400" dirty="0"/>
              <a:t>Configure pins, clocks, peripherals, and power modes with a GUI.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Stored in </a:t>
            </a:r>
            <a:r>
              <a:rPr lang="en-US" sz="1400" dirty="0" err="1"/>
              <a:t>bsps</a:t>
            </a:r>
            <a:r>
              <a:rPr lang="en-US" sz="1400" dirty="0"/>
              <a:t>/TARGET_APP_.../</a:t>
            </a:r>
            <a:br>
              <a:rPr lang="en-US" sz="1400" dirty="0"/>
            </a:br>
            <a:r>
              <a:rPr lang="en-US" sz="1400" dirty="0"/>
              <a:t>config/</a:t>
            </a:r>
            <a:r>
              <a:rPr lang="en-US" sz="1400" dirty="0" err="1"/>
              <a:t>design.modus</a:t>
            </a:r>
            <a:endParaRPr lang="en-US" sz="1400" dirty="0"/>
          </a:p>
        </p:txBody>
      </p:sp>
      <p:sp>
        <p:nvSpPr>
          <p:cNvPr id="29" name="TextBox">
            <a:extLst>
              <a:ext uri="{FF2B5EF4-FFF2-40B4-BE49-F238E27FC236}">
                <a16:creationId xmlns:a16="http://schemas.microsoft.com/office/drawing/2014/main" id="{B5C37FED-ECC2-6743-92C9-A67DA36813E3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19204" y="3088540"/>
            <a:ext cx="3495736" cy="21724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r>
              <a:rPr lang="en-US" sz="1400" dirty="0" err="1"/>
              <a:t>cycfg_pins.c</a:t>
            </a:r>
            <a:r>
              <a:rPr lang="en-US" sz="1400" dirty="0"/>
              <a:t> / .h</a:t>
            </a:r>
          </a:p>
          <a:p>
            <a:pPr lvl="1"/>
            <a:r>
              <a:rPr lang="en-US" sz="1200" dirty="0"/>
              <a:t>GPIO pin assignments and drive modes</a:t>
            </a:r>
          </a:p>
          <a:p>
            <a:r>
              <a:rPr lang="en-US" sz="1400" dirty="0" err="1"/>
              <a:t>cycfg_clocks.c</a:t>
            </a:r>
            <a:r>
              <a:rPr lang="en-US" sz="1400" dirty="0"/>
              <a:t> / .h</a:t>
            </a:r>
          </a:p>
          <a:p>
            <a:pPr lvl="1"/>
            <a:r>
              <a:rPr lang="en-US" sz="1200" dirty="0"/>
              <a:t>Clock tree configuration (PLL, dividers)</a:t>
            </a:r>
          </a:p>
          <a:p>
            <a:r>
              <a:rPr lang="en-US" sz="1400" dirty="0" err="1"/>
              <a:t>cycfg_peripherals.c</a:t>
            </a:r>
            <a:r>
              <a:rPr lang="en-US" sz="1400" dirty="0"/>
              <a:t> / .h</a:t>
            </a:r>
          </a:p>
          <a:p>
            <a:pPr lvl="1"/>
            <a:r>
              <a:rPr lang="en-US" sz="1200" dirty="0"/>
              <a:t>UART, SPI, I2C, Timer </a:t>
            </a:r>
            <a:r>
              <a:rPr lang="en-US" sz="1200" dirty="0" err="1"/>
              <a:t>init</a:t>
            </a:r>
            <a:r>
              <a:rPr lang="en-US" sz="1200" dirty="0"/>
              <a:t> structs</a:t>
            </a:r>
          </a:p>
          <a:p>
            <a:r>
              <a:rPr lang="en-US" sz="1400" dirty="0" err="1"/>
              <a:t>cycfg_system.c</a:t>
            </a:r>
            <a:r>
              <a:rPr lang="en-US" sz="1400" dirty="0"/>
              <a:t> / .h</a:t>
            </a:r>
          </a:p>
          <a:p>
            <a:pPr lvl="1"/>
            <a:r>
              <a:rPr lang="en-US" sz="1200" dirty="0"/>
              <a:t>Power modes, WDT, system-level config</a:t>
            </a:r>
          </a:p>
        </p:txBody>
      </p:sp>
      <p:sp>
        <p:nvSpPr>
          <p:cNvPr id="30" name="TextBox">
            <a:extLst>
              <a:ext uri="{FF2B5EF4-FFF2-40B4-BE49-F238E27FC236}">
                <a16:creationId xmlns:a16="http://schemas.microsoft.com/office/drawing/2014/main" id="{192C52F1-700F-CBAF-5EF5-641AA1DF120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7865957" y="3088540"/>
            <a:ext cx="3200400" cy="1620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r>
              <a:rPr lang="en-US" sz="1400" dirty="0"/>
              <a:t>One call initializes everything — pins, clocks, peripherals, power</a:t>
            </a:r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All generated configuration is applied automatically at startup</a:t>
            </a:r>
          </a:p>
        </p:txBody>
      </p:sp>
      <p:pic>
        <p:nvPicPr>
          <p:cNvPr id="9" name="Chip">
            <a:extLst>
              <a:ext uri="{FF2B5EF4-FFF2-40B4-BE49-F238E27FC236}">
                <a16:creationId xmlns:a16="http://schemas.microsoft.com/office/drawing/2014/main" id="{E66F20EC-3112-9449-62C8-F57B37CDE97E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9815" y="2470263"/>
            <a:ext cx="457200" cy="457200"/>
          </a:xfrm>
          <a:prstGeom prst="rect">
            <a:avLst/>
          </a:prstGeom>
        </p:spPr>
      </p:pic>
      <p:pic>
        <p:nvPicPr>
          <p:cNvPr id="12" name="Gear wheels">
            <a:extLst>
              <a:ext uri="{FF2B5EF4-FFF2-40B4-BE49-F238E27FC236}">
                <a16:creationId xmlns:a16="http://schemas.microsoft.com/office/drawing/2014/main" id="{2FBE0BFF-7276-4A32-C35E-AFE7F480F0E2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23818" y="2470263"/>
            <a:ext cx="457200" cy="457200"/>
          </a:xfrm>
          <a:prstGeom prst="rect">
            <a:avLst/>
          </a:prstGeom>
        </p:spPr>
      </p:pic>
      <p:pic>
        <p:nvPicPr>
          <p:cNvPr id="11" name="Puzzle">
            <a:extLst>
              <a:ext uri="{FF2B5EF4-FFF2-40B4-BE49-F238E27FC236}">
                <a16:creationId xmlns:a16="http://schemas.microsoft.com/office/drawing/2014/main" id="{B34BE038-A6F6-C3FF-2268-F8BDF3EE8FC6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541035" y="2470263"/>
            <a:ext cx="457200" cy="4572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904768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2695-58E2-9FCF-374C-4C869D156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051531B-0734-50F7-44D0-9C3FC9870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2134800"/>
            <a:ext cx="8137525" cy="2361000"/>
          </a:xfrm>
        </p:spPr>
        <p:txBody>
          <a:bodyPr anchor="t"/>
          <a:lstStyle/>
          <a:p>
            <a:r>
              <a:rPr lang="en-US" dirty="0"/>
              <a:t>Demo</a:t>
            </a:r>
            <a:br>
              <a:rPr lang="en-US" dirty="0"/>
            </a:br>
            <a:r>
              <a:rPr lang="en-US" sz="3200" b="0" dirty="0"/>
              <a:t>BSP Walkthrough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57251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7B2CF-2577-34A1-A10F-003A6290E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Workflows to develop and</a:t>
            </a:r>
            <a:br>
              <a:rPr lang="en-US" dirty="0"/>
            </a:br>
            <a:r>
              <a:rPr lang="en-US" dirty="0"/>
              <a:t>utilize a custom BSP	</a:t>
            </a:r>
          </a:p>
        </p:txBody>
      </p:sp>
    </p:spTree>
    <p:extLst>
      <p:ext uri="{BB962C8B-B14F-4D97-AF65-F5344CB8AC3E}">
        <p14:creationId xmlns:p14="http://schemas.microsoft.com/office/powerpoint/2010/main" val="37567586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7484-66A3-F3FC-1633-890BA8A4E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7A023-F2BB-6F39-94BC-8E5F5073E79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4800" y="1268415"/>
            <a:ext cx="11520000" cy="1550986"/>
          </a:xfrm>
        </p:spPr>
        <p:txBody>
          <a:bodyPr/>
          <a:lstStyle/>
          <a:p>
            <a:r>
              <a:rPr lang="en-US" b="1" dirty="0"/>
              <a:t>Infineon kit BSPs are a starting point…</a:t>
            </a:r>
            <a:endParaRPr lang="en-US" dirty="0"/>
          </a:p>
          <a:p>
            <a:pPr lvl="1"/>
            <a:r>
              <a:rPr lang="en-US" dirty="0"/>
              <a:t>They provide a working configuration for the eval board and for the available code examples</a:t>
            </a:r>
          </a:p>
          <a:p>
            <a:pPr lvl="1"/>
            <a:r>
              <a:rPr lang="en-US" dirty="0"/>
              <a:t>User prototyping on the Infineon kit will likely require BSP modifications — whether to leverage additional device capabilities or to match custom hardware.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DF4981-99EE-B06E-96B0-5E5F876FD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Create a Custom BSP?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25CF6E3-779E-8D20-DA66-EBBB4110E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434257"/>
              </p:ext>
            </p:extLst>
          </p:nvPr>
        </p:nvGraphicFramePr>
        <p:xfrm>
          <a:off x="334963" y="2926080"/>
          <a:ext cx="11520486" cy="2651760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856037">
                  <a:extLst>
                    <a:ext uri="{9D8B030D-6E8A-4147-A177-3AD203B41FA5}">
                      <a16:colId xmlns:a16="http://schemas.microsoft.com/office/drawing/2014/main" val="654747025"/>
                    </a:ext>
                  </a:extLst>
                </a:gridCol>
                <a:gridCol w="7664449">
                  <a:extLst>
                    <a:ext uri="{9D8B030D-6E8A-4147-A177-3AD203B41FA5}">
                      <a16:colId xmlns:a16="http://schemas.microsoft.com/office/drawing/2014/main" val="181377898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Scenario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What Changes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91440" marB="91440"/>
                </a:tc>
                <a:extLst>
                  <a:ext uri="{0D108BD9-81ED-4DB2-BD59-A6C34878D82A}">
                    <a16:rowId xmlns:a16="http://schemas.microsoft.com/office/drawing/2014/main" val="3377706568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Extending a kit BSP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Enable additional peripherals, change clock speeds, reconfigure pins to use more of the device's capabilities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1843196653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Customer production board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Different pin assignments, no debug header, custom crystal, different memory layout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894223299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Multi-project sharing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Common BSP across a product line, maintained independently from application code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857443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36281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Creating a custom BSP – modify existing BSP in place</a:t>
            </a:r>
          </a:p>
        </p:txBody>
      </p:sp>
      <p:sp>
        <p:nvSpPr>
          <p:cNvPr id="31" name="Rectangle 5"/>
          <p:cNvSpPr>
            <a:spLocks noChangeArrowheads="1"/>
          </p:cNvSpPr>
          <p:nvPr/>
        </p:nvSpPr>
        <p:spPr bwMode="auto">
          <a:xfrm>
            <a:off x="2895600" y="1268416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(Optional) </a:t>
            </a:r>
            <a:r>
              <a:rPr lang="en-US" b="1" dirty="0">
                <a:latin typeface="+mn-lt"/>
              </a:rPr>
              <a:t>Copy the current BSP </a:t>
            </a:r>
            <a:r>
              <a:rPr lang="en-US" dirty="0">
                <a:latin typeface="+mn-lt"/>
              </a:rPr>
              <a:t>first if you want to preserve it</a:t>
            </a:r>
          </a:p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Is it possible to re-add a new BSP from Infineon GitHub (caution regarding BSP versions)</a:t>
            </a:r>
          </a:p>
        </p:txBody>
      </p:sp>
      <p:sp>
        <p:nvSpPr>
          <p:cNvPr id="33" name="Rectangle 17"/>
          <p:cNvSpPr>
            <a:spLocks noChangeArrowheads="1"/>
          </p:cNvSpPr>
          <p:nvPr/>
        </p:nvSpPr>
        <p:spPr bwMode="auto">
          <a:xfrm>
            <a:off x="2895600" y="3337813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/>
              <a:t>Change </a:t>
            </a:r>
            <a:r>
              <a:rPr lang="en-US" b="1" dirty="0"/>
              <a:t>device (MPN), pins, clocks, peripherals </a:t>
            </a:r>
            <a:r>
              <a:rPr lang="en-US" dirty="0"/>
              <a:t>as needed</a:t>
            </a:r>
          </a:p>
        </p:txBody>
      </p:sp>
      <p:sp>
        <p:nvSpPr>
          <p:cNvPr id="34" name="Rectangle 20"/>
          <p:cNvSpPr>
            <a:spLocks noChangeArrowheads="1"/>
          </p:cNvSpPr>
          <p:nvPr/>
        </p:nvSpPr>
        <p:spPr bwMode="auto">
          <a:xfrm>
            <a:off x="2895600" y="2303115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Open </a:t>
            </a:r>
            <a:r>
              <a:rPr lang="en-US" b="1" dirty="0">
                <a:latin typeface="+mn-lt"/>
              </a:rPr>
              <a:t>BSP Assistant </a:t>
            </a:r>
            <a:r>
              <a:rPr lang="en-US" dirty="0">
                <a:latin typeface="+mn-lt"/>
              </a:rPr>
              <a:t>from Eclipse Quick Panel or VS Code ModusToolbox™ Assistant extension</a:t>
            </a:r>
          </a:p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This modifies the CURRENT BSP in the project — it does not create a new one</a:t>
            </a:r>
          </a:p>
        </p:txBody>
      </p:sp>
      <p:sp>
        <p:nvSpPr>
          <p:cNvPr id="35" name="Rectangle 23"/>
          <p:cNvSpPr>
            <a:spLocks noChangeArrowheads="1"/>
          </p:cNvSpPr>
          <p:nvPr/>
        </p:nvSpPr>
        <p:spPr bwMode="auto">
          <a:xfrm>
            <a:off x="2895600" y="4376194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/>
              <a:t>Save → Device Configurator </a:t>
            </a:r>
            <a:r>
              <a:rPr lang="en-US" b="1" dirty="0"/>
              <a:t>regenerates configuration</a:t>
            </a:r>
          </a:p>
        </p:txBody>
      </p:sp>
      <p:sp>
        <p:nvSpPr>
          <p:cNvPr id="59" name="Richtungspfeil 58"/>
          <p:cNvSpPr/>
          <p:nvPr/>
        </p:nvSpPr>
        <p:spPr>
          <a:xfrm>
            <a:off x="588142" y="1268416"/>
            <a:ext cx="2163244" cy="872218"/>
          </a:xfrm>
          <a:prstGeom prst="homePlate">
            <a:avLst>
              <a:gd name="adj" fmla="val 21425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1:</a:t>
            </a:r>
          </a:p>
        </p:txBody>
      </p:sp>
      <p:sp>
        <p:nvSpPr>
          <p:cNvPr id="39" name="Richtungspfeil 38"/>
          <p:cNvSpPr/>
          <p:nvPr/>
        </p:nvSpPr>
        <p:spPr>
          <a:xfrm>
            <a:off x="588142" y="2302981"/>
            <a:ext cx="2163244" cy="872218"/>
          </a:xfrm>
          <a:prstGeom prst="homePlate">
            <a:avLst>
              <a:gd name="adj" fmla="val 21425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2:</a:t>
            </a:r>
          </a:p>
        </p:txBody>
      </p:sp>
      <p:sp>
        <p:nvSpPr>
          <p:cNvPr id="40" name="Richtungspfeil 39"/>
          <p:cNvSpPr/>
          <p:nvPr/>
        </p:nvSpPr>
        <p:spPr>
          <a:xfrm>
            <a:off x="588142" y="3337546"/>
            <a:ext cx="2163244" cy="872218"/>
          </a:xfrm>
          <a:prstGeom prst="homePlate">
            <a:avLst>
              <a:gd name="adj" fmla="val 21425"/>
            </a:avLst>
          </a:prstGeom>
          <a:solidFill>
            <a:srgbClr val="3B9B91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3:</a:t>
            </a:r>
          </a:p>
        </p:txBody>
      </p:sp>
      <p:sp>
        <p:nvSpPr>
          <p:cNvPr id="41" name="Richtungspfeil 40"/>
          <p:cNvSpPr/>
          <p:nvPr/>
        </p:nvSpPr>
        <p:spPr>
          <a:xfrm>
            <a:off x="588142" y="4375791"/>
            <a:ext cx="2163244" cy="872218"/>
          </a:xfrm>
          <a:prstGeom prst="homePlate">
            <a:avLst>
              <a:gd name="adj" fmla="val 21425"/>
            </a:avLst>
          </a:prstGeom>
          <a:solidFill>
            <a:srgbClr val="6CB4AD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4:</a:t>
            </a:r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96F7D8A9-6372-BF8D-5A94-7F0959406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5414439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Build and test</a:t>
            </a:r>
          </a:p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b="1" dirty="0"/>
              <a:t>Use IDE build </a:t>
            </a:r>
            <a:r>
              <a:rPr lang="en-US" dirty="0"/>
              <a:t>or</a:t>
            </a:r>
            <a:r>
              <a:rPr lang="en-US" b="1" dirty="0"/>
              <a:t> </a:t>
            </a:r>
            <a:r>
              <a:rPr lang="en-US" dirty="0"/>
              <a:t>make build → make program</a:t>
            </a:r>
          </a:p>
        </p:txBody>
      </p:sp>
      <p:sp>
        <p:nvSpPr>
          <p:cNvPr id="6" name="Richtungspfeil 40">
            <a:extLst>
              <a:ext uri="{FF2B5EF4-FFF2-40B4-BE49-F238E27FC236}">
                <a16:creationId xmlns:a16="http://schemas.microsoft.com/office/drawing/2014/main" id="{A65315F7-3081-778D-812F-C10A6D957B41}"/>
              </a:ext>
            </a:extLst>
          </p:cNvPr>
          <p:cNvSpPr/>
          <p:nvPr/>
        </p:nvSpPr>
        <p:spPr>
          <a:xfrm>
            <a:off x="588142" y="5414036"/>
            <a:ext cx="2163244" cy="872218"/>
          </a:xfrm>
          <a:prstGeom prst="homePlate">
            <a:avLst>
              <a:gd name="adj" fmla="val 21425"/>
            </a:avLst>
          </a:prstGeom>
          <a:solidFill>
            <a:srgbClr val="B8DEDA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5: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75244702"/>
      </p:ext>
    </p:extLst>
  </p:cSld>
  <p:clrMapOvr>
    <a:masterClrMapping/>
  </p:clrMapOvr>
  <p:transition spd="slow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1542D-99A7-3552-53FA-2016516A4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95BF8B7-0994-D1A8-6333-7C59198859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Creating a new custom BSP using standalone BSP Assistant</a:t>
            </a:r>
          </a:p>
        </p:txBody>
      </p:sp>
      <p:sp>
        <p:nvSpPr>
          <p:cNvPr id="31" name="Rectangle 5">
            <a:extLst>
              <a:ext uri="{FF2B5EF4-FFF2-40B4-BE49-F238E27FC236}">
                <a16:creationId xmlns:a16="http://schemas.microsoft.com/office/drawing/2014/main" id="{6A4E2E2D-9B56-91A6-83D2-317BA2DD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1268416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Launch </a:t>
            </a:r>
            <a:r>
              <a:rPr lang="en-US" b="1" dirty="0">
                <a:latin typeface="+mn-lt"/>
              </a:rPr>
              <a:t>BSP Assistant </a:t>
            </a:r>
            <a:r>
              <a:rPr lang="en-US" dirty="0">
                <a:latin typeface="+mn-lt"/>
              </a:rPr>
              <a:t>from ModusToolbox™ Dashboard (or Windows Start menu)</a:t>
            </a:r>
          </a:p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Select "Create New BSP based on..." an existing Infineon kit BSP or Device Part Number</a:t>
            </a:r>
          </a:p>
        </p:txBody>
      </p:sp>
      <p:sp>
        <p:nvSpPr>
          <p:cNvPr id="33" name="Rectangle 17">
            <a:extLst>
              <a:ext uri="{FF2B5EF4-FFF2-40B4-BE49-F238E27FC236}">
                <a16:creationId xmlns:a16="http://schemas.microsoft.com/office/drawing/2014/main" id="{890E7E2A-E0E1-B68B-0206-2F03232A76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3337813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/>
              <a:t>Open </a:t>
            </a:r>
            <a:r>
              <a:rPr lang="en-US" b="1" dirty="0"/>
              <a:t>Library Manager </a:t>
            </a:r>
            <a:r>
              <a:rPr lang="en-US" dirty="0"/>
              <a:t>in the project</a:t>
            </a:r>
          </a:p>
          <a:p>
            <a:pPr marL="861585" lvl="1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/>
              <a:t>If saved into </a:t>
            </a:r>
            <a:r>
              <a:rPr lang="en-US" dirty="0" err="1"/>
              <a:t>bsps</a:t>
            </a:r>
            <a:r>
              <a:rPr lang="en-US" dirty="0"/>
              <a:t>/: select and enable the new BSP as the active target</a:t>
            </a:r>
          </a:p>
          <a:p>
            <a:pPr marL="861585" lvl="1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/>
              <a:t>If saved externally: browse to and add the BSP, then enable it</a:t>
            </a:r>
          </a:p>
        </p:txBody>
      </p:sp>
      <p:sp>
        <p:nvSpPr>
          <p:cNvPr id="34" name="Rectangle 20">
            <a:extLst>
              <a:ext uri="{FF2B5EF4-FFF2-40B4-BE49-F238E27FC236}">
                <a16:creationId xmlns:a16="http://schemas.microsoft.com/office/drawing/2014/main" id="{86A4CD32-9F6A-98B7-CEFD-3D412B582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2303115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b="1" dirty="0">
                <a:latin typeface="+mn-lt"/>
              </a:rPr>
              <a:t>Save the new BSP </a:t>
            </a:r>
            <a:r>
              <a:rPr lang="en-US" dirty="0">
                <a:latin typeface="+mn-lt"/>
              </a:rPr>
              <a:t>to one of two locations:</a:t>
            </a:r>
          </a:p>
          <a:p>
            <a:pPr marL="861585" lvl="1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Directly into the project's </a:t>
            </a:r>
            <a:r>
              <a:rPr lang="en-US" dirty="0" err="1">
                <a:latin typeface="+mn-lt"/>
              </a:rPr>
              <a:t>bsps</a:t>
            </a:r>
            <a:r>
              <a:rPr lang="en-US" dirty="0">
                <a:latin typeface="+mn-lt"/>
              </a:rPr>
              <a:t>/ folder (e.g., </a:t>
            </a:r>
            <a:r>
              <a:rPr lang="en-US" dirty="0" err="1">
                <a:latin typeface="+mn-lt"/>
              </a:rPr>
              <a:t>bsps</a:t>
            </a:r>
            <a:r>
              <a:rPr lang="en-US" dirty="0">
                <a:latin typeface="+mn-lt"/>
              </a:rPr>
              <a:t>/TARGET_MY_CUSTOM_BOARD/)</a:t>
            </a:r>
          </a:p>
          <a:p>
            <a:pPr marL="861585" lvl="1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An external location (to be added to the project later)</a:t>
            </a:r>
          </a:p>
        </p:txBody>
      </p:sp>
      <p:sp>
        <p:nvSpPr>
          <p:cNvPr id="35" name="Rectangle 23">
            <a:extLst>
              <a:ext uri="{FF2B5EF4-FFF2-40B4-BE49-F238E27FC236}">
                <a16:creationId xmlns:a16="http://schemas.microsoft.com/office/drawing/2014/main" id="{3CDA8FCD-4AEA-7D9B-248A-5FA57ABF61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4376194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/>
              <a:t>Edit configuration using </a:t>
            </a:r>
            <a:r>
              <a:rPr lang="en-US" b="1" dirty="0"/>
              <a:t>Device Configurator</a:t>
            </a:r>
          </a:p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/>
              <a:t>Save → Device Configurator </a:t>
            </a:r>
            <a:r>
              <a:rPr lang="en-US" b="1" dirty="0"/>
              <a:t>regenerates configuration</a:t>
            </a:r>
          </a:p>
        </p:txBody>
      </p:sp>
      <p:sp>
        <p:nvSpPr>
          <p:cNvPr id="59" name="Richtungspfeil 58">
            <a:extLst>
              <a:ext uri="{FF2B5EF4-FFF2-40B4-BE49-F238E27FC236}">
                <a16:creationId xmlns:a16="http://schemas.microsoft.com/office/drawing/2014/main" id="{88679856-6094-8417-66D8-252C392D9731}"/>
              </a:ext>
            </a:extLst>
          </p:cNvPr>
          <p:cNvSpPr/>
          <p:nvPr/>
        </p:nvSpPr>
        <p:spPr>
          <a:xfrm>
            <a:off x="588142" y="1268416"/>
            <a:ext cx="2163244" cy="872218"/>
          </a:xfrm>
          <a:prstGeom prst="homePlate">
            <a:avLst>
              <a:gd name="adj" fmla="val 21425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1:</a:t>
            </a:r>
          </a:p>
        </p:txBody>
      </p:sp>
      <p:sp>
        <p:nvSpPr>
          <p:cNvPr id="39" name="Richtungspfeil 38">
            <a:extLst>
              <a:ext uri="{FF2B5EF4-FFF2-40B4-BE49-F238E27FC236}">
                <a16:creationId xmlns:a16="http://schemas.microsoft.com/office/drawing/2014/main" id="{DACE7A49-79EC-D1A3-4B0A-CC04FB064550}"/>
              </a:ext>
            </a:extLst>
          </p:cNvPr>
          <p:cNvSpPr/>
          <p:nvPr/>
        </p:nvSpPr>
        <p:spPr>
          <a:xfrm>
            <a:off x="588142" y="2302981"/>
            <a:ext cx="2163244" cy="872218"/>
          </a:xfrm>
          <a:prstGeom prst="homePlate">
            <a:avLst>
              <a:gd name="adj" fmla="val 21425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2:</a:t>
            </a:r>
          </a:p>
        </p:txBody>
      </p:sp>
      <p:sp>
        <p:nvSpPr>
          <p:cNvPr id="40" name="Richtungspfeil 39">
            <a:extLst>
              <a:ext uri="{FF2B5EF4-FFF2-40B4-BE49-F238E27FC236}">
                <a16:creationId xmlns:a16="http://schemas.microsoft.com/office/drawing/2014/main" id="{A5513580-7BB8-B735-FEC4-66736CC1B2CB}"/>
              </a:ext>
            </a:extLst>
          </p:cNvPr>
          <p:cNvSpPr/>
          <p:nvPr/>
        </p:nvSpPr>
        <p:spPr>
          <a:xfrm>
            <a:off x="588142" y="3337546"/>
            <a:ext cx="2163244" cy="872218"/>
          </a:xfrm>
          <a:prstGeom prst="homePlate">
            <a:avLst>
              <a:gd name="adj" fmla="val 21425"/>
            </a:avLst>
          </a:prstGeom>
          <a:solidFill>
            <a:srgbClr val="3B9B91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3:</a:t>
            </a:r>
          </a:p>
        </p:txBody>
      </p:sp>
      <p:sp>
        <p:nvSpPr>
          <p:cNvPr id="41" name="Richtungspfeil 40">
            <a:extLst>
              <a:ext uri="{FF2B5EF4-FFF2-40B4-BE49-F238E27FC236}">
                <a16:creationId xmlns:a16="http://schemas.microsoft.com/office/drawing/2014/main" id="{37286EE1-32CA-9AEF-61F8-FB63F1D01712}"/>
              </a:ext>
            </a:extLst>
          </p:cNvPr>
          <p:cNvSpPr/>
          <p:nvPr/>
        </p:nvSpPr>
        <p:spPr>
          <a:xfrm>
            <a:off x="588142" y="4375791"/>
            <a:ext cx="2163244" cy="872218"/>
          </a:xfrm>
          <a:prstGeom prst="homePlate">
            <a:avLst>
              <a:gd name="adj" fmla="val 21425"/>
            </a:avLst>
          </a:prstGeom>
          <a:solidFill>
            <a:srgbClr val="6CB4AD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4:</a:t>
            </a:r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FD69EE08-5747-C229-E1BC-98A508C984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5414439"/>
            <a:ext cx="8483308" cy="872218"/>
          </a:xfrm>
          <a:prstGeom prst="rect">
            <a:avLst/>
          </a:prstGeom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dirty="0">
                <a:latin typeface="+mn-lt"/>
              </a:rPr>
              <a:t>Build and test</a:t>
            </a:r>
          </a:p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b="1" dirty="0">
                <a:latin typeface="+mn-lt"/>
              </a:rPr>
              <a:t>Use IDE build </a:t>
            </a:r>
            <a:r>
              <a:rPr lang="en-US" dirty="0">
                <a:latin typeface="+mn-lt"/>
              </a:rPr>
              <a:t>or</a:t>
            </a:r>
            <a:r>
              <a:rPr lang="en-US" b="1" dirty="0">
                <a:latin typeface="+mn-lt"/>
              </a:rPr>
              <a:t> </a:t>
            </a:r>
            <a:r>
              <a:rPr lang="en-US" dirty="0">
                <a:latin typeface="+mn-lt"/>
              </a:rPr>
              <a:t>make build → make program</a:t>
            </a:r>
          </a:p>
        </p:txBody>
      </p:sp>
      <p:sp>
        <p:nvSpPr>
          <p:cNvPr id="6" name="Richtungspfeil 40">
            <a:extLst>
              <a:ext uri="{FF2B5EF4-FFF2-40B4-BE49-F238E27FC236}">
                <a16:creationId xmlns:a16="http://schemas.microsoft.com/office/drawing/2014/main" id="{019D2DCF-FD77-8592-C1B4-47A373903A53}"/>
              </a:ext>
            </a:extLst>
          </p:cNvPr>
          <p:cNvSpPr/>
          <p:nvPr/>
        </p:nvSpPr>
        <p:spPr>
          <a:xfrm>
            <a:off x="588142" y="5414036"/>
            <a:ext cx="2163244" cy="872218"/>
          </a:xfrm>
          <a:prstGeom prst="homePlate">
            <a:avLst>
              <a:gd name="adj" fmla="val 21425"/>
            </a:avLst>
          </a:prstGeom>
          <a:solidFill>
            <a:srgbClr val="B8DEDA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altLang="de-DE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Step 5: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0384924"/>
      </p:ext>
    </p:extLst>
  </p:cSld>
  <p:clrMapOvr>
    <a:masterClrMapping/>
  </p:clrMapOvr>
  <p:transition spd="slow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84CE3B-18E5-7745-B9DD-1185A6D20D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4800" y="3724240"/>
            <a:ext cx="5688000" cy="2657511"/>
          </a:xfrm>
        </p:spPr>
        <p:txBody>
          <a:bodyPr/>
          <a:lstStyle/>
          <a:p>
            <a:r>
              <a:rPr lang="en-US" b="1" dirty="0">
                <a:solidFill>
                  <a:srgbClr val="0A8276"/>
                </a:solidFill>
              </a:rPr>
              <a:t>Project-local (simplest)</a:t>
            </a:r>
          </a:p>
          <a:p>
            <a:pPr lvl="1"/>
            <a:r>
              <a:rPr lang="en-US" dirty="0"/>
              <a:t>BSP lives in </a:t>
            </a:r>
            <a:r>
              <a:rPr lang="en-US" dirty="0" err="1"/>
              <a:t>bsp</a:t>
            </a:r>
            <a:r>
              <a:rPr lang="en-US" dirty="0"/>
              <a:t>/ directory, committed with project</a:t>
            </a:r>
          </a:p>
          <a:p>
            <a:pPr lvl="1"/>
            <a:r>
              <a:rPr lang="en-US" dirty="0"/>
              <a:t>Self-contained, no external dependencies</a:t>
            </a:r>
          </a:p>
          <a:p>
            <a:pPr lvl="1"/>
            <a:r>
              <a:rPr lang="en-US" dirty="0"/>
              <a:t>Version controlled by the project’s own Git history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72F52F-DDF6-BA66-D394-8440463393D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7439" y="3724240"/>
            <a:ext cx="5689202" cy="2657511"/>
          </a:xfrm>
        </p:spPr>
        <p:txBody>
          <a:bodyPr/>
          <a:lstStyle/>
          <a:p>
            <a:r>
              <a:rPr lang="en-US" b="1" dirty="0">
                <a:solidFill>
                  <a:srgbClr val="0A8276"/>
                </a:solidFill>
              </a:rPr>
              <a:t>Shared via Git repo</a:t>
            </a:r>
          </a:p>
          <a:p>
            <a:pPr lvl="1"/>
            <a:r>
              <a:rPr lang="en-US" dirty="0"/>
              <a:t>Commit custom BSP(s) to dedicated Git repo</a:t>
            </a:r>
          </a:p>
          <a:p>
            <a:pPr lvl="1"/>
            <a:r>
              <a:rPr lang="en-US" dirty="0"/>
              <a:t>Team members clone the repo to local folder</a:t>
            </a:r>
          </a:p>
          <a:p>
            <a:pPr lvl="1"/>
            <a:r>
              <a:rPr lang="en-US" dirty="0"/>
              <a:t>For new projects</a:t>
            </a:r>
          </a:p>
          <a:p>
            <a:pPr lvl="2"/>
            <a:r>
              <a:rPr lang="en-US" dirty="0"/>
              <a:t>Open Project Creator and browse for local BSP folder</a:t>
            </a:r>
          </a:p>
          <a:p>
            <a:pPr lvl="2"/>
            <a:r>
              <a:rPr lang="en-US" dirty="0"/>
              <a:t>Select folder and continue with application election</a:t>
            </a:r>
          </a:p>
          <a:p>
            <a:pPr lvl="1"/>
            <a:r>
              <a:rPr lang="en-US" dirty="0"/>
              <a:t>For existing projects</a:t>
            </a:r>
          </a:p>
          <a:p>
            <a:pPr lvl="2"/>
            <a:r>
              <a:rPr lang="en-US" dirty="0"/>
              <a:t>Use Library Manager to add / enable BSP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CADF0-2C09-1495-530C-BF64B24A0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Your custom BSP available to others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0ED0786-0FCA-36B4-F174-252F9DCA11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549954"/>
              </p:ext>
            </p:extLst>
          </p:nvPr>
        </p:nvGraphicFramePr>
        <p:xfrm>
          <a:off x="334963" y="1257300"/>
          <a:ext cx="11520486" cy="211836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789237">
                  <a:extLst>
                    <a:ext uri="{9D8B030D-6E8A-4147-A177-3AD203B41FA5}">
                      <a16:colId xmlns:a16="http://schemas.microsoft.com/office/drawing/2014/main" val="3833579573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3228748250"/>
                    </a:ext>
                  </a:extLst>
                </a:gridCol>
                <a:gridCol w="4464049">
                  <a:extLst>
                    <a:ext uri="{9D8B030D-6E8A-4147-A177-3AD203B41FA5}">
                      <a16:colId xmlns:a16="http://schemas.microsoft.com/office/drawing/2014/main" val="2596104662"/>
                    </a:ext>
                  </a:extLst>
                </a:gridCol>
              </a:tblGrid>
              <a:tr h="302607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Method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How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Best For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4152264858"/>
                  </a:ext>
                </a:extLst>
              </a:tr>
              <a:tr h="368391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Project-local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BSP lives in </a:t>
                      </a:r>
                      <a:r>
                        <a:rPr lang="en-US" sz="1600" dirty="0" err="1">
                          <a:solidFill>
                            <a:srgbClr val="222222"/>
                          </a:solidFill>
                          <a:effectLst/>
                        </a:rPr>
                        <a:t>bsps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/ inside the project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>
                          <a:solidFill>
                            <a:srgbClr val="222222"/>
                          </a:solidFill>
                          <a:effectLst/>
                        </a:rPr>
                        <a:t>Single project, self-contained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250249699"/>
                  </a:ext>
                </a:extLst>
              </a:tr>
              <a:tr h="578901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Shared via Git repo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BSP(s) committed to a dedicated repo, cloned locally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Team-wide use, multiple projects, easy distribution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958077531"/>
                  </a:ext>
                </a:extLst>
              </a:tr>
              <a:tr h="578901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Manifest-published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BSP in its own Git repo, referenced via custom manifest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Organization-wide standard, integrated with Library Manager (power-user)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1291308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7105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F7B3F1-817A-0E66-60B4-507A38BC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 for custom BSPs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22B05A2-83F9-28CC-31A2-5809CC086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595418"/>
              </p:ext>
            </p:extLst>
          </p:nvPr>
        </p:nvGraphicFramePr>
        <p:xfrm>
          <a:off x="334963" y="1447800"/>
          <a:ext cx="11520486" cy="458724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5151437">
                  <a:extLst>
                    <a:ext uri="{9D8B030D-6E8A-4147-A177-3AD203B41FA5}">
                      <a16:colId xmlns:a16="http://schemas.microsoft.com/office/drawing/2014/main" val="4027722008"/>
                    </a:ext>
                  </a:extLst>
                </a:gridCol>
                <a:gridCol w="6369049">
                  <a:extLst>
                    <a:ext uri="{9D8B030D-6E8A-4147-A177-3AD203B41FA5}">
                      <a16:colId xmlns:a16="http://schemas.microsoft.com/office/drawing/2014/main" val="241955005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Practice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Why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241915569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Consider starting from a kit BSP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>
                          <a:solidFill>
                            <a:srgbClr val="222222"/>
                          </a:solidFill>
                          <a:effectLst/>
                        </a:rPr>
                        <a:t>Ensures correct startup, linker, and configurator files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670075917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Modify freely — the BSP is yours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>
                          <a:solidFill>
                            <a:srgbClr val="222222"/>
                          </a:solidFill>
                          <a:effectLst/>
                        </a:rPr>
                        <a:t>BSPs were moved into the project specifically so users can customize them. The original Infineon BSP can always be restored via Library Manager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884555827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Use descriptive naming for custom boards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TARGET_MY_PRODUCT_V2 — makes it clear this targets specific hardware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300187341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Version your custom BSP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Use Git tags so projects can pin to a known-good BSP version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4216411616"/>
                  </a:ext>
                </a:extLst>
              </a:tr>
              <a:tr h="117348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Document pin changes in Device Configurator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Use the </a:t>
                      </a: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User Notes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 feature (recent addition) to annotate pin assignments, clock choices, and design rationale directly in </a:t>
                      </a:r>
                      <a:r>
                        <a:rPr lang="en-US" sz="1600" dirty="0" err="1">
                          <a:solidFill>
                            <a:srgbClr val="222222"/>
                          </a:solidFill>
                          <a:effectLst/>
                        </a:rPr>
                        <a:t>design.modus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 — stays with the configuration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4698157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Test with Device Configurator first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Validate pin/clock config before writing application code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002202179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B505B243-203C-565B-A16A-3C64DE25D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963" y="16383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49894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848F-0A2B-C019-C206-FA6621200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49B8BA9-AB89-8930-F095-FE8ABE988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2134800"/>
            <a:ext cx="8137525" cy="2361000"/>
          </a:xfrm>
        </p:spPr>
        <p:txBody>
          <a:bodyPr anchor="t"/>
          <a:lstStyle/>
          <a:p>
            <a:r>
              <a:rPr lang="en-US" dirty="0"/>
              <a:t>Demo / Exercise</a:t>
            </a:r>
            <a:br>
              <a:rPr lang="en-US" dirty="0"/>
            </a:br>
            <a:r>
              <a:rPr lang="en-US" sz="3200" b="0" dirty="0"/>
              <a:t>Create your own custom BSP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3012196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3BA49-B470-1A77-5907-23238B80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E8962E3-1961-A2CA-0B5E-869AECEA8B0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874601934"/>
              </p:ext>
            </p:extLst>
          </p:nvPr>
        </p:nvGraphicFramePr>
        <p:xfrm>
          <a:off x="334963" y="1295400"/>
          <a:ext cx="11520486" cy="446532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808037">
                  <a:extLst>
                    <a:ext uri="{9D8B030D-6E8A-4147-A177-3AD203B41FA5}">
                      <a16:colId xmlns:a16="http://schemas.microsoft.com/office/drawing/2014/main" val="2671743513"/>
                    </a:ext>
                  </a:extLst>
                </a:gridCol>
                <a:gridCol w="5867400">
                  <a:extLst>
                    <a:ext uri="{9D8B030D-6E8A-4147-A177-3AD203B41FA5}">
                      <a16:colId xmlns:a16="http://schemas.microsoft.com/office/drawing/2014/main" val="1029622647"/>
                    </a:ext>
                  </a:extLst>
                </a:gridCol>
                <a:gridCol w="4845049">
                  <a:extLst>
                    <a:ext uri="{9D8B030D-6E8A-4147-A177-3AD203B41FA5}">
                      <a16:colId xmlns:a16="http://schemas.microsoft.com/office/drawing/2014/main" val="8737938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Step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Action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Expected Result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3442702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1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Copy the kit BSP from your project into a new </a:t>
                      </a:r>
                      <a:r>
                        <a:rPr lang="en-US" dirty="0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TARGET_MY_BOARD/ 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directory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New BSP directory appears in </a:t>
                      </a:r>
                      <a:r>
                        <a:rPr lang="en-US" dirty="0" err="1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bsps</a:t>
                      </a:r>
                      <a:r>
                        <a:rPr lang="en-US" dirty="0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/</a:t>
                      </a:r>
                    </a:p>
                  </a:txBody>
                  <a:tcPr marL="182880" marR="182880" marT="91440" marB="182880"/>
                </a:tc>
                <a:extLst>
                  <a:ext uri="{0D108BD9-81ED-4DB2-BD59-A6C34878D82A}">
                    <a16:rowId xmlns:a16="http://schemas.microsoft.com/office/drawing/2014/main" val="3029956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2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Switch to the new BSP: </a:t>
                      </a:r>
                      <a:r>
                        <a:rPr lang="en-US" b="1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Library Manager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 </a:t>
                      </a:r>
                      <a:b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</a:b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   (select </a:t>
                      </a:r>
                      <a:r>
                        <a:rPr lang="en-US" dirty="0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MY_BOARD 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→ </a:t>
                      </a:r>
                      <a:r>
                        <a:rPr lang="en-US" b="1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Update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)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or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edit </a:t>
                      </a:r>
                      <a:r>
                        <a:rPr lang="en-US" dirty="0" err="1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Makefile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lang="en-US" dirty="0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TARGET=MY_BOARD 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→ make </a:t>
                      </a:r>
                      <a:r>
                        <a:rPr lang="en-US" dirty="0" err="1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getlibs</a:t>
                      </a:r>
                      <a:endParaRPr lang="en-US" dirty="0">
                        <a:solidFill>
                          <a:srgbClr val="222222"/>
                        </a:solidFill>
                        <a:effectLst/>
                        <a:latin typeface="+mj-lt"/>
                      </a:endParaRP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 err="1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Makefile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lang="en-US" dirty="0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TARGET=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 updated, </a:t>
                      </a:r>
                      <a:r>
                        <a:rPr lang="en-US" dirty="0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libs/mtb.mk 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regenerated</a:t>
                      </a:r>
                    </a:p>
                  </a:txBody>
                  <a:tcPr marL="182880" marR="182880" marT="91440" marB="182880"/>
                </a:tc>
                <a:extLst>
                  <a:ext uri="{0D108BD9-81ED-4DB2-BD59-A6C34878D82A}">
                    <a16:rowId xmlns:a16="http://schemas.microsoft.com/office/drawing/2014/main" val="2006620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3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Open Device Configurator on the new BSP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See the inherited kit configuration</a:t>
                      </a:r>
                    </a:p>
                  </a:txBody>
                  <a:tcPr marL="182880" marR="182880" marT="91440" marB="182880"/>
                </a:tc>
                <a:extLst>
                  <a:ext uri="{0D108BD9-81ED-4DB2-BD59-A6C34878D82A}">
                    <a16:rowId xmlns:a16="http://schemas.microsoft.com/office/drawing/2014/main" val="37487369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4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Change one pin assignment (e.g., move </a:t>
                      </a:r>
                      <a:r>
                        <a:rPr lang="en-US" dirty="0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USER_LED 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to a different pin)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Config updates visually</a:t>
                      </a:r>
                    </a:p>
                  </a:txBody>
                  <a:tcPr marL="182880" marR="182880" marT="91440" marB="182880"/>
                </a:tc>
                <a:extLst>
                  <a:ext uri="{0D108BD9-81ED-4DB2-BD59-A6C34878D82A}">
                    <a16:rowId xmlns:a16="http://schemas.microsoft.com/office/drawing/2014/main" val="2201572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5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Save the configurator changes</a:t>
                      </a:r>
                    </a:p>
                  </a:txBody>
                  <a:tcPr marL="182880" marR="182880" marT="9144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dirty="0" err="1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GeneratedSource</a:t>
                      </a:r>
                      <a:r>
                        <a:rPr lang="en-US" dirty="0">
                          <a:solidFill>
                            <a:srgbClr val="0A8276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+mj-lt"/>
                        </a:rPr>
                        <a:t> files regenerate</a:t>
                      </a:r>
                    </a:p>
                  </a:txBody>
                  <a:tcPr marL="182880" marR="182880" marT="91440" marB="182880"/>
                </a:tc>
                <a:extLst>
                  <a:ext uri="{0D108BD9-81ED-4DB2-BD59-A6C34878D82A}">
                    <a16:rowId xmlns:a16="http://schemas.microsoft.com/office/drawing/2014/main" val="2647339287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91A363B8-A371-B19C-2641-B4CEF7CB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- Create your own custom BSP</a:t>
            </a:r>
          </a:p>
        </p:txBody>
      </p:sp>
    </p:spTree>
    <p:extLst>
      <p:ext uri="{BB962C8B-B14F-4D97-AF65-F5344CB8AC3E}">
        <p14:creationId xmlns:p14="http://schemas.microsoft.com/office/powerpoint/2010/main" val="4539702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FA805-32EF-5B4D-B9AA-62224D85E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integration with </a:t>
            </a:r>
            <a:br>
              <a:rPr lang="en-US" dirty="0"/>
            </a:br>
            <a:r>
              <a:rPr lang="en-US" dirty="0"/>
              <a:t>Library Manager and </a:t>
            </a:r>
            <a:r>
              <a:rPr lang="en-US" dirty="0" err="1"/>
              <a:t>Makefiles</a:t>
            </a:r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9559441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50812-6F79-F454-C845-74E674A2E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F5CE6A-C9DA-6CC5-6672-D649B9DD1F5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b="1" dirty="0"/>
              <a:t>What it does:</a:t>
            </a:r>
          </a:p>
          <a:p>
            <a:pPr>
              <a:spcAft>
                <a:spcPts val="600"/>
              </a:spcAft>
            </a:pPr>
            <a:r>
              <a:rPr lang="en-US" sz="2000" dirty="0"/>
              <a:t>View all middleware currently in your project</a:t>
            </a:r>
          </a:p>
          <a:p>
            <a:pPr>
              <a:spcAft>
                <a:spcPts val="600"/>
              </a:spcAft>
            </a:pPr>
            <a:r>
              <a:rPr lang="en-US" sz="2000" dirty="0"/>
              <a:t>Add new middleware libraries</a:t>
            </a:r>
          </a:p>
          <a:p>
            <a:pPr>
              <a:spcAft>
                <a:spcPts val="600"/>
              </a:spcAft>
            </a:pPr>
            <a:r>
              <a:rPr lang="en-US" sz="2000" dirty="0"/>
              <a:t>Update existing libraries to newer versions</a:t>
            </a:r>
          </a:p>
          <a:p>
            <a:pPr>
              <a:spcAft>
                <a:spcPts val="600"/>
              </a:spcAft>
            </a:pPr>
            <a:r>
              <a:rPr lang="en-US" sz="2000" dirty="0"/>
              <a:t>Remove libraries you no longer need</a:t>
            </a:r>
          </a:p>
          <a:p>
            <a:pPr>
              <a:spcAft>
                <a:spcPts val="600"/>
              </a:spcAft>
            </a:pPr>
            <a:endParaRPr lang="en-US" sz="2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000" b="1" dirty="0"/>
              <a:t>How to launch:</a:t>
            </a:r>
          </a:p>
          <a:p>
            <a:pPr>
              <a:spcAft>
                <a:spcPts val="600"/>
              </a:spcAft>
            </a:pPr>
            <a:r>
              <a:rPr lang="en-US" sz="2000" dirty="0"/>
              <a:t>Eclipse IDE: </a:t>
            </a:r>
            <a:r>
              <a:rPr lang="en-US" sz="2000" b="1" dirty="0"/>
              <a:t>Tools → Library Manager </a:t>
            </a:r>
            <a:r>
              <a:rPr lang="en-US" sz="2000" dirty="0"/>
              <a:t>(or Quick Panel)</a:t>
            </a:r>
          </a:p>
          <a:p>
            <a:pPr>
              <a:spcAft>
                <a:spcPts val="600"/>
              </a:spcAft>
            </a:pPr>
            <a:r>
              <a:rPr lang="en-US" sz="2000" dirty="0"/>
              <a:t>VS Code: </a:t>
            </a:r>
            <a:r>
              <a:rPr lang="en-US" sz="2000" b="1" dirty="0"/>
              <a:t>ModusToolbox™ Assistant extension </a:t>
            </a:r>
            <a:r>
              <a:rPr lang="en-US" sz="2000" dirty="0"/>
              <a:t>→ Application tab → Configure Middleware</a:t>
            </a:r>
          </a:p>
          <a:p>
            <a:pPr>
              <a:spcAft>
                <a:spcPts val="600"/>
              </a:spcAft>
            </a:pPr>
            <a:r>
              <a:rPr lang="en-US" sz="2000" dirty="0"/>
              <a:t>Command line: </a:t>
            </a:r>
            <a:r>
              <a:rPr lang="en-US" sz="2000" dirty="0">
                <a:solidFill>
                  <a:srgbClr val="0A8276"/>
                </a:solidFill>
              </a:rPr>
              <a:t>make </a:t>
            </a:r>
            <a:r>
              <a:rPr lang="en-US" sz="2000" dirty="0" err="1">
                <a:solidFill>
                  <a:srgbClr val="0A8276"/>
                </a:solidFill>
              </a:rPr>
              <a:t>modlibs</a:t>
            </a:r>
            <a:r>
              <a:rPr lang="en-US" sz="2000" dirty="0">
                <a:solidFill>
                  <a:srgbClr val="0A8276"/>
                </a:solidFill>
              </a:rPr>
              <a:t> </a:t>
            </a:r>
            <a:r>
              <a:rPr lang="en-US" sz="2000" dirty="0"/>
              <a:t>or </a:t>
            </a:r>
            <a:r>
              <a:rPr lang="en-US" sz="2000" dirty="0">
                <a:solidFill>
                  <a:srgbClr val="0A8276"/>
                </a:solidFill>
              </a:rPr>
              <a:t>make library-manager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EC775E9-BF1E-7451-07CB-06749FA8E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Manager Overview</a:t>
            </a:r>
          </a:p>
        </p:txBody>
      </p:sp>
    </p:spTree>
    <p:extLst>
      <p:ext uri="{BB962C8B-B14F-4D97-AF65-F5344CB8AC3E}">
        <p14:creationId xmlns:p14="http://schemas.microsoft.com/office/powerpoint/2010/main" val="29938389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C7BE25-19D7-9600-BD93-1E65035EE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libraries across workspace projects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E46990B-3F9A-20A7-9A7F-5A7A09353E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10600" y="1524000"/>
            <a:ext cx="3091800" cy="4857751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600" dirty="0"/>
              <a:t>One copy on disk, </a:t>
            </a:r>
            <a:br>
              <a:rPr lang="en-US" sz="1600" dirty="0"/>
            </a:br>
            <a:r>
              <a:rPr lang="en-US" sz="1600" dirty="0"/>
              <a:t>shared across all projects at that version</a:t>
            </a:r>
          </a:p>
          <a:p>
            <a:pPr>
              <a:spcAft>
                <a:spcPts val="1800"/>
              </a:spcAft>
            </a:pPr>
            <a:r>
              <a:rPr lang="en-US" sz="1600" dirty="0"/>
              <a:t>Multiple versions coexist: </a:t>
            </a:r>
            <a:br>
              <a:rPr lang="en-US" sz="1600" dirty="0"/>
            </a:br>
            <a:r>
              <a:rPr lang="en-US" sz="1600" dirty="0">
                <a:solidFill>
                  <a:srgbClr val="0A8276"/>
                </a:solidFill>
              </a:rPr>
              <a:t>release-v1.8.0/</a:t>
            </a:r>
            <a:r>
              <a:rPr lang="en-US" sz="1600" dirty="0"/>
              <a:t> and </a:t>
            </a:r>
            <a:br>
              <a:rPr lang="en-US" sz="1600" dirty="0"/>
            </a:br>
            <a:r>
              <a:rPr lang="en-US" sz="1600" dirty="0">
                <a:solidFill>
                  <a:srgbClr val="0A8276"/>
                </a:solidFill>
              </a:rPr>
              <a:t>release-v1.9.0/</a:t>
            </a:r>
            <a:r>
              <a:rPr lang="en-US" sz="1600" dirty="0"/>
              <a:t> side by side</a:t>
            </a:r>
          </a:p>
          <a:p>
            <a:pPr>
              <a:spcAft>
                <a:spcPts val="1800"/>
              </a:spcAft>
            </a:pPr>
            <a:r>
              <a:rPr lang="en-US" sz="1600" dirty="0"/>
              <a:t>libs/mtb.mk contains </a:t>
            </a:r>
            <a:br>
              <a:rPr lang="en-US" sz="1600" dirty="0"/>
            </a:br>
            <a:r>
              <a:rPr lang="en-US" sz="1600" dirty="0"/>
              <a:t>SEARCH_* paths that point the build system to </a:t>
            </a:r>
            <a:r>
              <a:rPr lang="en-US" sz="1600" dirty="0" err="1">
                <a:solidFill>
                  <a:srgbClr val="0A8276"/>
                </a:solidFill>
              </a:rPr>
              <a:t>mtb_shared</a:t>
            </a:r>
            <a:r>
              <a:rPr lang="en-US" sz="1600" dirty="0">
                <a:solidFill>
                  <a:srgbClr val="0A8276"/>
                </a:solidFill>
              </a:rPr>
              <a:t>/</a:t>
            </a:r>
          </a:p>
          <a:p>
            <a:pPr>
              <a:spcAft>
                <a:spcPts val="1800"/>
              </a:spcAft>
            </a:pPr>
            <a:r>
              <a:rPr lang="en-US" sz="1600" dirty="0"/>
              <a:t>Pin to release tags in </a:t>
            </a:r>
            <a:r>
              <a:rPr lang="en-US" sz="1600" dirty="0">
                <a:solidFill>
                  <a:srgbClr val="0A8276"/>
                </a:solidFill>
              </a:rPr>
              <a:t>.</a:t>
            </a:r>
            <a:r>
              <a:rPr lang="en-US" sz="1600" dirty="0" err="1">
                <a:solidFill>
                  <a:srgbClr val="0A8276"/>
                </a:solidFill>
              </a:rPr>
              <a:t>mtb</a:t>
            </a:r>
            <a:r>
              <a:rPr lang="en-US" sz="1600" dirty="0">
                <a:solidFill>
                  <a:srgbClr val="0A8276"/>
                </a:solidFill>
              </a:rPr>
              <a:t> </a:t>
            </a:r>
            <a:r>
              <a:rPr lang="en-US" sz="1600" dirty="0"/>
              <a:t>files for reproducible builds</a:t>
            </a:r>
            <a:endParaRPr lang="en-US" dirty="0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DB1612CD-9D48-5964-4D82-0E242000F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60" y="1277939"/>
            <a:ext cx="8056440" cy="417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678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50800C6-5AE9-FBA0-B0A4-57247CF4E0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Adding middleware to project</a:t>
            </a:r>
          </a:p>
        </p:txBody>
      </p:sp>
      <p:sp>
        <p:nvSpPr>
          <p:cNvPr id="7" name="Chevron 6">
            <a:extLst>
              <a:ext uri="{FF2B5EF4-FFF2-40B4-BE49-F238E27FC236}">
                <a16:creationId xmlns:a16="http://schemas.microsoft.com/office/drawing/2014/main" id="{08AF3F57-F3FB-1B01-DBF4-1FAE412F3822}"/>
              </a:ext>
            </a:extLst>
          </p:cNvPr>
          <p:cNvSpPr/>
          <p:nvPr/>
        </p:nvSpPr>
        <p:spPr>
          <a:xfrm rot="5400000">
            <a:off x="4786974" y="4311034"/>
            <a:ext cx="1626475" cy="2513623"/>
          </a:xfrm>
          <a:prstGeom prst="chevron">
            <a:avLst>
              <a:gd name="adj" fmla="val 20758"/>
            </a:avLst>
          </a:prstGeom>
          <a:solidFill>
            <a:schemeClr val="tx2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lIns="216000" tIns="72000" rIns="72000" bIns="72000" rtlCol="0" anchor="t" anchorCtr="0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Step 04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</a:rPr>
              <a:t>Build system picks it up</a:t>
            </a:r>
          </a:p>
        </p:txBody>
      </p:sp>
      <p:sp>
        <p:nvSpPr>
          <p:cNvPr id="8" name="Chevron 20">
            <a:extLst>
              <a:ext uri="{FF2B5EF4-FFF2-40B4-BE49-F238E27FC236}">
                <a16:creationId xmlns:a16="http://schemas.microsoft.com/office/drawing/2014/main" id="{66B06299-F78C-462F-99B0-9396F176D004}"/>
              </a:ext>
            </a:extLst>
          </p:cNvPr>
          <p:cNvSpPr/>
          <p:nvPr/>
        </p:nvSpPr>
        <p:spPr>
          <a:xfrm rot="5400000">
            <a:off x="4786974" y="3052000"/>
            <a:ext cx="1626475" cy="2513623"/>
          </a:xfrm>
          <a:prstGeom prst="chevron">
            <a:avLst>
              <a:gd name="adj" fmla="val 20758"/>
            </a:avLst>
          </a:prstGeom>
          <a:solidFill>
            <a:srgbClr val="3B9B91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lIns="216000" tIns="72000" rIns="72000" bIns="72000" rtlCol="0" anchor="t" anchorCtr="0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Step 03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</a:rPr>
              <a:t>Project updated</a:t>
            </a:r>
          </a:p>
        </p:txBody>
      </p:sp>
      <p:sp>
        <p:nvSpPr>
          <p:cNvPr id="9" name="Chevron 21">
            <a:extLst>
              <a:ext uri="{FF2B5EF4-FFF2-40B4-BE49-F238E27FC236}">
                <a16:creationId xmlns:a16="http://schemas.microsoft.com/office/drawing/2014/main" id="{F5FA16DA-303A-1E2B-5BD5-11025D05B027}"/>
              </a:ext>
            </a:extLst>
          </p:cNvPr>
          <p:cNvSpPr/>
          <p:nvPr/>
        </p:nvSpPr>
        <p:spPr>
          <a:xfrm rot="5400000">
            <a:off x="4786973" y="1787967"/>
            <a:ext cx="1626476" cy="2513623"/>
          </a:xfrm>
          <a:prstGeom prst="chevron">
            <a:avLst>
              <a:gd name="adj" fmla="val 20758"/>
            </a:avLst>
          </a:prstGeom>
          <a:solidFill>
            <a:srgbClr val="6CB4AD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lIns="216000" tIns="72000" rIns="72000" bIns="72000" rtlCol="0" anchor="t" anchorCtr="0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Step 02</a:t>
            </a:r>
          </a:p>
          <a:p>
            <a:pPr algn="ctr"/>
            <a:r>
              <a:rPr lang="en-US" sz="1200" dirty="0">
                <a:solidFill>
                  <a:srgbClr val="FFFFFF"/>
                </a:solidFill>
              </a:rPr>
              <a:t>Click update in Library Manager</a:t>
            </a:r>
          </a:p>
        </p:txBody>
      </p:sp>
      <p:sp>
        <p:nvSpPr>
          <p:cNvPr id="10" name="Pentagon 3">
            <a:extLst>
              <a:ext uri="{FF2B5EF4-FFF2-40B4-BE49-F238E27FC236}">
                <a16:creationId xmlns:a16="http://schemas.microsoft.com/office/drawing/2014/main" id="{60523A9E-0BEE-292D-3F6F-CFDF9F186134}"/>
              </a:ext>
            </a:extLst>
          </p:cNvPr>
          <p:cNvSpPr/>
          <p:nvPr/>
        </p:nvSpPr>
        <p:spPr>
          <a:xfrm rot="5400000">
            <a:off x="4916766" y="695718"/>
            <a:ext cx="1366890" cy="2513623"/>
          </a:xfrm>
          <a:prstGeom prst="homePlate">
            <a:avLst>
              <a:gd name="adj" fmla="val 22102"/>
            </a:avLst>
          </a:prstGeom>
          <a:solidFill>
            <a:srgbClr val="B8DEDA"/>
          </a:solidFill>
          <a:ln w="381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lIns="216000" tIns="72000" rIns="72000" bIns="72000" rtlCol="0" anchor="ctr" anchorCtr="0"/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Step 01</a:t>
            </a:r>
          </a:p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chemeClr val="bg1"/>
                </a:solidFill>
              </a:rPr>
              <a:t>Select library in Library Manager</a:t>
            </a:r>
          </a:p>
        </p:txBody>
      </p:sp>
      <p:sp>
        <p:nvSpPr>
          <p:cNvPr id="32" name="TextBox">
            <a:extLst>
              <a:ext uri="{FF2B5EF4-FFF2-40B4-BE49-F238E27FC236}">
                <a16:creationId xmlns:a16="http://schemas.microsoft.com/office/drawing/2014/main" id="{E14F5E71-71CB-2F2E-757F-85B551B04AFB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>
            <a:off x="7920486" y="2484713"/>
            <a:ext cx="4042914" cy="9830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0A8276"/>
                </a:solidFill>
              </a:rPr>
              <a:t>.</a:t>
            </a:r>
            <a:r>
              <a:rPr lang="en-US" sz="1600" b="1" dirty="0" err="1">
                <a:solidFill>
                  <a:srgbClr val="0A8276"/>
                </a:solidFill>
              </a:rPr>
              <a:t>mtb</a:t>
            </a:r>
            <a:r>
              <a:rPr lang="en-US" sz="1600" b="1" dirty="0">
                <a:solidFill>
                  <a:srgbClr val="0A8276"/>
                </a:solidFill>
              </a:rPr>
              <a:t> </a:t>
            </a:r>
            <a:r>
              <a:rPr lang="en-US" sz="1600" dirty="0"/>
              <a:t>file created (including dependencies)</a:t>
            </a:r>
            <a:br>
              <a:rPr lang="en-US" sz="1600" dirty="0"/>
            </a:br>
            <a:r>
              <a:rPr lang="en-US" sz="1600" b="1" dirty="0">
                <a:solidFill>
                  <a:srgbClr val="0A8276"/>
                </a:solidFill>
              </a:rPr>
              <a:t>make </a:t>
            </a:r>
            <a:r>
              <a:rPr lang="en-US" sz="1600" b="1" dirty="0" err="1">
                <a:solidFill>
                  <a:srgbClr val="0A8276"/>
                </a:solidFill>
              </a:rPr>
              <a:t>getlibs</a:t>
            </a:r>
            <a:r>
              <a:rPr lang="en-US" sz="1600" dirty="0">
                <a:solidFill>
                  <a:srgbClr val="0A8276"/>
                </a:solidFill>
              </a:rPr>
              <a:t> </a:t>
            </a:r>
            <a:r>
              <a:rPr lang="en-US" sz="1600" dirty="0"/>
              <a:t>performed</a:t>
            </a:r>
            <a:br>
              <a:rPr lang="en-US" sz="1600" dirty="0"/>
            </a:br>
            <a:r>
              <a:rPr lang="en-US" sz="1600" dirty="0"/>
              <a:t>Library source is added to workspace</a:t>
            </a:r>
          </a:p>
        </p:txBody>
      </p:sp>
      <p:sp>
        <p:nvSpPr>
          <p:cNvPr id="33" name="TextBox">
            <a:extLst>
              <a:ext uri="{FF2B5EF4-FFF2-40B4-BE49-F238E27FC236}">
                <a16:creationId xmlns:a16="http://schemas.microsoft.com/office/drawing/2014/main" id="{0E728898-06A3-C9EE-C7F5-E625E5E435CE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976606" y="4850614"/>
            <a:ext cx="3529594" cy="132158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dirty="0"/>
              <a:t>Next </a:t>
            </a:r>
            <a:r>
              <a:rPr lang="en-US" sz="1600" b="1" dirty="0">
                <a:solidFill>
                  <a:srgbClr val="0A8276"/>
                </a:solidFill>
              </a:rPr>
              <a:t>make build</a:t>
            </a:r>
            <a:r>
              <a:rPr lang="en-US" sz="1600" dirty="0">
                <a:solidFill>
                  <a:srgbClr val="0A8276"/>
                </a:solidFill>
              </a:rPr>
              <a:t> </a:t>
            </a:r>
            <a:r>
              <a:rPr lang="en-US" sz="1600" dirty="0"/>
              <a:t>automatically compiles the new library</a:t>
            </a:r>
          </a:p>
          <a:p>
            <a:pPr marL="0" indent="0">
              <a:buNone/>
            </a:pPr>
            <a:r>
              <a:rPr lang="en-US" sz="1600" dirty="0"/>
              <a:t>No manual </a:t>
            </a:r>
            <a:r>
              <a:rPr lang="en-US" sz="1600" dirty="0" err="1"/>
              <a:t>Makefile</a:t>
            </a:r>
            <a:r>
              <a:rPr lang="en-US" sz="1600" dirty="0"/>
              <a:t> edits to </a:t>
            </a:r>
            <a:br>
              <a:rPr lang="en-US" sz="1600" dirty="0"/>
            </a:br>
            <a:r>
              <a:rPr lang="en-US" sz="1600" i="1" dirty="0">
                <a:solidFill>
                  <a:srgbClr val="0A8276"/>
                </a:solidFill>
              </a:rPr>
              <a:t>“include library source” </a:t>
            </a:r>
          </a:p>
        </p:txBody>
      </p:sp>
      <p:sp>
        <p:nvSpPr>
          <p:cNvPr id="34" name="TextBox">
            <a:extLst>
              <a:ext uri="{FF2B5EF4-FFF2-40B4-BE49-F238E27FC236}">
                <a16:creationId xmlns:a16="http://schemas.microsoft.com/office/drawing/2014/main" id="{54528C9C-9226-5B1D-A1DF-1536BDADE67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771524" y="1369042"/>
            <a:ext cx="2614216" cy="99315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pPr marL="0" indent="0" algn="r">
              <a:buNone/>
            </a:pPr>
            <a:r>
              <a:rPr lang="en-US" sz="1600" dirty="0"/>
              <a:t>Click "</a:t>
            </a:r>
            <a:r>
              <a:rPr lang="en-US" sz="1600" b="1" dirty="0">
                <a:solidFill>
                  <a:srgbClr val="0A8276"/>
                </a:solidFill>
              </a:rPr>
              <a:t>Add Library</a:t>
            </a:r>
            <a:r>
              <a:rPr lang="en-US" sz="1600" dirty="0"/>
              <a:t>"</a:t>
            </a:r>
            <a:br>
              <a:rPr lang="en-US" sz="1600" dirty="0"/>
            </a:br>
            <a:r>
              <a:rPr lang="en-US" sz="1600" dirty="0"/>
              <a:t>in the Library Manager UI</a:t>
            </a:r>
            <a:br>
              <a:rPr lang="en-US" sz="1600" dirty="0"/>
            </a:br>
            <a:r>
              <a:rPr lang="en-US" sz="1600" dirty="0"/>
              <a:t>Select required middleware</a:t>
            </a:r>
            <a:endParaRPr lang="en-US" sz="1200" dirty="0"/>
          </a:p>
        </p:txBody>
      </p:sp>
      <p:sp>
        <p:nvSpPr>
          <p:cNvPr id="35" name="TextBox">
            <a:extLst>
              <a:ext uri="{FF2B5EF4-FFF2-40B4-BE49-F238E27FC236}">
                <a16:creationId xmlns:a16="http://schemas.microsoft.com/office/drawing/2014/main" id="{3CE05592-7A9E-51AA-2E18-382EE6B3FEA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04800" y="3827580"/>
            <a:ext cx="3080941" cy="15826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16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800" baseline="0">
                <a:latin typeface="+mn-lt"/>
              </a:defRPr>
            </a:lvl1pPr>
            <a:lvl2pPr marL="432000" lvl="1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sz="1600">
                <a:latin typeface="+mn-lt"/>
              </a:defRPr>
            </a:lvl2pPr>
            <a:lvl3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3pPr>
            <a:lvl4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4pPr>
            <a:lvl5pPr marL="648000" indent="-216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Symbol" panose="05050102010706020507" pitchFamily="18" charset="2"/>
              <a:buChar char="-"/>
              <a:defRPr baseline="0">
                <a:latin typeface="+mn-lt"/>
              </a:defRPr>
            </a:lvl5pPr>
            <a:lvl6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 baseline="0">
                <a:latin typeface="+mn-lt"/>
              </a:defRPr>
            </a:lvl6pPr>
            <a:lvl7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7pPr>
            <a:lvl8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8pPr>
            <a:lvl9pPr marL="648000" indent="-216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Symbol" panose="05050102010706020507" pitchFamily="18" charset="2"/>
              <a:buChar char="-"/>
              <a:defRPr>
                <a:latin typeface="+mn-lt"/>
              </a:defRPr>
            </a:lvl9pPr>
          </a:lstStyle>
          <a:p>
            <a:pPr marL="0" indent="0" algn="r">
              <a:buNone/>
            </a:pPr>
            <a:r>
              <a:rPr lang="en-US" sz="1600" dirty="0" err="1"/>
              <a:t>Makefiles</a:t>
            </a:r>
            <a:r>
              <a:rPr lang="en-US" sz="1600" dirty="0"/>
              <a:t> (</a:t>
            </a:r>
            <a:r>
              <a:rPr lang="en-US" sz="1600" b="1" dirty="0">
                <a:solidFill>
                  <a:srgbClr val="0A8276"/>
                </a:solidFill>
              </a:rPr>
              <a:t>libs/mtb.mk</a:t>
            </a:r>
            <a:r>
              <a:rPr lang="en-US" sz="1600" dirty="0"/>
              <a:t>) updated</a:t>
            </a:r>
            <a:br>
              <a:rPr lang="en-US" sz="1600" dirty="0"/>
            </a:br>
            <a:r>
              <a:rPr lang="en-US" sz="1600" dirty="0"/>
              <a:t>to include middleware folders and search paths for </a:t>
            </a:r>
            <a:r>
              <a:rPr lang="en-US" sz="1600" b="1" dirty="0" err="1">
                <a:solidFill>
                  <a:srgbClr val="0A8276"/>
                </a:solidFill>
              </a:rPr>
              <a:t>mtb_shared</a:t>
            </a:r>
            <a:endParaRPr lang="en-US" sz="1600" b="1" dirty="0">
              <a:solidFill>
                <a:srgbClr val="0A8276"/>
              </a:solidFill>
            </a:endParaRPr>
          </a:p>
        </p:txBody>
      </p:sp>
      <p:pic>
        <p:nvPicPr>
          <p:cNvPr id="11" name="Flowchart">
            <a:extLst>
              <a:ext uri="{FF2B5EF4-FFF2-40B4-BE49-F238E27FC236}">
                <a16:creationId xmlns:a16="http://schemas.microsoft.com/office/drawing/2014/main" id="{7453956D-E196-5752-5410-EB0CBE4AAFA8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69679" y="5229200"/>
            <a:ext cx="457200" cy="457200"/>
          </a:xfrm>
          <a:prstGeom prst="rect">
            <a:avLst/>
          </a:prstGeom>
        </p:spPr>
      </p:pic>
      <p:pic>
        <p:nvPicPr>
          <p:cNvPr id="5" name="Change">
            <a:extLst>
              <a:ext uri="{FF2B5EF4-FFF2-40B4-BE49-F238E27FC236}">
                <a16:creationId xmlns:a16="http://schemas.microsoft.com/office/drawing/2014/main" id="{06D1B791-396A-19A8-D8C1-90DC884BE8D2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169679" y="2745617"/>
            <a:ext cx="457200" cy="4572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201C126E-4E22-46F1-9E2D-B18E4DEEB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38021" y="3974885"/>
            <a:ext cx="457200" cy="457200"/>
          </a:xfrm>
          <a:prstGeom prst="rect">
            <a:avLst/>
          </a:prstGeom>
        </p:spPr>
      </p:pic>
      <p:pic>
        <p:nvPicPr>
          <p:cNvPr id="4" name="Check">
            <a:extLst>
              <a:ext uri="{FF2B5EF4-FFF2-40B4-BE49-F238E27FC236}">
                <a16:creationId xmlns:a16="http://schemas.microsoft.com/office/drawing/2014/main" id="{2466BCE1-A7FA-A50F-977D-A6BCEFACC017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638021" y="1516347"/>
            <a:ext cx="457200" cy="4572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410509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D173D-FA7E-59DB-FF35-79EE0DFE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Makefiles</a:t>
            </a:r>
            <a:r>
              <a:rPr lang="en-US" dirty="0"/>
              <a:t> to integrate and configure middleware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05A0C1D-E209-1ECA-E2D2-69F5D6176138}"/>
              </a:ext>
            </a:extLst>
          </p:cNvPr>
          <p:cNvSpPr txBox="1">
            <a:spLocks/>
          </p:cNvSpPr>
          <p:nvPr/>
        </p:nvSpPr>
        <p:spPr>
          <a:xfrm>
            <a:off x="8490600" y="1276352"/>
            <a:ext cx="3091800" cy="4857751"/>
          </a:xfrm>
          <a:prstGeom prst="rect">
            <a:avLst/>
          </a:prstGeom>
        </p:spPr>
        <p:txBody>
          <a:bodyPr/>
          <a:lstStyle>
            <a:lvl1pPr marL="252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solidFill>
                  <a:schemeClr val="tx1"/>
                </a:solidFill>
                <a:latin typeface="+mn-lt"/>
                <a:cs typeface="+mn-cs"/>
              </a:defRPr>
            </a:lvl2pPr>
            <a:lvl3pPr marL="756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cs typeface="+mn-cs"/>
              </a:defRPr>
            </a:lvl3pPr>
            <a:lvl4pPr marL="1008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cs typeface="+mn-cs"/>
              </a:defRPr>
            </a:lvl4pPr>
            <a:lvl5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cs typeface="+mn-cs"/>
              </a:defRPr>
            </a:lvl5pPr>
            <a:lvl6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cs typeface="+mn-cs"/>
              </a:defRPr>
            </a:lvl6pPr>
            <a:lvl7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7pPr>
            <a:lvl8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8pPr>
            <a:lvl9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>
              <a:spcAft>
                <a:spcPts val="1800"/>
              </a:spcAft>
            </a:pPr>
            <a:r>
              <a:rPr lang="en-US" sz="1600" kern="0" dirty="0"/>
              <a:t>Inclusion of middleware into the build system occurs automatically based on the Library Manager output (</a:t>
            </a:r>
            <a:r>
              <a:rPr lang="en-US" sz="1600" b="1" kern="0" dirty="0">
                <a:solidFill>
                  <a:srgbClr val="0A8276"/>
                </a:solidFill>
              </a:rPr>
              <a:t>make </a:t>
            </a:r>
            <a:r>
              <a:rPr lang="en-US" sz="1600" b="1" kern="0" dirty="0" err="1">
                <a:solidFill>
                  <a:srgbClr val="0A8276"/>
                </a:solidFill>
              </a:rPr>
              <a:t>getlibs</a:t>
            </a:r>
            <a:r>
              <a:rPr lang="en-US" sz="1600" kern="0" dirty="0"/>
              <a:t>)</a:t>
            </a:r>
            <a:br>
              <a:rPr lang="en-US" sz="1600" kern="0" dirty="0"/>
            </a:br>
            <a:endParaRPr lang="en-US" sz="1600" kern="0" dirty="0"/>
          </a:p>
          <a:p>
            <a:pPr>
              <a:spcAft>
                <a:spcPts val="1800"/>
              </a:spcAft>
            </a:pPr>
            <a:r>
              <a:rPr lang="en-US" sz="1600" kern="0" dirty="0"/>
              <a:t>Integration and configuration of middleware may require edits to the </a:t>
            </a:r>
            <a:r>
              <a:rPr lang="en-US" sz="1600" b="1" kern="0" dirty="0" err="1">
                <a:solidFill>
                  <a:srgbClr val="0A8276"/>
                </a:solidFill>
              </a:rPr>
              <a:t>Makefile</a:t>
            </a:r>
            <a:endParaRPr lang="en-US" sz="1600" b="1" kern="0" dirty="0">
              <a:solidFill>
                <a:srgbClr val="0A8276"/>
              </a:solidFill>
            </a:endParaRPr>
          </a:p>
          <a:p>
            <a:pPr lvl="1">
              <a:spcAft>
                <a:spcPts val="1800"/>
              </a:spcAft>
            </a:pPr>
            <a:r>
              <a:rPr lang="en-US" b="1" kern="0" dirty="0">
                <a:solidFill>
                  <a:srgbClr val="0A8276"/>
                </a:solidFill>
              </a:rPr>
              <a:t>COMPONENTS</a:t>
            </a:r>
          </a:p>
          <a:p>
            <a:pPr lvl="1">
              <a:spcAft>
                <a:spcPts val="1800"/>
              </a:spcAft>
            </a:pPr>
            <a:r>
              <a:rPr lang="en-US" b="1" kern="0" dirty="0">
                <a:solidFill>
                  <a:srgbClr val="0A8276"/>
                </a:solidFill>
              </a:rPr>
              <a:t>DEFINES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287654-1E6D-E259-F51A-86F57459A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60" y="990600"/>
            <a:ext cx="8153090" cy="5143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9340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ECB33-D37F-3017-7612-0E012ED2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you know what COMPONENTS and DEFINES to add?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D9DED15-C2C5-2EEF-FAEE-3B4F2E7EF6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433585"/>
              </p:ext>
            </p:extLst>
          </p:nvPr>
        </p:nvGraphicFramePr>
        <p:xfrm>
          <a:off x="533400" y="1295400"/>
          <a:ext cx="11125199" cy="473681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44768">
                  <a:extLst>
                    <a:ext uri="{9D8B030D-6E8A-4147-A177-3AD203B41FA5}">
                      <a16:colId xmlns:a16="http://schemas.microsoft.com/office/drawing/2014/main" val="3875711866"/>
                    </a:ext>
                  </a:extLst>
                </a:gridCol>
                <a:gridCol w="3475032">
                  <a:extLst>
                    <a:ext uri="{9D8B030D-6E8A-4147-A177-3AD203B41FA5}">
                      <a16:colId xmlns:a16="http://schemas.microsoft.com/office/drawing/2014/main" val="2423992882"/>
                    </a:ext>
                  </a:extLst>
                </a:gridCol>
                <a:gridCol w="5105399">
                  <a:extLst>
                    <a:ext uri="{9D8B030D-6E8A-4147-A177-3AD203B41FA5}">
                      <a16:colId xmlns:a16="http://schemas.microsoft.com/office/drawing/2014/main" val="2729556030"/>
                    </a:ext>
                  </a:extLst>
                </a:gridCol>
              </a:tblGrid>
              <a:tr h="316147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</a:rPr>
                        <a:t>Location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68728" marR="68728" marT="34364" marB="34364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</a:rPr>
                        <a:t>What you'll find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68728" marR="68728" marT="34364" marB="34364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</a:rPr>
                        <a:t>How to access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68728" marR="68728" marT="34364" marB="34364"/>
                </a:tc>
                <a:extLst>
                  <a:ext uri="{0D108BD9-81ED-4DB2-BD59-A6C34878D82A}">
                    <a16:rowId xmlns:a16="http://schemas.microsoft.com/office/drawing/2014/main" val="3227613936"/>
                  </a:ext>
                </a:extLst>
              </a:tr>
              <a:tr h="105840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Library README.md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Quick-start guide, required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COMPONENTS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 and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DEFINES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,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API overview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,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code snippets</a:t>
                      </a: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Open </a:t>
                      </a: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</a:rPr>
                        <a:t>mtb_shared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/&lt;library&gt;/&lt;version&gt;/README.md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in your IDE, or view on the library's GitHub repo</a:t>
                      </a:r>
                    </a:p>
                  </a:txBody>
                  <a:tcPr marT="73152" marB="73152"/>
                </a:tc>
                <a:extLst>
                  <a:ext uri="{0D108BD9-81ED-4DB2-BD59-A6C34878D82A}">
                    <a16:rowId xmlns:a16="http://schemas.microsoft.com/office/drawing/2014/main" val="884939814"/>
                  </a:ext>
                </a:extLst>
              </a:tr>
              <a:tr h="759047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Library docs/ folder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Full API reference (HTML), configuration guide, migration notes</a:t>
                      </a: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Open </a:t>
                      </a: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</a:rPr>
                        <a:t>mtb_shared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/&lt;library&gt;/&lt;version&gt;/docs/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typically contains generated HTML API docs</a:t>
                      </a:r>
                    </a:p>
                  </a:txBody>
                  <a:tcPr marT="73152" marB="73152"/>
                </a:tc>
                <a:extLst>
                  <a:ext uri="{0D108BD9-81ED-4DB2-BD59-A6C34878D82A}">
                    <a16:rowId xmlns:a16="http://schemas.microsoft.com/office/drawing/2014/main" val="3775228608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IDE quick links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Direct access to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API documentation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for libraries in your project</a:t>
                      </a: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Eclipse: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 Quick Panel → Documentation section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</a:rPr>
                        <a:t>VS Code: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 ModusToolbox™ Assistant extension → Documentation links</a:t>
                      </a:r>
                    </a:p>
                  </a:txBody>
                  <a:tcPr marT="73152" marB="73152"/>
                </a:tc>
                <a:extLst>
                  <a:ext uri="{0D108BD9-81ED-4DB2-BD59-A6C34878D82A}">
                    <a16:rowId xmlns:a16="http://schemas.microsoft.com/office/drawing/2014/main" val="643526004"/>
                  </a:ext>
                </a:extLst>
              </a:tr>
              <a:tr h="81098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Library GitHub repo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README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 (same as above), release notes, code examples list, issue tracker</a:t>
                      </a: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Reference the library URL in the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</a:rPr>
                        <a:t>mtb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file or find it in Library Manager</a:t>
                      </a:r>
                    </a:p>
                  </a:txBody>
                  <a:tcPr marT="73152" marB="73152"/>
                </a:tc>
                <a:extLst>
                  <a:ext uri="{0D108BD9-81ED-4DB2-BD59-A6C34878D82A}">
                    <a16:rowId xmlns:a16="http://schemas.microsoft.com/office/drawing/2014/main" val="2343899629"/>
                  </a:ext>
                </a:extLst>
              </a:tr>
              <a:tr h="81098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</a:rPr>
                        <a:t>Code examples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>
                          <a:solidFill>
                            <a:srgbClr val="222222"/>
                          </a:solidFill>
                          <a:effectLst/>
                        </a:rPr>
                        <a:t>Working, tested projects that demonstrate the library in context</a:t>
                      </a:r>
                    </a:p>
                  </a:txBody>
                  <a:tcPr marT="73152" marB="73152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Links in the library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</a:rPr>
                        <a:t>README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</a:rPr>
                        <a:t> under "Code Examples" or "Related Resources"</a:t>
                      </a:r>
                    </a:p>
                  </a:txBody>
                  <a:tcPr marT="73152" marB="73152"/>
                </a:tc>
                <a:extLst>
                  <a:ext uri="{0D108BD9-81ED-4DB2-BD59-A6C34878D82A}">
                    <a16:rowId xmlns:a16="http://schemas.microsoft.com/office/drawing/2014/main" val="20369245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64993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0A3700-9906-8EA8-0C12-2834E6551F7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4800" y="1447800"/>
            <a:ext cx="11520000" cy="4933951"/>
          </a:xfrm>
        </p:spPr>
        <p:txBody>
          <a:bodyPr/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dirty="0"/>
              <a:t>Add library via </a:t>
            </a:r>
            <a:r>
              <a:rPr lang="en-US" b="1" dirty="0">
                <a:solidFill>
                  <a:srgbClr val="0A8276"/>
                </a:solidFill>
              </a:rPr>
              <a:t>Library Manager </a:t>
            </a:r>
            <a:r>
              <a:rPr lang="en-US" dirty="0"/>
              <a:t>→ click Update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dirty="0"/>
              <a:t>Open </a:t>
            </a:r>
            <a:r>
              <a:rPr lang="en-US" b="1" dirty="0" err="1">
                <a:solidFill>
                  <a:srgbClr val="0A8276"/>
                </a:solidFill>
              </a:rPr>
              <a:t>mtb_shared</a:t>
            </a:r>
            <a:r>
              <a:rPr lang="en-US" b="1" dirty="0">
                <a:solidFill>
                  <a:srgbClr val="0A8276"/>
                </a:solidFill>
              </a:rPr>
              <a:t>/&lt;library&gt;/&lt;version&gt;/README.md  </a:t>
            </a:r>
            <a:r>
              <a:rPr lang="en-US" dirty="0"/>
              <a:t>← START HERE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dirty="0"/>
              <a:t>README tells you: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Required </a:t>
            </a:r>
            <a:r>
              <a:rPr lang="en-US" b="1" dirty="0">
                <a:solidFill>
                  <a:srgbClr val="0A8276"/>
                </a:solidFill>
              </a:rPr>
              <a:t>COMPONENTS</a:t>
            </a:r>
            <a:r>
              <a:rPr lang="en-US" dirty="0"/>
              <a:t> (add to </a:t>
            </a:r>
            <a:r>
              <a:rPr lang="en-US" dirty="0" err="1"/>
              <a:t>Makefile</a:t>
            </a:r>
            <a:r>
              <a:rPr lang="en-US" dirty="0"/>
              <a:t>)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Required </a:t>
            </a:r>
            <a:r>
              <a:rPr lang="en-US" b="1" dirty="0">
                <a:solidFill>
                  <a:srgbClr val="0A8276"/>
                </a:solidFill>
              </a:rPr>
              <a:t>DEFINES</a:t>
            </a:r>
            <a:r>
              <a:rPr lang="en-US" dirty="0"/>
              <a:t> (add to </a:t>
            </a:r>
            <a:r>
              <a:rPr lang="en-US" dirty="0" err="1"/>
              <a:t>Makefile</a:t>
            </a:r>
            <a:r>
              <a:rPr lang="en-US" dirty="0"/>
              <a:t>)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Required dependency libraries (added automatically via Library Manager)</a:t>
            </a:r>
          </a:p>
          <a:p>
            <a:pPr lvl="1">
              <a:spcAft>
                <a:spcPts val="1200"/>
              </a:spcAft>
            </a:pPr>
            <a:r>
              <a:rPr lang="en-US" dirty="0"/>
              <a:t>Initialization code to add to </a:t>
            </a:r>
            <a:r>
              <a:rPr lang="en-US" dirty="0" err="1"/>
              <a:t>main.c</a:t>
            </a:r>
            <a:endParaRPr lang="en-US" dirty="0"/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dirty="0"/>
              <a:t>For deeper API details → </a:t>
            </a:r>
            <a:r>
              <a:rPr lang="en-US" b="1" dirty="0">
                <a:solidFill>
                  <a:srgbClr val="0A8276"/>
                </a:solidFill>
              </a:rPr>
              <a:t>open </a:t>
            </a:r>
            <a:r>
              <a:rPr lang="en-US" b="1" dirty="0" err="1">
                <a:solidFill>
                  <a:srgbClr val="0A8276"/>
                </a:solidFill>
              </a:rPr>
              <a:t>mtb_shared</a:t>
            </a:r>
            <a:r>
              <a:rPr lang="en-US" b="1" dirty="0">
                <a:solidFill>
                  <a:srgbClr val="0A8276"/>
                </a:solidFill>
              </a:rPr>
              <a:t>/&lt;library&gt;/&lt;version&gt;/docs/api_reference.html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dirty="0"/>
              <a:t>For working examples → </a:t>
            </a:r>
            <a:r>
              <a:rPr lang="en-US" b="1" dirty="0">
                <a:solidFill>
                  <a:srgbClr val="0A8276"/>
                </a:solidFill>
              </a:rPr>
              <a:t>follow Code Example links in README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B12D1DC-5DEA-53F2-9862-5C019D977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workflow — when you add a new library</a:t>
            </a:r>
          </a:p>
        </p:txBody>
      </p:sp>
    </p:spTree>
    <p:extLst>
      <p:ext uri="{BB962C8B-B14F-4D97-AF65-F5344CB8AC3E}">
        <p14:creationId xmlns:p14="http://schemas.microsoft.com/office/powerpoint/2010/main" val="39505731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1533706-BD78-5CA6-16B4-B41362A4E6C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141978851"/>
              </p:ext>
            </p:extLst>
          </p:nvPr>
        </p:nvGraphicFramePr>
        <p:xfrm>
          <a:off x="434181" y="1295400"/>
          <a:ext cx="11323637" cy="446532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292190">
                  <a:extLst>
                    <a:ext uri="{9D8B030D-6E8A-4147-A177-3AD203B41FA5}">
                      <a16:colId xmlns:a16="http://schemas.microsoft.com/office/drawing/2014/main" val="1521225734"/>
                    </a:ext>
                  </a:extLst>
                </a:gridCol>
                <a:gridCol w="9031447">
                  <a:extLst>
                    <a:ext uri="{9D8B030D-6E8A-4147-A177-3AD203B41FA5}">
                      <a16:colId xmlns:a16="http://schemas.microsoft.com/office/drawing/2014/main" val="371828970"/>
                    </a:ext>
                  </a:extLst>
                </a:gridCol>
              </a:tblGrid>
              <a:tr h="198557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Concept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Key Point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160164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Library Manager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GUI for managing .mtb pointer files — handles make getlibs automatically</a:t>
                      </a:r>
                    </a:p>
                  </a:txBody>
                  <a:tcPr marL="182880" marR="182880" marT="182880" marB="182880"/>
                </a:tc>
                <a:extLst>
                  <a:ext uri="{0D108BD9-81ED-4DB2-BD59-A6C34878D82A}">
                    <a16:rowId xmlns:a16="http://schemas.microsoft.com/office/drawing/2014/main" val="2864286576"/>
                  </a:ext>
                </a:extLst>
              </a:tr>
              <a:tr h="393662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README.md &amp; docs/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Every library ships its own docs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— </a:t>
                      </a:r>
                      <a:b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COMPONENTS, DEFINES, dependencies, API reference</a:t>
                      </a:r>
                    </a:p>
                  </a:txBody>
                  <a:tcPr marL="182880" marR="182880" marT="182880" marB="182880"/>
                </a:tc>
                <a:extLst>
                  <a:ext uri="{0D108BD9-81ED-4DB2-BD59-A6C34878D82A}">
                    <a16:rowId xmlns:a16="http://schemas.microsoft.com/office/drawing/2014/main" val="1131204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COMPONENTS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Makefile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variable that toggles optional library features (check library README)</a:t>
                      </a:r>
                    </a:p>
                  </a:txBody>
                  <a:tcPr marL="182880" marR="182880" marT="182880" marB="182880"/>
                </a:tc>
                <a:extLst>
                  <a:ext uri="{0D108BD9-81ED-4DB2-BD59-A6C34878D82A}">
                    <a16:rowId xmlns:a16="http://schemas.microsoft.com/office/drawing/2014/main" val="2450480587"/>
                  </a:ext>
                </a:extLst>
              </a:tr>
              <a:tr h="393662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DEFINES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Makefile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preprocessor defines to configure library behavior (check library README)</a:t>
                      </a:r>
                    </a:p>
                  </a:txBody>
                  <a:tcPr marL="182880" marR="182880" marT="182880" marB="182880"/>
                </a:tc>
                <a:extLst>
                  <a:ext uri="{0D108BD9-81ED-4DB2-BD59-A6C34878D82A}">
                    <a16:rowId xmlns:a16="http://schemas.microsoft.com/office/drawing/2014/main" val="1181811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mtb_shared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Shared library storage — one copy per version, shared across projects</a:t>
                      </a:r>
                    </a:p>
                  </a:txBody>
                  <a:tcPr marL="182880" marR="182880" marT="182880" marB="182880"/>
                </a:tc>
                <a:extLst>
                  <a:ext uri="{0D108BD9-81ED-4DB2-BD59-A6C34878D82A}">
                    <a16:rowId xmlns:a16="http://schemas.microsoft.com/office/drawing/2014/main" val="1699974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Version pinning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182880" marB="18288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Use release tags in .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 files, not main branch</a:t>
                      </a:r>
                    </a:p>
                  </a:txBody>
                  <a:tcPr marL="182880" marR="182880" marT="182880" marB="182880"/>
                </a:tc>
                <a:extLst>
                  <a:ext uri="{0D108BD9-81ED-4DB2-BD59-A6C34878D82A}">
                    <a16:rowId xmlns:a16="http://schemas.microsoft.com/office/drawing/2014/main" val="236915229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322EB75-EB22-C7FD-DDA5-AA101C11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summary and key takeaways</a:t>
            </a:r>
          </a:p>
        </p:txBody>
      </p:sp>
    </p:spTree>
    <p:extLst>
      <p:ext uri="{BB962C8B-B14F-4D97-AF65-F5344CB8AC3E}">
        <p14:creationId xmlns:p14="http://schemas.microsoft.com/office/powerpoint/2010/main" val="4095618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A02BC-77E3-69CA-288C-FDAF0E421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CB8AC05-1B45-2EED-6776-97B5C1378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2134800"/>
            <a:ext cx="8137525" cy="2361000"/>
          </a:xfrm>
        </p:spPr>
        <p:txBody>
          <a:bodyPr anchor="t"/>
          <a:lstStyle/>
          <a:p>
            <a:r>
              <a:rPr lang="en-US" dirty="0"/>
              <a:t>Demo</a:t>
            </a:r>
            <a:br>
              <a:rPr lang="en-US" dirty="0"/>
            </a:br>
            <a:r>
              <a:rPr lang="en-US" sz="3200" b="0" dirty="0"/>
              <a:t>Library Manager and</a:t>
            </a:r>
            <a:br>
              <a:rPr lang="en-US" sz="3200" b="0" dirty="0"/>
            </a:br>
            <a:r>
              <a:rPr lang="en-US" sz="3200" b="0" dirty="0"/>
              <a:t>CMSIS-DSP COMPONENT</a:t>
            </a:r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6617802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7C51A-69F7-6223-1DD7-0BC84208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5ADC0-74C2-1AE7-0DC9-42AC3006C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ModusToolbox™ AI Assistant extension for VS Code	</a:t>
            </a:r>
          </a:p>
        </p:txBody>
      </p:sp>
    </p:spTree>
    <p:extLst>
      <p:ext uri="{BB962C8B-B14F-4D97-AF65-F5344CB8AC3E}">
        <p14:creationId xmlns:p14="http://schemas.microsoft.com/office/powerpoint/2010/main" val="18661241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B8DB45-EFDB-43B9-8CFD-A7DA4978092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4800" y="1143000"/>
            <a:ext cx="11293800" cy="1981200"/>
          </a:xfrm>
        </p:spPr>
        <p:txBody>
          <a:bodyPr/>
          <a:lstStyle/>
          <a:p>
            <a:pPr marL="0" indent="0">
              <a:buNone/>
            </a:pPr>
            <a:r>
              <a:rPr lang="en-US" sz="1600" b="1" dirty="0"/>
              <a:t>ModusToolbox™ had provided standard VS Code support for 6+ years</a:t>
            </a:r>
          </a:p>
          <a:p>
            <a:pPr marL="252000" marR="0" lvl="0" indent="-252000" algn="l" defTabSz="5760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Pct val="100000"/>
              <a:buFont typeface="Arial" panose="020B0604020202020204" pitchFamily="34" charset="0"/>
              <a:buChar char="‒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Arial"/>
                <a:cs typeface="Arial"/>
              </a:rPr>
              <a:t>Full development workflow: create → configure → build → program → debug</a:t>
            </a:r>
          </a:p>
          <a:p>
            <a:pPr marL="0" indent="0">
              <a:buNone/>
            </a:pPr>
            <a:endParaRPr lang="en-US" sz="1100" b="1" dirty="0"/>
          </a:p>
          <a:p>
            <a:pPr marL="0" indent="0">
              <a:buNone/>
            </a:pPr>
            <a:r>
              <a:rPr lang="en-US" sz="1600" b="1" dirty="0"/>
              <a:t>New Infineon supported ModusToolbox™ for VS Code marketplace extension</a:t>
            </a:r>
          </a:p>
          <a:p>
            <a:r>
              <a:rPr lang="en-US" sz="1600" dirty="0"/>
              <a:t>This recent release bring enhanced enablement and out of box experience to the workflow</a:t>
            </a:r>
          </a:p>
          <a:p>
            <a:r>
              <a:rPr lang="en-US" sz="1600" dirty="0"/>
              <a:t>Available on the VS Code Marketplace — search "ModusToolbox"</a:t>
            </a:r>
          </a:p>
          <a:p>
            <a:endParaRPr lang="en-US" sz="16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3AF0C9-9303-4693-B70D-F074E2523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ModusToolbox™ for VS Code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4549D08-DB46-CC52-342D-D4A5AC12A3C7}"/>
              </a:ext>
            </a:extLst>
          </p:cNvPr>
          <p:cNvGraphicFramePr>
            <a:graphicFrameLocks noGrp="1"/>
          </p:cNvGraphicFramePr>
          <p:nvPr/>
        </p:nvGraphicFramePr>
        <p:xfrm>
          <a:off x="5410200" y="3139440"/>
          <a:ext cx="6049800" cy="3108959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1858800">
                  <a:extLst>
                    <a:ext uri="{9D8B030D-6E8A-4147-A177-3AD203B41FA5}">
                      <a16:colId xmlns:a16="http://schemas.microsoft.com/office/drawing/2014/main" val="33463437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650820602"/>
                    </a:ext>
                  </a:extLst>
                </a:gridCol>
              </a:tblGrid>
              <a:tr h="5563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Project Creation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Guided wizard, BSP selection, auto kit detection, </a:t>
                      </a:r>
                      <a:b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multi-core support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4922708"/>
                  </a:ext>
                </a:extLst>
              </a:tr>
              <a:tr h="5563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Build, Program &amp; Debug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>
                          <a:solidFill>
                            <a:schemeClr val="tx1"/>
                          </a:solidFill>
                          <a:effectLst/>
                        </a:rPr>
                        <a:t>One-click build/program, flash/RAM memory visualization</a:t>
                      </a:r>
                      <a:endParaRPr lang="en-US" sz="1400" b="0" i="0" spc="15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2927960"/>
                  </a:ext>
                </a:extLst>
              </a:tr>
              <a:tr h="5563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Code Intelligence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 err="1">
                          <a:solidFill>
                            <a:schemeClr val="tx1"/>
                          </a:solidFill>
                          <a:effectLst/>
                        </a:rPr>
                        <a:t>Clangd</a:t>
                      </a: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-powered IntelliSense + </a:t>
                      </a:r>
                      <a:b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inline API doc lookup (Ctrl+Shift+F1)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7317287"/>
                  </a:ext>
                </a:extLst>
              </a:tr>
              <a:tr h="32725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BSP &amp; Middleware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Search, filter, update BSPs with drag-and-drop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5753955"/>
                  </a:ext>
                </a:extLst>
              </a:tr>
              <a:tr h="5563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Kit Integration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Connected kit monitoring — status, firmware, </a:t>
                      </a:r>
                      <a:b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BSP mapping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132750"/>
                  </a:ext>
                </a:extLst>
              </a:tr>
              <a:tr h="5563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Tool Launcher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Device Configurator, Library Manager, </a:t>
                      </a:r>
                      <a:b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sz="1400" b="0" spc="15" dirty="0">
                          <a:solidFill>
                            <a:schemeClr val="tx1"/>
                          </a:solidFill>
                          <a:effectLst/>
                        </a:rPr>
                        <a:t>LLVM management, MTB Shell</a:t>
                      </a:r>
                      <a:endParaRPr lang="en-US" sz="1400" b="0" i="0" spc="15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650879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9922FA8F-845F-BAD3-CA22-A9EB8AA5D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139440"/>
            <a:ext cx="4694694" cy="3108960"/>
          </a:xfrm>
          <a:prstGeom prst="rect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3A82604-DD9A-23FF-0C48-8999F4A5A9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72600" y="1089660"/>
            <a:ext cx="17145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7986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9E6BA-6AD6-0F42-F7A9-D5600F7D4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6E352148-9F28-595E-3AB2-1E3F39B48B1D}"/>
              </a:ext>
            </a:extLst>
          </p:cNvPr>
          <p:cNvSpPr/>
          <p:nvPr/>
        </p:nvSpPr>
        <p:spPr>
          <a:xfrm>
            <a:off x="6126038" y="1268414"/>
            <a:ext cx="5724000" cy="4680866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/>
          </a:p>
        </p:txBody>
      </p:sp>
      <p:sp>
        <p:nvSpPr>
          <p:cNvPr id="4" name="Rounded Rectangle 10">
            <a:extLst>
              <a:ext uri="{FF2B5EF4-FFF2-40B4-BE49-F238E27FC236}">
                <a16:creationId xmlns:a16="http://schemas.microsoft.com/office/drawing/2014/main" id="{10AFE340-EF90-B1A4-ED77-58279097C1A5}"/>
              </a:ext>
            </a:extLst>
          </p:cNvPr>
          <p:cNvSpPr/>
          <p:nvPr/>
        </p:nvSpPr>
        <p:spPr>
          <a:xfrm>
            <a:off x="334434" y="1268414"/>
            <a:ext cx="5724000" cy="46808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0" rtlCol="0" anchor="ctr"/>
          <a:lstStyle/>
          <a:p>
            <a:pPr algn="ctr"/>
            <a:endParaRPr lang="en-US" sz="320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132AC5A-1A4C-B79C-DBA4-536934C7C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ModusToolbox™ AI Assistant (Public Preview)</a:t>
            </a:r>
          </a:p>
        </p:txBody>
      </p:sp>
      <p:sp>
        <p:nvSpPr>
          <p:cNvPr id="10" name="Rechteck 42">
            <a:extLst>
              <a:ext uri="{FF2B5EF4-FFF2-40B4-BE49-F238E27FC236}">
                <a16:creationId xmlns:a16="http://schemas.microsoft.com/office/drawing/2014/main" id="{A1865F31-F241-ABAE-FC11-BFC97669DF11}"/>
              </a:ext>
            </a:extLst>
          </p:cNvPr>
          <p:cNvSpPr/>
          <p:nvPr/>
        </p:nvSpPr>
        <p:spPr bwMode="auto">
          <a:xfrm>
            <a:off x="5194942" y="2708847"/>
            <a:ext cx="1800000" cy="180000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r>
              <a:rPr lang="en-US" sz="1800" b="1" dirty="0">
                <a:solidFill>
                  <a:schemeClr val="bg1"/>
                </a:solidFill>
                <a:latin typeface="+mn-lt"/>
                <a:ea typeface="Verdana" pitchFamily="34" charset="0"/>
                <a:cs typeface="Verdana" pitchFamily="34" charset="0"/>
              </a:rPr>
              <a:t>Text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09816E-8E5E-5F12-EAF2-0EEEF284D184}"/>
              </a:ext>
            </a:extLst>
          </p:cNvPr>
          <p:cNvSpPr txBox="1">
            <a:spLocks/>
          </p:cNvSpPr>
          <p:nvPr/>
        </p:nvSpPr>
        <p:spPr>
          <a:xfrm>
            <a:off x="518855" y="1524001"/>
            <a:ext cx="4320000" cy="39716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52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latin typeface="+mn-lt"/>
              </a:defRPr>
            </a:lvl1pPr>
            <a:lvl2pPr marL="504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latin typeface="+mn-lt"/>
              </a:defRPr>
            </a:lvl2pPr>
            <a:lvl3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3pPr>
            <a:lvl4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4pPr>
            <a:lvl5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5pPr>
            <a:lvl6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baseline="0">
                <a:latin typeface="+mn-lt"/>
              </a:defRPr>
            </a:lvl6pPr>
            <a:lvl7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7pPr>
            <a:lvl8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8pPr>
            <a:lvl9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The Problem</a:t>
            </a:r>
            <a:br>
              <a:rPr lang="en-US" b="1" dirty="0">
                <a:solidFill>
                  <a:schemeClr val="bg1"/>
                </a:solidFill>
              </a:rPr>
            </a:br>
            <a:endParaRPr lang="en-US" b="1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AI assistants (Copilot, Cursor, Windsurf) generate code that looks right but:</a:t>
            </a:r>
          </a:p>
          <a:p>
            <a:pPr lvl="1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Targets the wrong device</a:t>
            </a:r>
          </a:p>
          <a:p>
            <a:pPr lvl="1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Uses deprecated APIs</a:t>
            </a:r>
          </a:p>
          <a:p>
            <a:pPr lvl="1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Misses critical </a:t>
            </a:r>
            <a:r>
              <a:rPr lang="en-US" dirty="0" err="1">
                <a:solidFill>
                  <a:schemeClr val="bg1"/>
                </a:solidFill>
              </a:rPr>
              <a:t>init</a:t>
            </a:r>
            <a:r>
              <a:rPr lang="en-US" dirty="0">
                <a:solidFill>
                  <a:schemeClr val="bg1"/>
                </a:solidFill>
              </a:rPr>
              <a:t> steps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(clocks, interrupts, DMA channels)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</a:pPr>
            <a:r>
              <a:rPr lang="en-US" b="1" dirty="0">
                <a:solidFill>
                  <a:schemeClr val="bg1"/>
                </a:solidFill>
              </a:rPr>
              <a:t>Root cause:</a:t>
            </a:r>
            <a:r>
              <a:rPr lang="en-US" dirty="0">
                <a:solidFill>
                  <a:schemeClr val="bg1"/>
                </a:solidFill>
              </a:rPr>
              <a:t> They have zero awareness of your hardware, BSP, or project structure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79F0524-C2D1-B076-28A6-E3C5D6AFB235}"/>
              </a:ext>
            </a:extLst>
          </p:cNvPr>
          <p:cNvSpPr txBox="1">
            <a:spLocks/>
          </p:cNvSpPr>
          <p:nvPr/>
        </p:nvSpPr>
        <p:spPr>
          <a:xfrm>
            <a:off x="6858000" y="1524000"/>
            <a:ext cx="4999566" cy="3971634"/>
          </a:xfrm>
          <a:prstGeom prst="rect">
            <a:avLst/>
          </a:prstGeom>
        </p:spPr>
        <p:txBody>
          <a:bodyPr vert="horz" lIns="180000" tIns="0" rIns="0" bIns="0" rtlCol="0">
            <a:noAutofit/>
          </a:bodyPr>
          <a:lstStyle>
            <a:lvl1pPr marL="252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latin typeface="+mn-lt"/>
              </a:defRPr>
            </a:lvl1pPr>
            <a:lvl2pPr marL="504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latin typeface="+mn-lt"/>
              </a:defRPr>
            </a:lvl2pPr>
            <a:lvl3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3pPr>
            <a:lvl4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4pPr>
            <a:lvl5pPr marL="756000" indent="-252000" defTabSz="576000" ea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baseline="0">
                <a:latin typeface="+mn-lt"/>
              </a:defRPr>
            </a:lvl5pPr>
            <a:lvl6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baseline="0">
                <a:latin typeface="+mn-lt"/>
              </a:defRPr>
            </a:lvl6pPr>
            <a:lvl7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7pPr>
            <a:lvl8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8pPr>
            <a:lvl9pPr marL="756000" indent="-252000" defTabSz="576000" fontAlgn="base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+mn-lt"/>
              </a:defRPr>
            </a:lvl9pPr>
          </a:lstStyle>
          <a:p>
            <a:pPr marL="0" indent="0">
              <a:buNone/>
            </a:pPr>
            <a:r>
              <a:rPr lang="en-US" b="1" dirty="0"/>
              <a:t>The Solution: Hardware-Aware AI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The ModusToolbox™ AI Assistant gives AI assistants deep context about your workspace:</a:t>
            </a:r>
          </a:p>
          <a:p>
            <a:pPr lvl="1"/>
            <a:r>
              <a:rPr lang="en-US" b="1" dirty="0"/>
              <a:t>MCU</a:t>
            </a:r>
            <a:r>
              <a:rPr lang="en-US" dirty="0"/>
              <a:t> - actual device, not a generic Cortex-M</a:t>
            </a:r>
          </a:p>
          <a:p>
            <a:pPr lvl="1"/>
            <a:r>
              <a:rPr lang="en-US" b="1" dirty="0"/>
              <a:t>BSP</a:t>
            </a:r>
            <a:r>
              <a:rPr lang="en-US" dirty="0"/>
              <a:t> - pin config, peripherals, clock tree</a:t>
            </a:r>
          </a:p>
          <a:p>
            <a:pPr lvl="1"/>
            <a:r>
              <a:rPr lang="en-US" b="1" dirty="0"/>
              <a:t>Libraries</a:t>
            </a:r>
            <a:r>
              <a:rPr lang="en-US" dirty="0"/>
              <a:t> - what's installed, what's available</a:t>
            </a:r>
          </a:p>
          <a:p>
            <a:pPr lvl="1"/>
            <a:r>
              <a:rPr lang="en-US" b="1" dirty="0"/>
              <a:t>Proven recipes</a:t>
            </a:r>
            <a:r>
              <a:rPr lang="en-US" dirty="0"/>
              <a:t> - validated peripheral </a:t>
            </a:r>
            <a:r>
              <a:rPr lang="en-US" dirty="0" err="1"/>
              <a:t>init</a:t>
            </a:r>
            <a:r>
              <a:rPr lang="en-US" dirty="0"/>
              <a:t>, connectivity, RTOS patterns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68D726-9867-3C34-0EDE-0C815B569DA4}"/>
              </a:ext>
            </a:extLst>
          </p:cNvPr>
          <p:cNvSpPr/>
          <p:nvPr/>
        </p:nvSpPr>
        <p:spPr bwMode="auto">
          <a:xfrm>
            <a:off x="6058434" y="2568798"/>
            <a:ext cx="61379" cy="199844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6F5B556-3B2B-FA7E-7404-12F670B460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79705" y="2630118"/>
            <a:ext cx="1957458" cy="1957458"/>
          </a:xfrm>
          <a:prstGeom prst="rect">
            <a:avLst/>
          </a:prstGeom>
          <a:effectLst>
            <a:outerShdw dir="8340000" sx="103000" sy="103000" algn="ctr" rotWithShape="0">
              <a:schemeClr val="bg1">
                <a:alpha val="56000"/>
              </a:scheme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40107410"/>
      </p:ext>
    </p:extLst>
  </p:cSld>
  <p:clrMapOvr>
    <a:masterClrMapping/>
  </p:clrMapOvr>
  <p:transition spd="slow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615C550-0CE1-8BB4-B455-2ACE5BF1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21152"/>
            <a:ext cx="4079100" cy="2701296"/>
          </a:xfrm>
          <a:prstGeom prst="rect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A1A860-3992-5639-E90E-5BF343ED0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AI-assisted project planning, creation, and enhancement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B465B9-C15D-1626-5B4A-380E744232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295400"/>
            <a:ext cx="7219765" cy="5017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69001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3D4BB1C-CFEB-EE9C-4966-D9CDCF3873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275" y="1295400"/>
            <a:ext cx="10942800" cy="51151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Example prompts (show or demo)</a:t>
            </a:r>
          </a:p>
          <a:p>
            <a:r>
              <a:rPr lang="en-US" sz="1600" dirty="0"/>
              <a:t>"Create a FreeRTOS task that reads the BMI270 accelerometer over I2C and prints values over UART"</a:t>
            </a:r>
          </a:p>
          <a:p>
            <a:r>
              <a:rPr lang="en-US" sz="1600" dirty="0"/>
              <a:t>"Set up BLE peripheral advertising with a custom GATT service"</a:t>
            </a:r>
          </a:p>
          <a:p>
            <a:r>
              <a:rPr lang="en-US" sz="1600" dirty="0"/>
              <a:t>"What libraries are available for </a:t>
            </a:r>
            <a:r>
              <a:rPr lang="en-US" sz="1600" dirty="0" err="1"/>
              <a:t>WiFi</a:t>
            </a:r>
            <a:r>
              <a:rPr lang="en-US" sz="1600" dirty="0"/>
              <a:t> connectivity?"</a:t>
            </a:r>
          </a:p>
          <a:p>
            <a:r>
              <a:rPr lang="en-US" sz="1600" dirty="0"/>
              <a:t>"Configure DMA for SPI transfers on this board“</a:t>
            </a:r>
            <a:br>
              <a:rPr lang="en-US" sz="1600" dirty="0"/>
            </a:br>
            <a:endParaRPr lang="en-US" sz="1600" dirty="0"/>
          </a:p>
          <a:p>
            <a:pPr marL="0" indent="0">
              <a:buNone/>
            </a:pPr>
            <a:r>
              <a:rPr lang="en-US" b="1" dirty="0"/>
              <a:t>What you get</a:t>
            </a:r>
          </a:p>
          <a:p>
            <a:r>
              <a:rPr lang="en-US" sz="1600" dirty="0"/>
              <a:t>Code that compiles for </a:t>
            </a:r>
            <a:r>
              <a:rPr lang="en-US" sz="1600" b="1" dirty="0"/>
              <a:t>your specific device</a:t>
            </a:r>
            <a:endParaRPr lang="en-US" sz="1600" dirty="0"/>
          </a:p>
          <a:p>
            <a:r>
              <a:rPr lang="en-US" sz="1600" dirty="0"/>
              <a:t>Correct </a:t>
            </a:r>
            <a:r>
              <a:rPr lang="en-US" sz="1600" dirty="0" err="1"/>
              <a:t>init</a:t>
            </a:r>
            <a:r>
              <a:rPr lang="en-US" sz="1600" dirty="0"/>
              <a:t> sequences (clocks, interrupts, pin mux)</a:t>
            </a:r>
          </a:p>
          <a:p>
            <a:r>
              <a:rPr lang="en-US" sz="1600" dirty="0"/>
              <a:t>Library recommendations with install commands</a:t>
            </a:r>
          </a:p>
          <a:p>
            <a:r>
              <a:rPr lang="en-US" sz="1600" dirty="0"/>
              <a:t>Device Configurator integration when config changes are needed</a:t>
            </a:r>
            <a:br>
              <a:rPr lang="en-US" sz="1600" dirty="0"/>
            </a:br>
            <a:endParaRPr lang="en-US" sz="1600" dirty="0"/>
          </a:p>
          <a:p>
            <a:pPr marL="0" indent="0">
              <a:buNone/>
            </a:pPr>
            <a:r>
              <a:rPr lang="en-US" b="1" dirty="0"/>
              <a:t>Key messaging</a:t>
            </a:r>
          </a:p>
          <a:p>
            <a:r>
              <a:rPr lang="en-US" sz="1600" dirty="0"/>
              <a:t>Free to install from VS Code Marketplace</a:t>
            </a:r>
          </a:p>
          <a:p>
            <a:r>
              <a:rPr lang="en-US" sz="1600" dirty="0"/>
              <a:t>Works with GitHub Copilot (most common), Cursor, or Windsurf</a:t>
            </a:r>
          </a:p>
          <a:p>
            <a:r>
              <a:rPr lang="en-US" sz="1600" dirty="0"/>
              <a:t>Requires ModusToolbox™ 3.7+ and Python 3.9+</a:t>
            </a:r>
          </a:p>
          <a:p>
            <a:r>
              <a:rPr lang="en-US" sz="1600" dirty="0"/>
              <a:t>No data sent to Infineon — runs entirely local</a:t>
            </a:r>
          </a:p>
          <a:p>
            <a:r>
              <a:rPr lang="en-US" sz="1600" dirty="0"/>
              <a:t>Great demo opportunity — install takes 30 seconds, first "wow" in under a minute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7F1EC6-0398-5CAC-CD8B-20966529F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highlights and key messaging</a:t>
            </a:r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B183BF62-44E0-5E58-10BC-E4122A69477C}"/>
              </a:ext>
            </a:extLst>
          </p:cNvPr>
          <p:cNvSpPr txBox="1">
            <a:spLocks/>
          </p:cNvSpPr>
          <p:nvPr/>
        </p:nvSpPr>
        <p:spPr>
          <a:xfrm>
            <a:off x="228600" y="4568235"/>
            <a:ext cx="5688000" cy="17033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52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 baseline="0">
                <a:solidFill>
                  <a:schemeClr val="tx1"/>
                </a:solidFill>
                <a:latin typeface="+mn-lt"/>
                <a:cs typeface="+mn-cs"/>
              </a:defRPr>
            </a:lvl6pPr>
            <a:lvl7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7pPr>
            <a:lvl8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8pPr>
            <a:lvl9pPr marL="1260000" indent="-252000" algn="l" defTabSz="576000" rtl="0" eaLnBrk="1" fontAlgn="base" hangingPunct="1">
              <a:lnSpc>
                <a:spcPct val="12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Char char="‒"/>
              <a:defRPr sz="14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endParaRPr lang="en-US" kern="0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FEB111FC-FC56-D27C-10D0-057964958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53400" y="2630118"/>
            <a:ext cx="2590800" cy="2590800"/>
          </a:xfrm>
          <a:prstGeom prst="rect">
            <a:avLst/>
          </a:prstGeom>
          <a:effectLst>
            <a:outerShdw dir="8340000" sx="103000" sy="103000" algn="ctr" rotWithShape="0">
              <a:schemeClr val="bg1">
                <a:alpha val="5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235612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87B8D-6092-3540-5A89-248B81854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9C53F-4571-B3B7-FEA2-E0BF285CF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the </a:t>
            </a:r>
            <a:br>
              <a:rPr lang="en-US" dirty="0"/>
            </a:br>
            <a:r>
              <a:rPr lang="en-US" dirty="0"/>
              <a:t>upcoming ModusToolbox™ SDK	</a:t>
            </a:r>
          </a:p>
        </p:txBody>
      </p:sp>
    </p:spTree>
    <p:extLst>
      <p:ext uri="{BB962C8B-B14F-4D97-AF65-F5344CB8AC3E}">
        <p14:creationId xmlns:p14="http://schemas.microsoft.com/office/powerpoint/2010/main" val="6544604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A08EE-C170-B5FB-F952-D23B92BF8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B8783C92-82D6-E8CD-AD37-9129590E2AA3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881728783"/>
              </p:ext>
            </p:extLst>
          </p:nvPr>
        </p:nvGraphicFramePr>
        <p:xfrm>
          <a:off x="509422" y="1371600"/>
          <a:ext cx="11171568" cy="4309760"/>
        </p:xfrm>
        <a:graphic>
          <a:graphicData uri="http://schemas.openxmlformats.org/drawingml/2006/table">
            <a:tbl>
              <a:tblPr firstRow="1" firstCol="1" bandCol="1">
                <a:tableStyleId>{B301B821-A1FF-4177-AEE7-76D212191A09}</a:tableStyleId>
              </a:tblPr>
              <a:tblGrid>
                <a:gridCol w="2005178">
                  <a:extLst>
                    <a:ext uri="{9D8B030D-6E8A-4147-A177-3AD203B41FA5}">
                      <a16:colId xmlns:a16="http://schemas.microsoft.com/office/drawing/2014/main" val="370170148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67143480"/>
                    </a:ext>
                  </a:extLst>
                </a:gridCol>
                <a:gridCol w="4746790">
                  <a:extLst>
                    <a:ext uri="{9D8B030D-6E8A-4147-A177-3AD203B41FA5}">
                      <a16:colId xmlns:a16="http://schemas.microsoft.com/office/drawing/2014/main" val="1076234535"/>
                    </a:ext>
                  </a:extLst>
                </a:gridCol>
              </a:tblGrid>
              <a:tr h="17728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endParaRPr lang="en-US" sz="17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3892" marR="73892" marT="36946" marB="36946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effectLst/>
                        </a:rPr>
                        <a:t>Current Model</a:t>
                      </a:r>
                      <a:endParaRPr lang="en-US" sz="17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3892" marR="73892" marT="36946" marB="36946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effectLst/>
                        </a:rPr>
                        <a:t>SDK Model</a:t>
                      </a:r>
                      <a:endParaRPr lang="en-US" sz="17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3892" marR="73892" marT="36946" marB="36946"/>
                </a:tc>
                <a:extLst>
                  <a:ext uri="{0D108BD9-81ED-4DB2-BD59-A6C34878D82A}">
                    <a16:rowId xmlns:a16="http://schemas.microsoft.com/office/drawing/2014/main" val="976140038"/>
                  </a:ext>
                </a:extLst>
              </a:tr>
              <a:tr h="3497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Project creation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BSP → CE → download manifests → clone from GitHub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BSP → CE → SDK → copy from local install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001053425"/>
                  </a:ext>
                </a:extLst>
              </a:tr>
              <a:tr h="3497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Dependencies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.</a:t>
                      </a:r>
                      <a:r>
                        <a:rPr lang="en-US" sz="1800" dirty="0" err="1">
                          <a:solidFill>
                            <a:srgbClr val="0A8276"/>
                          </a:solidFill>
                          <a:effectLst/>
                        </a:rPr>
                        <a:t>mtb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 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pointers in 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deps/</a:t>
                      </a:r>
                      <a:b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Stored in </a:t>
                      </a:r>
                      <a:r>
                        <a:rPr lang="en-US" sz="1800" dirty="0" err="1">
                          <a:solidFill>
                            <a:srgbClr val="0A8276"/>
                          </a:solidFill>
                          <a:effectLst/>
                        </a:rPr>
                        <a:t>mtb_shared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/ 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via 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make </a:t>
                      </a:r>
                      <a:r>
                        <a:rPr lang="en-US" sz="1800" dirty="0" err="1">
                          <a:solidFill>
                            <a:srgbClr val="0A8276"/>
                          </a:solidFill>
                          <a:effectLst/>
                        </a:rPr>
                        <a:t>getlibs</a:t>
                      </a:r>
                      <a:endParaRPr lang="en-US" sz="1800" dirty="0">
                        <a:solidFill>
                          <a:srgbClr val="0A8276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No 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.</a:t>
                      </a:r>
                      <a:r>
                        <a:rPr lang="en-US" sz="1800" dirty="0" err="1">
                          <a:solidFill>
                            <a:srgbClr val="0A8276"/>
                          </a:solidFill>
                          <a:effectLst/>
                        </a:rPr>
                        <a:t>mtb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, no 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deps/, 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no </a:t>
                      </a:r>
                      <a:r>
                        <a:rPr lang="en-US" sz="1800" dirty="0" err="1">
                          <a:solidFill>
                            <a:srgbClr val="0A8276"/>
                          </a:solidFill>
                          <a:effectLst/>
                        </a:rPr>
                        <a:t>mtb_shared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/ </a:t>
                      </a:r>
                      <a:b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</a:b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libraries in project 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libs/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473874141"/>
                  </a:ext>
                </a:extLst>
              </a:tr>
              <a:tr h="3497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Versioning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Each library versioned independently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User verifies compatibility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All library versions locked to SDK version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50194260"/>
                  </a:ext>
                </a:extLst>
              </a:tr>
              <a:tr h="316024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Middleware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Shared, read-only in </a:t>
                      </a:r>
                      <a:r>
                        <a:rPr lang="en-US" sz="1800" dirty="0" err="1">
                          <a:solidFill>
                            <a:srgbClr val="0A8276"/>
                          </a:solidFill>
                          <a:effectLst/>
                        </a:rPr>
                        <a:t>mtb_shared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/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Local to project, editable directly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4205317122"/>
                  </a:ext>
                </a:extLst>
              </a:tr>
              <a:tr h="593508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Offline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GitHub required for every make 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getlibs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Fully offline after SDK install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811971333"/>
                  </a:ext>
                </a:extLst>
              </a:tr>
              <a:tr h="45476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Portability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Recipient must 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make </a:t>
                      </a:r>
                      <a:r>
                        <a:rPr lang="en-US" sz="1800" dirty="0" err="1">
                          <a:solidFill>
                            <a:srgbClr val="0A8276"/>
                          </a:solidFill>
                          <a:effectLst/>
                        </a:rPr>
                        <a:t>getlibs</a:t>
                      </a:r>
                      <a:r>
                        <a:rPr lang="en-US" sz="1800" dirty="0">
                          <a:solidFill>
                            <a:srgbClr val="0A8276"/>
                          </a:solidFill>
                          <a:effectLst/>
                        </a:rPr>
                        <a:t> 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to reconstruct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App is self-contained and shareable as-is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364480130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F752B5BB-D1A3-7B82-5553-EDC3ED913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the development model is evolving</a:t>
            </a:r>
          </a:p>
        </p:txBody>
      </p:sp>
    </p:spTree>
    <p:extLst>
      <p:ext uri="{BB962C8B-B14F-4D97-AF65-F5344CB8AC3E}">
        <p14:creationId xmlns:p14="http://schemas.microsoft.com/office/powerpoint/2010/main" val="32121151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3"/>
          <p:cNvSpPr>
            <a:spLocks noChangeArrowheads="1"/>
          </p:cNvSpPr>
          <p:nvPr/>
        </p:nvSpPr>
        <p:spPr bwMode="auto">
          <a:xfrm>
            <a:off x="8229600" y="1078795"/>
            <a:ext cx="2788180" cy="36576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360000" tIns="0" rIns="0" bIns="0" anchor="ctr"/>
          <a:lstStyle/>
          <a:p>
            <a:pPr marL="359991" indent="-359991" algn="ctr" eaLnBrk="0" hangingPunct="0">
              <a:spcAft>
                <a:spcPts val="1600"/>
              </a:spcAft>
              <a:buClr>
                <a:schemeClr val="bg1"/>
              </a:buClr>
            </a:pPr>
            <a:r>
              <a:rPr lang="en-US" sz="1800" b="1" dirty="0">
                <a:solidFill>
                  <a:srgbClr val="0A8276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ModusToolbox™</a:t>
            </a:r>
          </a:p>
          <a:p>
            <a:pPr marL="359991" indent="-359991" algn="ctr" eaLnBrk="0" hangingPunct="0">
              <a:spcAft>
                <a:spcPts val="1600"/>
              </a:spcAft>
              <a:buClr>
                <a:schemeClr val="bg1"/>
              </a:buClr>
            </a:pPr>
            <a:r>
              <a:rPr lang="en-US" sz="1800" b="1" dirty="0">
                <a:solidFill>
                  <a:srgbClr val="0A8276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SDK</a:t>
            </a:r>
          </a:p>
        </p:txBody>
      </p:sp>
      <p:sp>
        <p:nvSpPr>
          <p:cNvPr id="2" name="Richtungspfeil 1"/>
          <p:cNvSpPr/>
          <p:nvPr/>
        </p:nvSpPr>
        <p:spPr>
          <a:xfrm>
            <a:off x="2991739" y="1219788"/>
            <a:ext cx="5695061" cy="587166"/>
          </a:xfrm>
          <a:prstGeom prst="homePlate">
            <a:avLst>
              <a:gd name="adj" fmla="val 26607"/>
            </a:avLst>
          </a:prstGeom>
          <a:solidFill>
            <a:schemeClr val="bg1"/>
          </a:solidFill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sz="1600" dirty="0">
                <a:latin typeface="+mn-lt"/>
              </a:rPr>
              <a:t>All supported boards, tested versions</a:t>
            </a:r>
          </a:p>
        </p:txBody>
      </p:sp>
      <p:sp>
        <p:nvSpPr>
          <p:cNvPr id="7171" name="Rectangle 4"/>
          <p:cNvSpPr>
            <a:spLocks noChangeArrowheads="1"/>
          </p:cNvSpPr>
          <p:nvPr/>
        </p:nvSpPr>
        <p:spPr bwMode="auto">
          <a:xfrm>
            <a:off x="811572" y="1219626"/>
            <a:ext cx="2027766" cy="587166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BSPs</a:t>
            </a:r>
          </a:p>
        </p:txBody>
      </p:sp>
      <p:sp>
        <p:nvSpPr>
          <p:cNvPr id="20" name="Rectangle 4"/>
          <p:cNvSpPr>
            <a:spLocks noChangeArrowheads="1"/>
          </p:cNvSpPr>
          <p:nvPr/>
        </p:nvSpPr>
        <p:spPr bwMode="auto">
          <a:xfrm>
            <a:off x="811572" y="1917770"/>
            <a:ext cx="2027124" cy="587166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Middleware</a:t>
            </a:r>
          </a:p>
        </p:txBody>
      </p:sp>
      <p:sp>
        <p:nvSpPr>
          <p:cNvPr id="21" name="Rectangle 4"/>
          <p:cNvSpPr>
            <a:spLocks noChangeArrowheads="1"/>
          </p:cNvSpPr>
          <p:nvPr/>
        </p:nvSpPr>
        <p:spPr bwMode="auto">
          <a:xfrm>
            <a:off x="812214" y="2615914"/>
            <a:ext cx="2027124" cy="587166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Tools</a:t>
            </a:r>
          </a:p>
        </p:txBody>
      </p:sp>
      <p:sp>
        <p:nvSpPr>
          <p:cNvPr id="30" name="Richtungspfeil 29"/>
          <p:cNvSpPr/>
          <p:nvPr/>
        </p:nvSpPr>
        <p:spPr>
          <a:xfrm>
            <a:off x="2991739" y="1916900"/>
            <a:ext cx="5695061" cy="587166"/>
          </a:xfrm>
          <a:prstGeom prst="homePlate">
            <a:avLst>
              <a:gd name="adj" fmla="val 26607"/>
            </a:avLst>
          </a:prstGeom>
          <a:solidFill>
            <a:schemeClr val="bg1"/>
          </a:solidFill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sz="1600" dirty="0">
                <a:latin typeface="+mn-lt"/>
              </a:rPr>
              <a:t>PDL, Retarget-IO, Machine Learning,</a:t>
            </a:r>
            <a:br>
              <a:rPr lang="en-US" sz="1600" dirty="0">
                <a:latin typeface="+mn-lt"/>
              </a:rPr>
            </a:br>
            <a:r>
              <a:rPr lang="en-US" sz="1600" dirty="0">
                <a:latin typeface="+mn-lt"/>
              </a:rPr>
              <a:t>Motor Control, FreeRTOS, ...</a:t>
            </a:r>
          </a:p>
        </p:txBody>
      </p:sp>
      <p:sp>
        <p:nvSpPr>
          <p:cNvPr id="31" name="Richtungspfeil 30"/>
          <p:cNvSpPr/>
          <p:nvPr/>
        </p:nvSpPr>
        <p:spPr>
          <a:xfrm>
            <a:off x="2991739" y="2614012"/>
            <a:ext cx="5695061" cy="587166"/>
          </a:xfrm>
          <a:prstGeom prst="homePlate">
            <a:avLst>
              <a:gd name="adj" fmla="val 26607"/>
            </a:avLst>
          </a:prstGeom>
          <a:solidFill>
            <a:schemeClr val="bg1"/>
          </a:solidFill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sz="1600" dirty="0">
                <a:latin typeface="+mn-lt"/>
              </a:rPr>
              <a:t>Device Configurator, Library Manager, </a:t>
            </a:r>
            <a:br>
              <a:rPr lang="en-US" sz="1600" dirty="0">
                <a:latin typeface="+mn-lt"/>
              </a:rPr>
            </a:br>
            <a:r>
              <a:rPr lang="en-US" sz="1600" dirty="0">
                <a:latin typeface="+mn-lt"/>
              </a:rPr>
              <a:t>CAPSENSE Configurator, Build system...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486D966-E344-CD9C-C6B0-8498685FA1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2214" y="5034880"/>
            <a:ext cx="10434166" cy="1263943"/>
          </a:xfrm>
        </p:spPr>
        <p:txBody>
          <a:bodyPr/>
          <a:lstStyle/>
          <a:p>
            <a:r>
              <a:rPr lang="en-US" sz="1600" b="1" dirty="0"/>
              <a:t>Predictability</a:t>
            </a:r>
            <a:r>
              <a:rPr lang="en-US" sz="1600" dirty="0"/>
              <a:t> — "I'm using SDK v1.2" tells support everything they need to know</a:t>
            </a:r>
          </a:p>
          <a:p>
            <a:r>
              <a:rPr lang="en-US" sz="1600" b="1" dirty="0"/>
              <a:t>Tested together</a:t>
            </a:r>
            <a:r>
              <a:rPr lang="en-US" sz="1600" dirty="0"/>
              <a:t> — Infineon validates the full combination before release</a:t>
            </a:r>
          </a:p>
          <a:p>
            <a:r>
              <a:rPr lang="en-US" sz="1600" b="1" dirty="0"/>
              <a:t>Self-contained</a:t>
            </a:r>
            <a:r>
              <a:rPr lang="en-US" sz="1600" dirty="0"/>
              <a:t> — applications include all middleware; no external </a:t>
            </a:r>
            <a:r>
              <a:rPr lang="en-US" sz="1600" dirty="0" err="1"/>
              <a:t>mtb_shared</a:t>
            </a:r>
            <a:r>
              <a:rPr lang="en-US" sz="1600" dirty="0"/>
              <a:t>/ dependency</a:t>
            </a:r>
          </a:p>
          <a:p>
            <a:r>
              <a:rPr lang="en-US" sz="1600" b="1" dirty="0"/>
              <a:t>Simpler upgrades</a:t>
            </a:r>
            <a:r>
              <a:rPr lang="en-US" sz="1600" dirty="0"/>
              <a:t> — bump one SDK version instead of updating 15 libraries individually</a:t>
            </a:r>
          </a:p>
        </p:txBody>
      </p:sp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What the SDK provides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FE32463E-955D-51B7-621C-DE2BBFC846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214" y="3314058"/>
            <a:ext cx="2027124" cy="587166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Code Examples</a:t>
            </a:r>
          </a:p>
        </p:txBody>
      </p:sp>
      <p:sp>
        <p:nvSpPr>
          <p:cNvPr id="7" name="Richtungspfeil 30">
            <a:extLst>
              <a:ext uri="{FF2B5EF4-FFF2-40B4-BE49-F238E27FC236}">
                <a16:creationId xmlns:a16="http://schemas.microsoft.com/office/drawing/2014/main" id="{A95523D1-F284-BDB7-EC2C-03E4EE26E78A}"/>
              </a:ext>
            </a:extLst>
          </p:cNvPr>
          <p:cNvSpPr/>
          <p:nvPr/>
        </p:nvSpPr>
        <p:spPr>
          <a:xfrm>
            <a:off x="2991739" y="3311124"/>
            <a:ext cx="5695061" cy="587166"/>
          </a:xfrm>
          <a:prstGeom prst="homePlate">
            <a:avLst>
              <a:gd name="adj" fmla="val 26607"/>
            </a:avLst>
          </a:prstGeom>
          <a:solidFill>
            <a:schemeClr val="bg1"/>
          </a:solidFill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sz="1600" dirty="0">
                <a:latin typeface="+mn-lt"/>
              </a:rPr>
              <a:t>Reference projects aligned specifically with </a:t>
            </a:r>
            <a:br>
              <a:rPr lang="en-US" sz="1600" dirty="0">
                <a:latin typeface="+mn-lt"/>
              </a:rPr>
            </a:br>
            <a:r>
              <a:rPr lang="en-US" sz="1600" dirty="0">
                <a:latin typeface="+mn-lt"/>
              </a:rPr>
              <a:t>included middleware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3714DFD5-BDF5-7746-3D5C-8083D4B1F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214" y="4012201"/>
            <a:ext cx="2027124" cy="587166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144000" tIns="48000" rIns="48000" bIns="48000" anchor="ctr" anchorCtr="0"/>
          <a:lstStyle/>
          <a:p>
            <a:pPr eaLnBrk="0" hangingPunct="0">
              <a:spcAft>
                <a:spcPts val="1600"/>
              </a:spcAft>
              <a:buClr>
                <a:schemeClr val="accent1"/>
              </a:buClr>
              <a:tabLst>
                <a:tab pos="11361983" algn="r"/>
              </a:tabLst>
            </a:pPr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Documentation</a:t>
            </a:r>
          </a:p>
        </p:txBody>
      </p:sp>
      <p:sp>
        <p:nvSpPr>
          <p:cNvPr id="9" name="Richtungspfeil 30">
            <a:extLst>
              <a:ext uri="{FF2B5EF4-FFF2-40B4-BE49-F238E27FC236}">
                <a16:creationId xmlns:a16="http://schemas.microsoft.com/office/drawing/2014/main" id="{674C5528-3A99-47EE-E62C-176521F67ED9}"/>
              </a:ext>
            </a:extLst>
          </p:cNvPr>
          <p:cNvSpPr/>
          <p:nvPr/>
        </p:nvSpPr>
        <p:spPr>
          <a:xfrm>
            <a:off x="2991739" y="4008236"/>
            <a:ext cx="5695061" cy="587166"/>
          </a:xfrm>
          <a:prstGeom prst="homePlate">
            <a:avLst>
              <a:gd name="adj" fmla="val 26607"/>
            </a:avLst>
          </a:prstGeom>
          <a:solidFill>
            <a:schemeClr val="bg1"/>
          </a:solidFill>
          <a:ln w="9525">
            <a:solidFill>
              <a:schemeClr val="bg2"/>
            </a:solidFill>
          </a:ln>
        </p:spPr>
        <p:txBody>
          <a:bodyPr vert="horz" lIns="72000" tIns="72000" rIns="72000" bIns="72000" rtlCol="0" anchor="ctr">
            <a:noAutofit/>
          </a:bodyPr>
          <a:lstStyle/>
          <a:p>
            <a:pPr marL="252000" indent="-252000" defTabSz="576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</a:pPr>
            <a:r>
              <a:rPr lang="en-US" sz="1600" dirty="0">
                <a:latin typeface="+mn-lt"/>
              </a:rPr>
              <a:t>Release notes, user guides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39319324"/>
      </p:ext>
    </p:extLst>
  </p:cSld>
  <p:clrMapOvr>
    <a:masterClrMapping/>
  </p:clrMapOvr>
  <p:transition spd="slow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C7C712-0DBD-9F78-2A8F-192F4D6EED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4800" y="5735920"/>
            <a:ext cx="11520000" cy="762000"/>
          </a:xfrm>
        </p:spPr>
        <p:txBody>
          <a:bodyPr/>
          <a:lstStyle/>
          <a:p>
            <a:r>
              <a:rPr lang="en-US" sz="1600" b="1" dirty="0"/>
              <a:t>What doesn't change:</a:t>
            </a:r>
            <a:endParaRPr lang="en-US" sz="1600" dirty="0"/>
          </a:p>
          <a:p>
            <a:pPr lvl="1"/>
            <a:r>
              <a:rPr lang="en-US" sz="1400" dirty="0" err="1"/>
              <a:t>Makefile</a:t>
            </a:r>
            <a:r>
              <a:rPr lang="en-US" sz="1400" dirty="0"/>
              <a:t> structure and build commands (make build, make program)</a:t>
            </a:r>
          </a:p>
          <a:p>
            <a:pPr lvl="1"/>
            <a:r>
              <a:rPr lang="en-US" sz="1400" dirty="0"/>
              <a:t>Device Configurator workflow and BSP customization workflow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056BFE-077E-DC08-CB2B-69959D6FA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changes for you and your customers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6674A8-1267-4993-E8C3-32431E0E1E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583164"/>
              </p:ext>
            </p:extLst>
          </p:nvPr>
        </p:nvGraphicFramePr>
        <p:xfrm>
          <a:off x="334314" y="1066800"/>
          <a:ext cx="11520486" cy="4617720"/>
        </p:xfrm>
        <a:graphic>
          <a:graphicData uri="http://schemas.openxmlformats.org/drawingml/2006/table">
            <a:tbl>
              <a:tblPr firstRow="1" firstCol="1" bandCol="1">
                <a:tableStyleId>{B301B821-A1FF-4177-AEE7-76D212191A09}</a:tableStyleId>
              </a:tblPr>
              <a:tblGrid>
                <a:gridCol w="2256486">
                  <a:extLst>
                    <a:ext uri="{9D8B030D-6E8A-4147-A177-3AD203B41FA5}">
                      <a16:colId xmlns:a16="http://schemas.microsoft.com/office/drawing/2014/main" val="3227276895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60518769"/>
                    </a:ext>
                  </a:extLst>
                </a:gridCol>
                <a:gridCol w="4920600">
                  <a:extLst>
                    <a:ext uri="{9D8B030D-6E8A-4147-A177-3AD203B41FA5}">
                      <a16:colId xmlns:a16="http://schemas.microsoft.com/office/drawing/2014/main" val="4223407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Workflow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Current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  <a:effectLst/>
                        </a:rPr>
                        <a:t>With SDK</a:t>
                      </a:r>
                      <a:endParaRPr lang="en-US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4076104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Creating a project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  <a:latin typeface="+mn-lt"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BSP → CE → download manifests →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clone from GitHub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BSP → CE → SDK → copy from local install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725112428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Project structure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  <a:latin typeface="+mn-lt"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deps/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+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mtb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files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libs/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 = transitive pointers 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mtb_shared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/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deps/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 and </a:t>
                      </a: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mtb_shared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/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gone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libs/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= real source 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bsps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 → </a:t>
                      </a: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bsp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/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169871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Library versions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  <a:latin typeface="+mn-lt"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Add, remove, update individually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via Library Manager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Add/remove within SDK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Version changes require SDK upgrade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223879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Version control</a:t>
                      </a:r>
                      <a:endParaRPr lang="en-US" sz="1600">
                        <a:solidFill>
                          <a:srgbClr val="222222"/>
                        </a:solidFill>
                        <a:effectLst/>
                        <a:latin typeface="+mn-lt"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Commit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mtb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pointers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mtb_shared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/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not committed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Commit middleware source directly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App is self-contained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220457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Sharing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  <a:latin typeface="+mn-lt"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Recipient must 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make </a:t>
                      </a:r>
                      <a:r>
                        <a:rPr lang="en-US" sz="1600" dirty="0" err="1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getlibs</a:t>
                      </a:r>
                      <a:r>
                        <a:rPr lang="en-US" sz="1600" dirty="0">
                          <a:solidFill>
                            <a:srgbClr val="0A8276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to </a:t>
                      </a:r>
                      <a:b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reconstruct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App includes everything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SDK needed only for tools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217841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b="1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Middleware ownership</a:t>
                      </a:r>
                      <a:endParaRPr lang="en-US" sz="1600" dirty="0">
                        <a:solidFill>
                          <a:srgbClr val="222222"/>
                        </a:solidFill>
                        <a:effectLst/>
                        <a:latin typeface="+mn-lt"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Shared in </a:t>
                      </a:r>
                      <a:r>
                        <a:rPr lang="en-US" sz="1600" dirty="0" err="1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mtb_shared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/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not typically edited</a:t>
                      </a: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Local and editable in libs/</a:t>
                      </a:r>
                    </a:p>
                    <a:p>
                      <a:pPr algn="l" rtl="0" fontAlgn="t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effectLst/>
                          <a:latin typeface="+mn-lt"/>
                        </a:rPr>
                        <a:t>SDK detects changes on upgrade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346523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91167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16C58BA-CC4B-C0CD-0E10-5E5803F8D55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931899486"/>
              </p:ext>
            </p:extLst>
          </p:nvPr>
        </p:nvGraphicFramePr>
        <p:xfrm>
          <a:off x="586581" y="1447800"/>
          <a:ext cx="11018837" cy="431292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959310">
                  <a:extLst>
                    <a:ext uri="{9D8B030D-6E8A-4147-A177-3AD203B41FA5}">
                      <a16:colId xmlns:a16="http://schemas.microsoft.com/office/drawing/2014/main" val="2584618498"/>
                    </a:ext>
                  </a:extLst>
                </a:gridCol>
                <a:gridCol w="8059527">
                  <a:extLst>
                    <a:ext uri="{9D8B030D-6E8A-4147-A177-3AD203B41FA5}">
                      <a16:colId xmlns:a16="http://schemas.microsoft.com/office/drawing/2014/main" val="4179291699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Point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effectLst/>
                        </a:rPr>
                        <a:t>Detail</a:t>
                      </a:r>
                      <a:endParaRPr lang="en-US" sz="1800" b="1" dirty="0">
                        <a:solidFill>
                          <a:schemeClr val="bg1"/>
                        </a:solidFill>
                        <a:effectLst/>
                        <a:latin typeface="??"/>
                      </a:endParaRPr>
                    </a:p>
                  </a:txBody>
                  <a:tcPr marL="76200" marR="76200" marT="38100" marB="38100"/>
                </a:tc>
                <a:extLst>
                  <a:ext uri="{0D108BD9-81ED-4DB2-BD59-A6C34878D82A}">
                    <a16:rowId xmlns:a16="http://schemas.microsoft.com/office/drawing/2014/main" val="389987797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SDK = curated bundle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>
                          <a:solidFill>
                            <a:srgbClr val="222222"/>
                          </a:solidFill>
                          <a:effectLst/>
                        </a:rPr>
                        <a:t>BSPs + middleware + code examples + tools, tested as a set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4017209979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 dirty="0">
                          <a:solidFill>
                            <a:srgbClr val="222222"/>
                          </a:solidFill>
                          <a:effectLst/>
                        </a:rPr>
                        <a:t>One version number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Library versions locked to SDK; upgrade SDK to update libraries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037926982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Self-contained apps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No deps/, no 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mtb_shared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/ — middleware source lives in project libs/, editable directly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1512170541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Simplified workflow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BSP → Code Example → SDK; fully offline after install; no make </a:t>
                      </a: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getlibs</a:t>
                      </a:r>
                      <a:endParaRPr lang="en-US" sz="1800" dirty="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1198410229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Current concepts apply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 err="1">
                          <a:solidFill>
                            <a:srgbClr val="222222"/>
                          </a:solidFill>
                          <a:effectLst/>
                        </a:rPr>
                        <a:t>Makefiles</a:t>
                      </a: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, BSPs, COMPONENTS, Device Configurator all unchanged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2261745997"/>
                  </a:ext>
                </a:extLst>
              </a:tr>
              <a:tr h="624840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b="1">
                          <a:solidFill>
                            <a:srgbClr val="222222"/>
                          </a:solidFill>
                          <a:effectLst/>
                        </a:rPr>
                        <a:t>Migration supported</a:t>
                      </a:r>
                      <a:endParaRPr lang="en-US" sz="1800">
                        <a:solidFill>
                          <a:srgbClr val="222222"/>
                        </a:solidFill>
                        <a:effectLst/>
                      </a:endParaRPr>
                    </a:p>
                  </a:txBody>
                  <a:tcPr marL="182880" marR="182880" marT="91440" marB="914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effectLst/>
                        </a:rPr>
                        <a:t>Guided tooling to convert existing projects; both models coexist during transition</a:t>
                      </a:r>
                    </a:p>
                  </a:txBody>
                  <a:tcPr marL="182880" marR="182880" marT="91440" marB="91440"/>
                </a:tc>
                <a:extLst>
                  <a:ext uri="{0D108BD9-81ED-4DB2-BD59-A6C34878D82A}">
                    <a16:rowId xmlns:a16="http://schemas.microsoft.com/office/drawing/2014/main" val="1823814892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BED9958B-EAF6-0BA2-816B-60BA7540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SDK summary and key takeaways</a:t>
            </a:r>
          </a:p>
        </p:txBody>
      </p:sp>
    </p:spTree>
    <p:extLst>
      <p:ext uri="{BB962C8B-B14F-4D97-AF65-F5344CB8AC3E}">
        <p14:creationId xmlns:p14="http://schemas.microsoft.com/office/powerpoint/2010/main" val="433681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D079-D01D-24D1-E1F5-815564DE6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517B0-5807-6CBD-9B0B-333BAF584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1635885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59846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SHOW_DATE" val="False"/>
  <p:tag name="MIO_SHOW_FOOTER" val="False"/>
  <p:tag name="MIO_SHOW_PAGENUMBER" val="False"/>
  <p:tag name="MIO_CD_LAYOUT_VALID_AREA" val="False"/>
  <p:tag name="MIO_EMBED_FONT" val="False"/>
  <p:tag name="MIO_NUMBER_OF_VALID_LAYOUTS" val="20"/>
  <p:tag name="MIO_FALLBACK_LAYOUT" val="1"/>
  <p:tag name="MIO_AVOID_BLANK_LAYOUT" val="True"/>
  <p:tag name="MIO_MATCH_COLOR_SCHEME" val="False"/>
  <p:tag name="MIO_VERSION" val="19.01.2026 11:45:53"/>
  <p:tag name="MIO_LASTDOWNLOADED" val="20.01.2026 16:48:30.564"/>
  <p:tag name="MIO_CONTENTTAG" val="EiShwbTq9Uuj32IvFcNsTw=="/>
  <p:tag name="MIO_CDID" val="e2fc2f9e-d5cf-4311-b3a1-0559b8fd1ab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GENDA_ELEMENTNAME" val="MIO_AGENDA_OVERVIEW_SLIDE"/>
  <p:tag name="MIO_AGENDA_OVERVIEW_SLIDE_ONLY" val="True"/>
  <p:tag name="MIO_AGENDA_AGENDAPOINT_XML_TAG" val="&lt;?xml version=&quot;1.0&quot; encoding=&quot;utf-16&quot;?&gt;&#10;&lt;ArrayOfAgendaPointElement xmlns:xsd=&quot;http://www.w3.org/2001/XMLSchema&quot; xmlns:xsi=&quot;http://www.w3.org/2001/XMLSchema-instance&quot;&gt;&#10;  &lt;AgendaPointElement&gt;&#10;    &lt;ElementName&gt;Working Effectively with Version Control &amp;amp; Git&lt;/ElementName&gt;&#10;    &lt;Duration /&gt;&#10;    &lt;SpeakerName /&gt;&#10;    &lt;NumberString&gt;1&lt;/NumberString&gt;&#10;    &lt;ExplicitLevel&gt;1&lt;/ExplicitLevel&gt;&#10;    &lt;SubItems /&gt;&#10;    &lt;LevelIndex&gt;0&lt;/LevelIndex&gt;&#10;  &lt;/AgendaPointElement&gt;&#10;  &lt;AgendaPointElement&gt;&#10;    &lt;ElementName&gt;Sharing, Importing &amp;amp; Exporting Projects&lt;/ElementName&gt;&#10;    &lt;Duration /&gt;&#10;    &lt;SpeakerName /&gt;&#10;    &lt;NumberString&gt;2&lt;/NumberString&gt;&#10;    &lt;ExplicitLevel&gt;1&lt;/ExplicitLevel&gt;&#10;    &lt;SubItems /&gt;&#10;    &lt;LevelIndex&gt;0&lt;/LevelIndex&gt;&#10;  &lt;/AgendaPointElement&gt;&#10;  &lt;AgendaPointElement&gt;&#10;    &lt;ElementName&gt;Understanding the ModusToolbox™ BSP Concept&lt;/ElementName&gt;&#10;    &lt;Duration /&gt;&#10;    &lt;SpeakerName /&gt;&#10;    &lt;NumberString&gt;3&lt;/NumberString&gt;&#10;    &lt;ExplicitLevel&gt;1&lt;/ExplicitLevel&gt;&#10;    &lt;SubItems /&gt;&#10;    &lt;LevelIndex&gt;0&lt;/LevelIndex&gt;&#10;  &lt;/AgendaPointElement&gt;&#10;  &lt;AgendaPointElement&gt;&#10;    &lt;ElementName&gt;Workflows to Develop &amp;amp; Utilize a Custom BSP&lt;/ElementName&gt;&#10;    &lt;Duration /&gt;&#10;    &lt;SpeakerName /&gt;&#10;    &lt;NumberString&gt;4&lt;/NumberString&gt;&#10;    &lt;ExplicitLevel&gt;1&lt;/ExplicitLevel&gt;&#10;    &lt;SubItems /&gt;&#10;    &lt;LevelIndex&gt;0&lt;/LevelIndex&gt;&#10;  &lt;/AgendaPointElement&gt;&#10;  &lt;AgendaPointElement&gt;&#10;    &lt;ElementName&gt;Middleware Integration — Library Manager &amp;amp; Makefiles&lt;/ElementName&gt;&#10;    &lt;Duration /&gt;&#10;    &lt;SpeakerName /&gt;&#10;    &lt;NumberString&gt;5&lt;/NumberString&gt;&#10;    &lt;ExplicitLevel&gt;1&lt;/ExplicitLevel&gt;&#10;    &lt;SubItems /&gt;&#10;    &lt;LevelIndex&gt;0&lt;/LevelIndex&gt;&#10;  &lt;/AgendaPointElement&gt;&#10;  &lt;AgendaPointElement&gt;&#10;    &lt;ElementName&gt;ModusToolbox™ AI Assistant extension for VS Code&lt;/ElementName&gt;&#10;    &lt;NumberString&gt;6&lt;/NumberString&gt;&#10;    &lt;ExplicitLevel&gt;1&lt;/ExplicitLevel&gt;&#10;    &lt;SubItems /&gt;&#10;    &lt;LevelIndex&gt;0&lt;/LevelIndex&gt;&#10;  &lt;/AgendaPointElement&gt;&#10;  &lt;AgendaPointElement&gt;&#10;    &lt;ElementName&gt;Introduction to the Upcoming ModusToolbox™ SDK&lt;/ElementName&gt;&#10;    &lt;Duration /&gt;&#10;    &lt;SpeakerName /&gt;&#10;    &lt;NumberString&gt;7&lt;/NumberString&gt;&#10;    &lt;ExplicitLevel&gt;1&lt;/ExplicitLevel&gt;&#10;    &lt;SubItems /&gt;&#10;    &lt;LevelIndex&gt;0&lt;/LevelIndex&gt;&#10;  &lt;/AgendaPointElement&gt;&#10;  &lt;AgendaPointElement&gt;&#10;    &lt;ElementName&gt;Q&amp;amp;A&lt;/ElementName&gt;&#10;    &lt;Duration /&gt;&#10;    &lt;SpeakerName /&gt;&#10;    &lt;NumberString&gt;8&lt;/NumberString&gt;&#10;    &lt;ExplicitLevel&gt;1&lt;/ExplicitLevel&gt;&#10;    &lt;SubItems /&gt;&#10;    &lt;LevelIndex&gt;0&lt;/LevelIndex&gt;&#10;  &lt;/AgendaPointElement&gt;&#10;&lt;/ArrayOfAgendaPointElement&gt;"/>
  <p:tag name="MIO_AGENDA_SHOW_SUBITEMS_LEVEL2_TAG" val="True"/>
  <p:tag name="MIO_AGENDA_SCALEMODE_FIT_TO_SLIDE_TAG" val="True"/>
  <p:tag name="MIO_EKGUID" val="d9b0a732-6d6c-4fe3-b9e8-6a4a78dae162"/>
  <p:tag name="MIO_GUID" val="5fd00f73-780f-43b9-b03e-95f3ef1ba6b4"/>
  <p:tag name="MIO_VERSION" val="31.12.9999 23:59:59"/>
  <p:tag name="MIO_DBID" val="fde84254-54db-49e3-9a0e-cde72035d530"/>
  <p:tag name="MIO_LASTDOWNLOADED" val="13.10.2026 13:21:19.277"/>
  <p:tag name="MIO_UPDATE" val="Fals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TITL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_NUMBER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_NUMB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_NUMBER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_NUMBER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_NUMBER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_NUMBER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_NUMBER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HAPETYPES_AGENDA" val="MIO_AGENDA_FIRSTELEMENT_NUMBER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1be72a67-83c7-4ef1-96d5-05d143e9dd74"/>
  <p:tag name="MIO_EKGUID" val="f333e15d-dc4a-4c6e-9c43-a644eaf08ee6"/>
  <p:tag name="MIO_UPDATE" val="True"/>
  <p:tag name="MIO_VERSION" val="09.03.2023 11:26:25"/>
  <p:tag name="MIO_DBID" val="FDE84254-54DB-49E3-9A0E-CDE72035D530"/>
  <p:tag name="MIO_LASTDOWNLOADED" val="16.04.2026 13:56:09.072"/>
  <p:tag name="MIO_OBJECTNAME" val="Process infographic – horizontal"/>
  <p:tag name="MIO_CONTENTTAG" val="gqhRskAkKEecCJsBFqpt7X10uzqKHvFGrTjPnyX1Y+c="/>
  <p:tag name="MIO_LASTEDITORNAME" val="Verena Kohl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a4556119-6026-4702-920c-5c14b5547bba"/>
  <p:tag name="MIO_GUID" val="4cf140da-f01f-412e-b374-5d2742339b64"/>
  <p:tag name="MIO_UPDATE" val="True"/>
  <p:tag name="MIO_VERSION" val="05.03.2023 11:09:57"/>
  <p:tag name="MIO_DBID" val="FDE84254-54DB-49E3-9A0E-CDE72035D530"/>
  <p:tag name="MIO_LASTDOWNLOADED" val="16.04.2026 14:16:58.099"/>
  <p:tag name="MIO_OBJECTNAME" val="Computer"/>
  <p:tag name="MIO_CONTENTTAG" val="dIjkg9M9mEegF7TDYVA5xV/IPqFoMrJCoeEwx19hQB8="/>
  <p:tag name="MIO_LASTEDITORNAME" val="Verena Kohl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1443630d-3c0c-4156-a38c-ba0b8cdf2766"/>
  <p:tag name="MIO_GUID" val="67ec99c1-b423-4342-9f41-8ebf0f49e64d"/>
  <p:tag name="MIO_UPDATE" val="True"/>
  <p:tag name="MIO_VERSION" val="05.03.2023 11:09:44"/>
  <p:tag name="MIO_DBID" val="FDE84254-54DB-49E3-9A0E-CDE72035D530"/>
  <p:tag name="MIO_LASTDOWNLOADED" val="16.04.2026 14:16:13.751"/>
  <p:tag name="MIO_OBJECTNAME" val="Cloud"/>
  <p:tag name="MIO_CONTENTTAG" val="cT1pOJz23keBJRzWaZpB1jrG/Rhjp/9Enulyi/KX1FA="/>
  <p:tag name="MIO_LASTEDITORNAME" val="Verena Kohl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B-SLIDENAME" val="Process 4"/>
  <p:tag name="FB-CATEGORY" val="Process"/>
  <p:tag name="MIO_GUID" val="22c106f7-060c-479b-9cb6-49ee74d09713"/>
  <p:tag name="MIO_EKGUID" val="36c9f2d0-afe0-4244-ac50-fa84d445e637"/>
  <p:tag name="MIO_UPDATE" val="True"/>
  <p:tag name="MIO_VERSION" val="02.02.2026 14:42:49"/>
  <p:tag name="MIO_DBID" val="FDE84254-54DB-49E3-9A0E-CDE72035D530"/>
  <p:tag name="MIO_LASTDOWNLOADED" val="16.04.2026 14:39:11.771"/>
  <p:tag name="MIO_OBJECTNAME" val="Comparison (2)"/>
  <p:tag name="MIO_CONTENTTAG" val="gN4P5hj7OkG/FjArLthnwA=="/>
  <p:tag name="MIO_LASTEDITORNAME" val="Miguel Madeyski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25072b8-ea43-4a50-9bf6-2b8a59445465"/>
  <p:tag name="MIO_EKGUID" val="ac0ebba2-92e3-410f-b7d1-ce71302b8a47"/>
  <p:tag name="MIO_UPDATE" val="True"/>
  <p:tag name="MIO_VERSION" val="09.03.2023 11:26:21"/>
  <p:tag name="MIO_DBID" val="FDE84254-54DB-49E3-9A0E-CDE72035D530"/>
  <p:tag name="MIO_LASTDOWNLOADED" val="16.04.2026 13:42:10.430"/>
  <p:tag name="MIO_OBJECTNAME" val="Process infographic – vertical"/>
  <p:tag name="MIO_CONTENTTAG" val="+YCqXI65uEOP9Eb855HQ/ncpYP2lbn9Hs1Gdr2vDfPA="/>
  <p:tag name="MIO_LASTEDITORNAME" val="Verena Kohl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f414782c-cd95-4aba-ac42-9093a1d825d5"/>
  <p:tag name="MIO_EKGUID" val="c800f650-0fca-4819-b1d8-23257dc0893c"/>
  <p:tag name="MIO_UPDATE" val="True"/>
  <p:tag name="MIO_VERSION" val="11.02.2026 14:15:31"/>
  <p:tag name="MIO_DBID" val="FDE84254-54DB-49E3-9A0E-CDE72035D530"/>
  <p:tag name="MIO_LASTDOWNLOADED" val="16.04.2026 14:27:21.556"/>
  <p:tag name="MIO_OBJECTNAME" val="Circle (4)"/>
  <p:tag name="MIO_CONTENTTAG" val="24/pQWw0rUSo6li0mJAaEg=="/>
  <p:tag name="MIO_LASTEDITORNAME" val="Alina Raquel Grunert da Fonseca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1be72a67-83c7-4ef1-96d5-05d143e9dd74"/>
  <p:tag name="MIO_EKGUID" val="f333e15d-dc4a-4c6e-9c43-a644eaf08ee6"/>
  <p:tag name="MIO_UPDATE" val="True"/>
  <p:tag name="MIO_VERSION" val="09.03.2023 11:26:25"/>
  <p:tag name="MIO_DBID" val="FDE84254-54DB-49E3-9A0E-CDE72035D530"/>
  <p:tag name="MIO_LASTDOWNLOADED" val="16.04.2026 13:56:09.072"/>
  <p:tag name="MIO_OBJECTNAME" val="Process infographic – horizontal"/>
  <p:tag name="MIO_CONTENTTAG" val="gqhRskAkKEecCJsBFqpt7X10uzqKHvFGrTjPnyX1Y+c="/>
  <p:tag name="MIO_LASTEDITORNAME" val="Verena Kohl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d92c822b-a9f8-464b-8e0c-3a87c8de70b6"/>
  <p:tag name="MIO_GUID" val="63f3e6f3-7e90-4999-91af-150b80a5780a"/>
  <p:tag name="MIO_UPDATE" val="True"/>
  <p:tag name="MIO_VERSION" val="05.03.2023 11:09:38"/>
  <p:tag name="MIO_DBID" val="FDE84254-54DB-49E3-9A0E-CDE72035D530"/>
  <p:tag name="MIO_LASTDOWNLOADED" val="16.04.2026 14:20:43.874"/>
  <p:tag name="MIO_OBJECTNAME" val="Chip"/>
  <p:tag name="MIO_CONTENTTAG" val="YPQ+u72Qnk25mTufp+0omPc0TUVzs2BDgMREvA789ws="/>
  <p:tag name="MIO_LASTEDITORNAME" val="Verena Kohl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01c70cb8-96fa-4909-9766-e8c91b4bdc51"/>
  <p:tag name="MIO_GUID" val="a94f72c8-e3fb-4c14-8cf1-76fcbe9545b6"/>
  <p:tag name="MIO_UPDATE" val="True"/>
  <p:tag name="MIO_VERSION" val="05.03.2023 11:12:20"/>
  <p:tag name="MIO_DBID" val="FDE84254-54DB-49E3-9A0E-CDE72035D530"/>
  <p:tag name="MIO_LASTDOWNLOADED" val="16.04.2026 14:21:24.152"/>
  <p:tag name="MIO_OBJECTNAME" val="Gear wheels"/>
  <p:tag name="MIO_CONTENTTAG" val="TbGLN2aOb0GPrKbDODSXL0XYO3WF/oNAqoU9Tfk3Z04="/>
  <p:tag name="MIO_LASTEDITORNAME" val="Verena Kohl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fc349428-902d-45c4-87c4-b530a6103745"/>
  <p:tag name="MIO_GUID" val="608ec248-9c97-4ce2-a416-01fee057b76c"/>
  <p:tag name="MIO_UPDATE" val="True"/>
  <p:tag name="MIO_VERSION" val="05.03.2023 11:14:45"/>
  <p:tag name="MIO_DBID" val="FDE84254-54DB-49E3-9A0E-CDE72035D530"/>
  <p:tag name="MIO_LASTDOWNLOADED" val="16.04.2026 14:21:18.262"/>
  <p:tag name="MIO_OBJECTNAME" val="Puzzle"/>
  <p:tag name="MIO_CONTENTTAG" val="cokKvGUQ0UG3zBW25WooO8Swh1HZd2lGh/F3XmMXscQ="/>
  <p:tag name="MIO_LASTEDITORNAME" val="Verena Kohl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B-SLIDENAME" val="Development 3"/>
  <p:tag name="FB-CATEGORY" val="Process"/>
  <p:tag name="MIO_GUID" val="991c5761-3a3a-45c2-96f6-8b6da4fcd9ef"/>
  <p:tag name="MIO_EKGUID" val="a8084ea2-467a-494c-a7fc-06c95f6827fa"/>
  <p:tag name="MIO_UPDATE" val="True"/>
  <p:tag name="MIO_VERSION" val="09.03.2023 11:25:05"/>
  <p:tag name="MIO_DBID" val="FDE84254-54DB-49E3-9A0E-CDE72035D530"/>
  <p:tag name="MIO_LASTDOWNLOADED" val="16.04.2026 14:52:15.012"/>
  <p:tag name="MIO_OBJECTNAME" val="Process / Text box"/>
  <p:tag name="MIO_CONTENTTAG" val="HEcAJAFKbkWj+N9Kc81utcg6JZPn3D1PuAoQHrhwsDA="/>
  <p:tag name="MIO_LASTEDITORNAME" val="Verena Kohl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B-SLIDENAME" val="Development 3"/>
  <p:tag name="FB-CATEGORY" val="Process"/>
  <p:tag name="MIO_GUID" val="991c5761-3a3a-45c2-96f6-8b6da4fcd9ef"/>
  <p:tag name="MIO_EKGUID" val="a8084ea2-467a-494c-a7fc-06c95f6827fa"/>
  <p:tag name="MIO_UPDATE" val="True"/>
  <p:tag name="MIO_VERSION" val="09.03.2023 11:25:05"/>
  <p:tag name="MIO_DBID" val="FDE84254-54DB-49E3-9A0E-CDE72035D530"/>
  <p:tag name="MIO_LASTDOWNLOADED" val="16.04.2026 14:52:15.012"/>
  <p:tag name="MIO_OBJECTNAME" val="Process / Text box"/>
  <p:tag name="MIO_CONTENTTAG" val="HEcAJAFKbkWj+N9Kc81utcg6JZPn3D1PuAoQHrhwsDA="/>
  <p:tag name="MIO_LASTEDITORNAME" val="Verena Kohl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25072b8-ea43-4a50-9bf6-2b8a59445465"/>
  <p:tag name="MIO_EKGUID" val="ac0ebba2-92e3-410f-b7d1-ce71302b8a47"/>
  <p:tag name="MIO_UPDATE" val="True"/>
  <p:tag name="MIO_VERSION" val="09.03.2023 11:26:21"/>
  <p:tag name="MIO_DBID" val="FDE84254-54DB-49E3-9A0E-CDE72035D530"/>
  <p:tag name="MIO_LASTDOWNLOADED" val="16.04.2026 17:18:46.247"/>
  <p:tag name="MIO_OBJECTNAME" val="Process infographic – vertical"/>
  <p:tag name="MIO_CONTENTTAG" val="+YCqXI65uEOP9Eb855HQ/ncpYP2lbn9Hs1Gdr2vDfPA="/>
  <p:tag name="MIO_LASTEDITORNAME" val="Verena Kohl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4263d8d-5d4b-4827-8ab9-1c90587cd5db"/>
  <p:tag name="MIO_GUID" val="a49dec4b-da6f-488b-92d3-205209d67bef"/>
  <p:tag name="MIO_UPDATE" val="True"/>
  <p:tag name="MIO_VERSION" val="06.02.2023 10:34:47"/>
  <p:tag name="MIO_DBID" val="0F45B44C-9BC7-4D85-81C4-7155EE70A7B9"/>
  <p:tag name="MIO_LASTDOWNLOADED" val="07.02.2023 12:29:31.707"/>
  <p:tag name="MIO_OBJECTNAME" val="TextBox"/>
  <p:tag name="MIO_LASTEDITORNAME" val=" Verena Kohl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79bae7e3-3df0-48e2-a497-e5a9b494f0a3"/>
  <p:tag name="MIO_GUID" val="d8442002-df2e-491e-8040-2d839e88177f"/>
  <p:tag name="MIO_UPDATE" val="True"/>
  <p:tag name="MIO_VERSION" val="05.03.2023 11:10:43"/>
  <p:tag name="MIO_DBID" val="FDE84254-54DB-49E3-9A0E-CDE72035D530"/>
  <p:tag name="MIO_LASTDOWNLOADED" val="16.04.2026 17:21:59.877"/>
  <p:tag name="MIO_OBJECTNAME" val="Flowchart"/>
  <p:tag name="MIO_CONTENTTAG" val="9N4mPNVSkUeelnlgnJtg9Ai8RpClDoRDlk+ocac4lLA="/>
  <p:tag name="MIO_LASTEDITORNAME" val="Verena Kohl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9f6fbe94-16fc-4e2e-9ad6-ff77775a6d22"/>
  <p:tag name="MIO_GUID" val="51bb6f5a-7718-45d5-a185-6f8e56502cf6"/>
  <p:tag name="MIO_UPDATE" val="True"/>
  <p:tag name="MIO_VERSION" val="05.03.2023 11:09:26"/>
  <p:tag name="MIO_DBID" val="FDE84254-54DB-49E3-9A0E-CDE72035D530"/>
  <p:tag name="MIO_LASTDOWNLOADED" val="16.04.2026 17:21:32.866"/>
  <p:tag name="MIO_OBJECTNAME" val="Change"/>
  <p:tag name="MIO_CONTENTTAG" val="YT3qx3O7jUiXztmorN/so7zw8Fku649HviujhTrm25c="/>
  <p:tag name="MIO_LASTEDITORNAME" val="Verena Kohl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5d81623d-4be4-4c88-a322-d69cf8cea1c7"/>
  <p:tag name="MIO_GUID" val="535822b0-5eee-4657-8154-97df653c4269"/>
  <p:tag name="MIO_UPDATE" val="True"/>
  <p:tag name="MIO_VERSION" val="05.03.2023 11:09:35"/>
  <p:tag name="MIO_DBID" val="FDE84254-54DB-49E3-9A0E-CDE72035D530"/>
  <p:tag name="MIO_LASTDOWNLOADED" val="16.04.2026 17:20:57.670"/>
  <p:tag name="MIO_OBJECTNAME" val="Check"/>
  <p:tag name="MIO_CONTENTTAG" val="Uy1sT8x3ukWq/Ks1wS5r4fk7h/99lY1Ilaa6jF2N76w="/>
  <p:tag name="MIO_LASTEDITORNAME" val="Verena Kohl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B-SLIDENAME" val="Process 4"/>
  <p:tag name="FB-CATEGORY" val="Process"/>
  <p:tag name="MIO_GUID" val="22c106f7-060c-479b-9cb6-49ee74d09713"/>
  <p:tag name="MIO_EKGUID" val="36c9f2d0-afe0-4244-ac50-fa84d445e637"/>
  <p:tag name="MIO_UPDATE" val="True"/>
  <p:tag name="MIO_VERSION" val="02.02.2026 14:42:49"/>
  <p:tag name="MIO_DBID" val="FDE84254-54DB-49E3-9A0E-CDE72035D530"/>
  <p:tag name="MIO_LASTDOWNLOADED" val="05.08.2026 21:44:11.907"/>
  <p:tag name="MIO_OBJECTNAME" val="Comparison (2)"/>
  <p:tag name="MIO_CONTENTTAG" val="gN4P5hj7OkG/FjArLthnwA=="/>
  <p:tag name="MIO_LASTEDITORNAME" val="Miguel Madeyski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B-SLIDENAME" val="Process 3"/>
  <p:tag name="FB-CATEGORY" val="Process"/>
  <p:tag name="MIO_GUID" val="b1fbc4a0-3d78-4bcd-842f-f730d85a0879"/>
  <p:tag name="MIO_EKGUID" val="0a6273f9-6dd7-4982-9188-5ed372f80332"/>
  <p:tag name="MIO_UPDATE" val="True"/>
  <p:tag name="MIO_VERSION" val="09.03.2023 11:25:10"/>
  <p:tag name="MIO_DBID" val="FDE84254-54DB-49E3-9A0E-CDE72035D530"/>
  <p:tag name="MIO_LASTDOWNLOADED" val="16.04.2026 18:17:59.645"/>
  <p:tag name="MIO_OBJECTNAME" val="Process / Text box (2)"/>
  <p:tag name="MIO_CONTENTTAG" val="hOA1vZv1HUqlBdetxucHdPTk0GcJ481OtsOBW8STP1o="/>
  <p:tag name="MIO_LASTEDITORNAME" val="Verena Kohl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C8D7850A-85F6-433E-8B8D-D3A754B0866C}" vid="{BE8D058B-B1E2-4161-A236-0E9C761F9F92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EB56A61B4C00947898D82D06963611E" ma:contentTypeVersion="15" ma:contentTypeDescription="Ein neues Dokument erstellen." ma:contentTypeScope="" ma:versionID="1dc54802e6c7a0c11432c14fa31ef0b1">
  <xsd:schema xmlns:xsd="http://www.w3.org/2001/XMLSchema" xmlns:xs="http://www.w3.org/2001/XMLSchema" xmlns:p="http://schemas.microsoft.com/office/2006/metadata/properties" xmlns:ns2="59b6271e-7032-4958-8b1b-b397779a5edd" xmlns:ns3="8add22d0-fb4f-4780-81e3-4104ca6646f2" targetNamespace="http://schemas.microsoft.com/office/2006/metadata/properties" ma:root="true" ma:fieldsID="a6f0f3cc70ae8bf5c7c46b87ded16118" ns2:_="" ns3:_="">
    <xsd:import namespace="59b6271e-7032-4958-8b1b-b397779a5edd"/>
    <xsd:import namespace="8add22d0-fb4f-4780-81e3-4104ca6646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b6271e-7032-4958-8b1b-b397779a5e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Bildmarkierungen" ma:readOnly="false" ma:fieldId="{5cf76f15-5ced-4ddc-b409-7134ff3c332f}" ma:taxonomyMulti="true" ma:sspId="d64df55c-0d35-4409-9d5b-5829daa2b6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dd22d0-fb4f-4780-81e3-4104ca6646f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bfc02de1-8c8f-4191-a788-16eb72695625}" ma:internalName="TaxCatchAll" ma:showField="CatchAllData" ma:web="8add22d0-fb4f-4780-81e3-4104ca6646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add22d0-fb4f-4780-81e3-4104ca6646f2" xsi:nil="true"/>
    <lcf76f155ced4ddcb4097134ff3c332f xmlns="59b6271e-7032-4958-8b1b-b397779a5ed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014FDB3-C68D-4DD7-B6CF-2B363C4C1B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9b6271e-7032-4958-8b1b-b397779a5edd"/>
    <ds:schemaRef ds:uri="8add22d0-fb4f-4780-81e3-4104ca6646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299A1D5-F553-4264-9022-E0136C61CE27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http://purl.org/dc/terms/"/>
    <ds:schemaRef ds:uri="a709603d-609a-478b-a91d-3c5e984c0e79"/>
    <ds:schemaRef ds:uri="6ef45842-284e-44e4-b2db-1749e7948b44"/>
    <ds:schemaRef ds:uri="http://schemas.microsoft.com/office/infopath/2007/PartnerControls"/>
    <ds:schemaRef ds:uri="http://schemas.openxmlformats.org/package/2006/metadata/core-properties"/>
    <ds:schemaRef ds:uri="8add22d0-fb4f-4780-81e3-4104ca6646f2"/>
    <ds:schemaRef ds:uri="59b6271e-7032-4958-8b1b-b397779a5edd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731</TotalTime>
  <Words>4629</Words>
  <Application>Microsoft Office PowerPoint</Application>
  <PresentationFormat>Widescreen</PresentationFormat>
  <Paragraphs>696</Paragraphs>
  <Slides>54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??</vt:lpstr>
      <vt:lpstr>-apple-system</vt:lpstr>
      <vt:lpstr>Arial</vt:lpstr>
      <vt:lpstr>Consolas</vt:lpstr>
      <vt:lpstr>Symbol</vt:lpstr>
      <vt:lpstr>Infineon 16:9</vt:lpstr>
      <vt:lpstr>Infineon Academy Distribution Training Mastering ModusToolbox™ in Your Development Workflow</vt:lpstr>
      <vt:lpstr>Agenda</vt:lpstr>
      <vt:lpstr>Session Roadmap</vt:lpstr>
      <vt:lpstr>Working effectively with  version control and git</vt:lpstr>
      <vt:lpstr>The ModusToolbox™ project structure</vt:lpstr>
      <vt:lpstr>The .mtb dependency model</vt:lpstr>
      <vt:lpstr>What are deps/ and libs/ folders?</vt:lpstr>
      <vt:lpstr>What to commit, what to ignore?</vt:lpstr>
      <vt:lpstr>The version-controlled project flow</vt:lpstr>
      <vt:lpstr>Git workflow best practices</vt:lpstr>
      <vt:lpstr>Demo / Exercise Clone a real project and  verify dependencies</vt:lpstr>
      <vt:lpstr>Exercise - Clone a real project and verify dependencies</vt:lpstr>
      <vt:lpstr>Sharing, importing and exporting projects </vt:lpstr>
      <vt:lpstr>Three typical ways to share a project</vt:lpstr>
      <vt:lpstr>ModusToolbox Archiving and Sharing Utility - mtbarchive</vt:lpstr>
      <vt:lpstr>Saving and sharing your work with git</vt:lpstr>
      <vt:lpstr>Getting a shared project into your IDE</vt:lpstr>
      <vt:lpstr>Demo / Exercise IDE import and archive / sharing export</vt:lpstr>
      <vt:lpstr>Exercise - IDE import and archive / sharing export</vt:lpstr>
      <vt:lpstr>Understanding the  ModusToolbox™ BSP concept </vt:lpstr>
      <vt:lpstr>What is a ModusToolbox™ BSP?</vt:lpstr>
      <vt:lpstr>Anatomy of a Board Support Package</vt:lpstr>
      <vt:lpstr>Directory structure of a Board Support Package</vt:lpstr>
      <vt:lpstr>Device Configurator flow </vt:lpstr>
      <vt:lpstr>Demo BSP Walkthrough</vt:lpstr>
      <vt:lpstr>Workflows to develop and utilize a custom BSP </vt:lpstr>
      <vt:lpstr>Why Create a Custom BSP?</vt:lpstr>
      <vt:lpstr>Creating a custom BSP – modify existing BSP in place</vt:lpstr>
      <vt:lpstr>Creating a new custom BSP using standalone BSP Assistant</vt:lpstr>
      <vt:lpstr>Making Your custom BSP available to others</vt:lpstr>
      <vt:lpstr>Best practices for custom BSPs</vt:lpstr>
      <vt:lpstr>Demo / Exercise Create your own custom BSP</vt:lpstr>
      <vt:lpstr>Exercise - Create your own custom BSP</vt:lpstr>
      <vt:lpstr>Middleware integration with  Library Manager and Makefiles </vt:lpstr>
      <vt:lpstr>Library Manager Overview</vt:lpstr>
      <vt:lpstr>Shared libraries across workspace projects</vt:lpstr>
      <vt:lpstr>Adding middleware to project</vt:lpstr>
      <vt:lpstr>Using Makefiles to integrate and configure middleware</vt:lpstr>
      <vt:lpstr>How do you know what COMPONENTS and DEFINES to add?</vt:lpstr>
      <vt:lpstr>Practical workflow — when you add a new library</vt:lpstr>
      <vt:lpstr>Middleware summary and key takeaways</vt:lpstr>
      <vt:lpstr>Demo Library Manager and CMSIS-DSP COMPONENT</vt:lpstr>
      <vt:lpstr>ModusToolbox™ AI Assistant extension for VS Code </vt:lpstr>
      <vt:lpstr>ModusToolbox™ for VS Code</vt:lpstr>
      <vt:lpstr>ModusToolbox™ AI Assistant (Public Preview)</vt:lpstr>
      <vt:lpstr>AI-assisted project planning, creation, and enhancement</vt:lpstr>
      <vt:lpstr>Feature highlights and key messaging</vt:lpstr>
      <vt:lpstr>Introduction to the  upcoming ModusToolbox™ SDK </vt:lpstr>
      <vt:lpstr>How the development model is evolving</vt:lpstr>
      <vt:lpstr>What the SDK provides</vt:lpstr>
      <vt:lpstr>What changes for you and your customers</vt:lpstr>
      <vt:lpstr>SDK summary and key takeaways</vt:lpstr>
      <vt:lpstr>Q&amp;A</vt:lpstr>
      <vt:lpstr>PowerPoint Presentation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Jarvis Clark (CSS ICW MCU PMK SW)</dc:creator>
  <cp:lastModifiedBy>Jarvis Clark (ES ICW MCU PMK SW)</cp:lastModifiedBy>
  <cp:revision>41</cp:revision>
  <dcterms:created xsi:type="dcterms:W3CDTF">2026-04-16T16:06:32Z</dcterms:created>
  <dcterms:modified xsi:type="dcterms:W3CDTF">2026-10-13T18:22:53Z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0x0101001EB56A61B4C00947898D82D06963611E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2026-04-17T00:25:29Z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2026-04-17 00:25:35Z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3e7b0d4e-e63b-4e6e-ab2e-c5e78962ae59</vt:lpwstr>
  </property>
  <property fmtid="{D5CDD505-2E9C-101B-9397-08002B2CF9AE}" pid="28" name="MSIP_Label_a15a25aa-e944-415d-b7a7-40f6b9180b6b_ContentBits">
    <vt:lpwstr>0</vt:lpwstr>
  </property>
  <property fmtid="{D5CDD505-2E9C-101B-9397-08002B2CF9AE}" pid="29" name="MSIP_Label_a15a25aa-e944-415d-b7a7-40f6b9180b6b_Tag">
    <vt:lpwstr>10, 3, 0, 1</vt:lpwstr>
  </property>
</Properties>
</file>