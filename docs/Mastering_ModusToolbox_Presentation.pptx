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3.svg" ContentType="image/svg+xml"/>
  <Override PartName="/ppt/media/image14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7.svg" ContentType="image/svg+xml"/>
  <Override PartName="/ppt/media/image28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59"/>
  </p:notesMasterIdLst>
  <p:handoutMasterIdLst>
    <p:handoutMasterId r:id="rId60"/>
  </p:handoutMasterIdLst>
  <p:sldIdLst>
    <p:sldId id="270" r:id="rId5"/>
    <p:sldId id="2147473774" r:id="rId6"/>
    <p:sldId id="302" r:id="rId7"/>
    <p:sldId id="287" r:id="rId8"/>
    <p:sldId id="273" r:id="rId9"/>
    <p:sldId id="899" r:id="rId10"/>
    <p:sldId id="2147473756" r:id="rId11"/>
    <p:sldId id="304" r:id="rId12"/>
    <p:sldId id="306" r:id="rId13"/>
    <p:sldId id="307" r:id="rId14"/>
    <p:sldId id="308" r:id="rId15"/>
    <p:sldId id="313" r:id="rId16"/>
    <p:sldId id="288" r:id="rId17"/>
    <p:sldId id="275" r:id="rId18"/>
    <p:sldId id="309" r:id="rId19"/>
    <p:sldId id="310" r:id="rId20"/>
    <p:sldId id="311" r:id="rId21"/>
    <p:sldId id="312" r:id="rId22"/>
    <p:sldId id="314" r:id="rId23"/>
    <p:sldId id="290" r:id="rId24"/>
    <p:sldId id="896" r:id="rId25"/>
    <p:sldId id="854" r:id="rId26"/>
    <p:sldId id="294" r:id="rId27"/>
    <p:sldId id="898" r:id="rId28"/>
    <p:sldId id="2147473757" r:id="rId29"/>
    <p:sldId id="291" r:id="rId30"/>
    <p:sldId id="295" r:id="rId31"/>
    <p:sldId id="879" r:id="rId32"/>
    <p:sldId id="2147473758" r:id="rId33"/>
    <p:sldId id="2147473759" r:id="rId34"/>
    <p:sldId id="2147473760" r:id="rId35"/>
    <p:sldId id="2147473761" r:id="rId36"/>
    <p:sldId id="2147473762" r:id="rId37"/>
    <p:sldId id="292" r:id="rId38"/>
    <p:sldId id="296" r:id="rId39"/>
    <p:sldId id="2147473763" r:id="rId40"/>
    <p:sldId id="2147473764" r:id="rId41"/>
    <p:sldId id="2147473765" r:id="rId42"/>
    <p:sldId id="2147473766" r:id="rId43"/>
    <p:sldId id="2147473767" r:id="rId44"/>
    <p:sldId id="2147473768" r:id="rId45"/>
    <p:sldId id="2147473769" r:id="rId46"/>
    <p:sldId id="297" r:id="rId47"/>
    <p:sldId id="2147473775" r:id="rId48"/>
    <p:sldId id="2147473776" r:id="rId49"/>
    <p:sldId id="2147473777" r:id="rId50"/>
    <p:sldId id="2147473778" r:id="rId51"/>
    <p:sldId id="2147473772" r:id="rId52"/>
    <p:sldId id="298" r:id="rId53"/>
    <p:sldId id="880" r:id="rId54"/>
    <p:sldId id="2147473770" r:id="rId55"/>
    <p:sldId id="2147473771" r:id="rId56"/>
    <p:sldId id="299" r:id="rId57"/>
    <p:sldId id="274" r:id="rId58"/>
  </p:sldIdLst>
  <p:sldSz cx="12192000" cy="6858000"/>
  <p:notesSz cx="7099300" cy="10234613"/>
  <p:custDataLst>
    <p:tags r:id="rId6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6" autoAdjust="0"/>
    <p:restoredTop sz="94696" autoAdjust="0"/>
  </p:normalViewPr>
  <p:slideViewPr>
    <p:cSldViewPr snapToObjects="1" showGuides="1">
      <p:cViewPr>
        <p:scale>
          <a:sx n="106" d="100"/>
          <a:sy n="106" d="100"/>
        </p:scale>
        <p:origin x="654" y="12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notesMaster" Target="notesMasters/notesMaster1.xml"/><Relationship Id="rId60" Type="http://schemas.openxmlformats.org/officeDocument/2006/relationships/handoutMaster" Target="handoutMasters/handoutMaster1.xml"/><Relationship Id="rId61" Type="http://schemas.openxmlformats.org/officeDocument/2006/relationships/tags" Target="tags/tag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C94478-52E0-450A-96F9-41A72CB0F87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BF0A1A-73AD-4747-9F39-BE67420B7DEF}">
      <dgm:prSet phldrT="[Text]" phldr="0"/>
      <dgm:spPr/>
      <dgm:t>
        <a:bodyPr/>
        <a:lstStyle/>
        <a:p>
          <a:r>
            <a:rPr lang="en-US" b="1" dirty="0"/>
            <a:t>Working </a:t>
          </a:r>
          <a:br>
            <a:rPr lang="en-US" b="1" dirty="0"/>
          </a:br>
          <a:r>
            <a:rPr lang="en-US" b="1" dirty="0"/>
            <a:t>Directory</a:t>
          </a:r>
        </a:p>
      </dgm:t>
    </dgm:pt>
    <dgm:pt modelId="{E6D57349-53A1-4EBB-9333-7712F78C6ECA}" type="parTrans" cxnId="{1A594B70-54DC-4D6F-B5FC-6358820252EB}">
      <dgm:prSet/>
      <dgm:spPr/>
      <dgm:t>
        <a:bodyPr/>
        <a:lstStyle/>
        <a:p>
          <a:endParaRPr lang="en-US"/>
        </a:p>
      </dgm:t>
    </dgm:pt>
    <dgm:pt modelId="{B8D5577F-99BA-458E-B591-EF143B976DD5}" type="sibTrans" cxnId="{1A594B70-54DC-4D6F-B5FC-6358820252EB}">
      <dgm:prSet/>
      <dgm:spPr/>
      <dgm:t>
        <a:bodyPr/>
        <a:lstStyle/>
        <a:p>
          <a:endParaRPr lang="en-US"/>
        </a:p>
      </dgm:t>
    </dgm:pt>
    <dgm:pt modelId="{B170ED50-4794-45CE-9610-55F3CC8F8C78}">
      <dgm:prSet phldrT="[Text]" phldr="0"/>
      <dgm:spPr/>
      <dgm:t>
        <a:bodyPr/>
        <a:lstStyle/>
        <a:p>
          <a:r>
            <a:rPr lang="en-US" b="1" dirty="0"/>
            <a:t>Staging </a:t>
          </a:r>
          <a:br>
            <a:rPr lang="en-US" b="1" dirty="0"/>
          </a:br>
          <a:r>
            <a:rPr lang="en-US" b="1" dirty="0"/>
            <a:t>Area</a:t>
          </a:r>
        </a:p>
      </dgm:t>
    </dgm:pt>
    <dgm:pt modelId="{24371706-2297-4BBF-83D2-456F0F2526AD}" type="parTrans" cxnId="{0D93FACA-24BB-44BC-AA9D-5D8131BF45D9}">
      <dgm:prSet/>
      <dgm:spPr/>
      <dgm:t>
        <a:bodyPr/>
        <a:lstStyle/>
        <a:p>
          <a:endParaRPr lang="en-US"/>
        </a:p>
      </dgm:t>
    </dgm:pt>
    <dgm:pt modelId="{6B96115C-2B46-4EDA-9CC9-6051ADA00CAF}" type="sibTrans" cxnId="{0D93FACA-24BB-44BC-AA9D-5D8131BF45D9}">
      <dgm:prSet/>
      <dgm:spPr/>
      <dgm:t>
        <a:bodyPr/>
        <a:lstStyle/>
        <a:p>
          <a:endParaRPr lang="en-US"/>
        </a:p>
      </dgm:t>
    </dgm:pt>
    <dgm:pt modelId="{169AA230-9545-46DC-8820-058912A9A044}">
      <dgm:prSet phldrT="[Text]" phldr="0"/>
      <dgm:spPr/>
      <dgm:t>
        <a:bodyPr/>
        <a:lstStyle/>
        <a:p>
          <a:r>
            <a:rPr lang="en-US" b="1" dirty="0"/>
            <a:t>Remote </a:t>
          </a:r>
          <a:r>
            <a:rPr lang="en-US" b="1" dirty="0" err="1"/>
            <a:t>Respository</a:t>
          </a:r>
          <a:endParaRPr lang="en-US" b="1" dirty="0"/>
        </a:p>
      </dgm:t>
    </dgm:pt>
    <dgm:pt modelId="{61CF6525-7B47-4193-8760-22ADDBAEE1AB}" type="parTrans" cxnId="{45772899-6FA0-4C49-AF4E-18A9BFBC2FC8}">
      <dgm:prSet/>
      <dgm:spPr/>
      <dgm:t>
        <a:bodyPr/>
        <a:lstStyle/>
        <a:p>
          <a:endParaRPr lang="en-US"/>
        </a:p>
      </dgm:t>
    </dgm:pt>
    <dgm:pt modelId="{132B97B0-FBD6-45DB-A55B-A4C526FFFE5A}" type="sibTrans" cxnId="{45772899-6FA0-4C49-AF4E-18A9BFBC2FC8}">
      <dgm:prSet/>
      <dgm:spPr/>
      <dgm:t>
        <a:bodyPr/>
        <a:lstStyle/>
        <a:p>
          <a:endParaRPr lang="en-US"/>
        </a:p>
      </dgm:t>
    </dgm:pt>
    <dgm:pt modelId="{1D62DF62-878F-43C9-A209-A04D9398D71B}">
      <dgm:prSet phldrT="[Text]" phldr="0"/>
      <dgm:spPr/>
      <dgm:t>
        <a:bodyPr/>
        <a:lstStyle/>
        <a:p>
          <a:r>
            <a:rPr lang="en-US" dirty="0"/>
            <a:t>Your local files</a:t>
          </a:r>
        </a:p>
      </dgm:t>
    </dgm:pt>
    <dgm:pt modelId="{1499C2B3-C4EC-4B57-BB2C-C2EE8750685C}" type="parTrans" cxnId="{2C9C5D10-08AC-495F-8DF0-F96C5080388A}">
      <dgm:prSet/>
      <dgm:spPr/>
      <dgm:t>
        <a:bodyPr/>
        <a:lstStyle/>
        <a:p>
          <a:endParaRPr lang="en-US"/>
        </a:p>
      </dgm:t>
    </dgm:pt>
    <dgm:pt modelId="{0D948D73-4C0D-49A5-B024-B83843DB539C}" type="sibTrans" cxnId="{2C9C5D10-08AC-495F-8DF0-F96C5080388A}">
      <dgm:prSet/>
      <dgm:spPr/>
      <dgm:t>
        <a:bodyPr/>
        <a:lstStyle/>
        <a:p>
          <a:endParaRPr lang="en-US"/>
        </a:p>
      </dgm:t>
    </dgm:pt>
    <dgm:pt modelId="{A62E6D07-0C49-4AC3-9131-B3D10A2E48D2}">
      <dgm:prSet phldrT="[Text]" phldr="0"/>
      <dgm:spPr/>
      <dgm:t>
        <a:bodyPr/>
        <a:lstStyle/>
        <a:p>
          <a:r>
            <a:rPr lang="en-US"/>
            <a:t>Edit freely here</a:t>
          </a:r>
        </a:p>
      </dgm:t>
    </dgm:pt>
    <dgm:pt modelId="{4029A5F8-C955-40D7-A599-05EE8FA88E1A}" type="parTrans" cxnId="{C96CFF36-F432-4CEA-93AD-70D76C4F8CD2}">
      <dgm:prSet/>
      <dgm:spPr/>
      <dgm:t>
        <a:bodyPr/>
        <a:lstStyle/>
        <a:p>
          <a:endParaRPr lang="en-US"/>
        </a:p>
      </dgm:t>
    </dgm:pt>
    <dgm:pt modelId="{303C50FE-FCB0-482A-9F41-AE5DB134653F}" type="sibTrans" cxnId="{C96CFF36-F432-4CEA-93AD-70D76C4F8CD2}">
      <dgm:prSet/>
      <dgm:spPr/>
      <dgm:t>
        <a:bodyPr/>
        <a:lstStyle/>
        <a:p>
          <a:endParaRPr lang="en-US"/>
        </a:p>
      </dgm:t>
    </dgm:pt>
    <dgm:pt modelId="{F4A2A5C4-3BA0-4E6C-A414-235185469B25}">
      <dgm:prSet phldrT="[Text]" phldr="0"/>
      <dgm:spPr/>
      <dgm:t>
        <a:bodyPr/>
        <a:lstStyle/>
        <a:p>
          <a:r>
            <a:rPr lang="en-US"/>
            <a:t>Changes selected for next commit</a:t>
          </a:r>
          <a:endParaRPr lang="en-US" dirty="0"/>
        </a:p>
      </dgm:t>
    </dgm:pt>
    <dgm:pt modelId="{BDC5FC77-6383-4BF7-B039-DBFA12084EA6}" type="parTrans" cxnId="{90426B95-3FB4-42EE-8949-7B8A8B82EE1C}">
      <dgm:prSet/>
      <dgm:spPr/>
      <dgm:t>
        <a:bodyPr/>
        <a:lstStyle/>
        <a:p>
          <a:endParaRPr lang="en-US"/>
        </a:p>
      </dgm:t>
    </dgm:pt>
    <dgm:pt modelId="{EF76BC21-50B2-4A1D-853E-55F76D98CE62}" type="sibTrans" cxnId="{90426B95-3FB4-42EE-8949-7B8A8B82EE1C}">
      <dgm:prSet/>
      <dgm:spPr/>
      <dgm:t>
        <a:bodyPr/>
        <a:lstStyle/>
        <a:p>
          <a:endParaRPr lang="en-US"/>
        </a:p>
      </dgm:t>
    </dgm:pt>
    <dgm:pt modelId="{64B1D63F-7C57-4941-AFCC-A1AE55DF84D2}">
      <dgm:prSet phldrT="[Text]" phldr="0"/>
      <dgm:spPr/>
      <dgm:t>
        <a:bodyPr/>
        <a:lstStyle/>
        <a:p>
          <a:r>
            <a:rPr lang="en-US" b="1" dirty="0"/>
            <a:t>Local </a:t>
          </a:r>
          <a:br>
            <a:rPr lang="en-US" b="1" dirty="0"/>
          </a:br>
          <a:r>
            <a:rPr lang="en-US" b="1" dirty="0"/>
            <a:t>Repository</a:t>
          </a:r>
        </a:p>
      </dgm:t>
    </dgm:pt>
    <dgm:pt modelId="{4B575A7A-D2EB-4048-BF73-40F1F9CEA640}" type="parTrans" cxnId="{7F9AED39-19DB-4060-8E67-F7882449E671}">
      <dgm:prSet/>
      <dgm:spPr/>
      <dgm:t>
        <a:bodyPr/>
        <a:lstStyle/>
        <a:p>
          <a:endParaRPr lang="en-US"/>
        </a:p>
      </dgm:t>
    </dgm:pt>
    <dgm:pt modelId="{5C55EAC5-3FEF-435A-8BE7-2A53618065BC}" type="sibTrans" cxnId="{7F9AED39-19DB-4060-8E67-F7882449E671}">
      <dgm:prSet/>
      <dgm:spPr/>
      <dgm:t>
        <a:bodyPr/>
        <a:lstStyle/>
        <a:p>
          <a:endParaRPr lang="en-US"/>
        </a:p>
      </dgm:t>
    </dgm:pt>
    <dgm:pt modelId="{75F4A413-7D76-4614-BB55-68555DEE81E5}">
      <dgm:prSet phldrT="[Text]" phldr="0"/>
      <dgm:spPr/>
      <dgm:t>
        <a:bodyPr/>
        <a:lstStyle/>
        <a:p>
          <a:r>
            <a:rPr lang="en-US"/>
            <a:t>Permanent history on your machine</a:t>
          </a:r>
          <a:endParaRPr lang="en-US" dirty="0"/>
        </a:p>
      </dgm:t>
    </dgm:pt>
    <dgm:pt modelId="{341D5366-D6F4-4718-866B-0445F1357781}" type="parTrans" cxnId="{FA631F07-AADD-4203-89B9-F4A4228A18EB}">
      <dgm:prSet/>
      <dgm:spPr/>
      <dgm:t>
        <a:bodyPr/>
        <a:lstStyle/>
        <a:p>
          <a:endParaRPr lang="en-US"/>
        </a:p>
      </dgm:t>
    </dgm:pt>
    <dgm:pt modelId="{A67D795E-A3F7-41D6-9C60-E0A516240D5E}" type="sibTrans" cxnId="{FA631F07-AADD-4203-89B9-F4A4228A18EB}">
      <dgm:prSet/>
      <dgm:spPr/>
      <dgm:t>
        <a:bodyPr/>
        <a:lstStyle/>
        <a:p>
          <a:endParaRPr lang="en-US"/>
        </a:p>
      </dgm:t>
    </dgm:pt>
    <dgm:pt modelId="{B7A0FEAA-C542-4376-B8A7-AF5280CFE247}">
      <dgm:prSet phldrT="[Text]" phldr="0"/>
      <dgm:spPr/>
      <dgm:t>
        <a:bodyPr/>
        <a:lstStyle/>
        <a:p>
          <a:r>
            <a:rPr lang="en-US"/>
            <a:t>GitHub / GitLab</a:t>
          </a:r>
          <a:endParaRPr lang="en-US" dirty="0"/>
        </a:p>
      </dgm:t>
    </dgm:pt>
    <dgm:pt modelId="{2F0FCB7E-CC94-4613-8DD2-AB552B12DBCC}" type="parTrans" cxnId="{8395EE76-94BF-4B51-BA02-F582DF592E73}">
      <dgm:prSet/>
      <dgm:spPr/>
      <dgm:t>
        <a:bodyPr/>
        <a:lstStyle/>
        <a:p>
          <a:endParaRPr lang="en-US"/>
        </a:p>
      </dgm:t>
    </dgm:pt>
    <dgm:pt modelId="{6A73F497-BFA9-4227-A832-A85592DBA236}" type="sibTrans" cxnId="{8395EE76-94BF-4B51-BA02-F582DF592E73}">
      <dgm:prSet/>
      <dgm:spPr/>
      <dgm:t>
        <a:bodyPr/>
        <a:lstStyle/>
        <a:p>
          <a:endParaRPr lang="en-US"/>
        </a:p>
      </dgm:t>
    </dgm:pt>
    <dgm:pt modelId="{D5740E2A-09A6-4BED-986A-24FA4280A478}">
      <dgm:prSet phldrT="[Text]" phldr="0"/>
      <dgm:spPr/>
      <dgm:t>
        <a:bodyPr/>
        <a:lstStyle/>
        <a:p>
          <a:r>
            <a:rPr lang="en-US"/>
            <a:t>Shared with team</a:t>
          </a:r>
          <a:endParaRPr lang="en-US" dirty="0"/>
        </a:p>
      </dgm:t>
    </dgm:pt>
    <dgm:pt modelId="{5AEA3D18-4781-49D9-A561-9424149E3A17}" type="parTrans" cxnId="{84181B18-A0A3-48AF-9FB6-18EDA23F44F4}">
      <dgm:prSet/>
      <dgm:spPr/>
      <dgm:t>
        <a:bodyPr/>
        <a:lstStyle/>
        <a:p>
          <a:endParaRPr lang="en-US"/>
        </a:p>
      </dgm:t>
    </dgm:pt>
    <dgm:pt modelId="{2253DDD1-3641-483F-A503-E4018E65AF4B}" type="sibTrans" cxnId="{84181B18-A0A3-48AF-9FB6-18EDA23F44F4}">
      <dgm:prSet/>
      <dgm:spPr/>
      <dgm:t>
        <a:bodyPr/>
        <a:lstStyle/>
        <a:p>
          <a:endParaRPr lang="en-US"/>
        </a:p>
      </dgm:t>
    </dgm:pt>
    <dgm:pt modelId="{90947333-1C62-4359-8170-4247AC4718B4}" type="pres">
      <dgm:prSet presAssocID="{66C94478-52E0-450A-96F9-41A72CB0F871}" presName="Name0" presStyleCnt="0">
        <dgm:presLayoutVars>
          <dgm:dir/>
          <dgm:resizeHandles val="exact"/>
        </dgm:presLayoutVars>
      </dgm:prSet>
      <dgm:spPr/>
    </dgm:pt>
    <dgm:pt modelId="{6E8C18DD-704D-495F-BF0C-015B1FC426F8}" type="pres">
      <dgm:prSet presAssocID="{18BF0A1A-73AD-4747-9F39-BE67420B7DEF}" presName="node" presStyleLbl="node1" presStyleIdx="0" presStyleCnt="4">
        <dgm:presLayoutVars>
          <dgm:bulletEnabled val="1"/>
        </dgm:presLayoutVars>
      </dgm:prSet>
      <dgm:spPr/>
    </dgm:pt>
    <dgm:pt modelId="{85D7741D-7CCF-4BEF-A720-2BDCFD076A4F}" type="pres">
      <dgm:prSet presAssocID="{B8D5577F-99BA-458E-B591-EF143B976DD5}" presName="sibTrans" presStyleLbl="sibTrans2D1" presStyleIdx="0" presStyleCnt="3"/>
      <dgm:spPr/>
    </dgm:pt>
    <dgm:pt modelId="{8C96738A-71DE-4909-A778-F4ABDC46257C}" type="pres">
      <dgm:prSet presAssocID="{B8D5577F-99BA-458E-B591-EF143B976DD5}" presName="connectorText" presStyleLbl="sibTrans2D1" presStyleIdx="0" presStyleCnt="3"/>
      <dgm:spPr/>
    </dgm:pt>
    <dgm:pt modelId="{0BE94204-BF6D-4047-BF9D-940A52A9DAE6}" type="pres">
      <dgm:prSet presAssocID="{B170ED50-4794-45CE-9610-55F3CC8F8C78}" presName="node" presStyleLbl="node1" presStyleIdx="1" presStyleCnt="4">
        <dgm:presLayoutVars>
          <dgm:bulletEnabled val="1"/>
        </dgm:presLayoutVars>
      </dgm:prSet>
      <dgm:spPr/>
    </dgm:pt>
    <dgm:pt modelId="{7272EEE2-2971-4FE3-873A-3BDB577092D0}" type="pres">
      <dgm:prSet presAssocID="{6B96115C-2B46-4EDA-9CC9-6051ADA00CAF}" presName="sibTrans" presStyleLbl="sibTrans2D1" presStyleIdx="1" presStyleCnt="3"/>
      <dgm:spPr/>
    </dgm:pt>
    <dgm:pt modelId="{ECCF6767-57A9-4B60-BF7F-562DD103FA2E}" type="pres">
      <dgm:prSet presAssocID="{6B96115C-2B46-4EDA-9CC9-6051ADA00CAF}" presName="connectorText" presStyleLbl="sibTrans2D1" presStyleIdx="1" presStyleCnt="3"/>
      <dgm:spPr/>
    </dgm:pt>
    <dgm:pt modelId="{239EEB9A-01F5-4C50-8D33-2A99F4A3EA1E}" type="pres">
      <dgm:prSet presAssocID="{64B1D63F-7C57-4941-AFCC-A1AE55DF84D2}" presName="node" presStyleLbl="node1" presStyleIdx="2" presStyleCnt="4">
        <dgm:presLayoutVars>
          <dgm:bulletEnabled val="1"/>
        </dgm:presLayoutVars>
      </dgm:prSet>
      <dgm:spPr/>
    </dgm:pt>
    <dgm:pt modelId="{8513F584-0227-4F97-89B6-388A04851B8C}" type="pres">
      <dgm:prSet presAssocID="{5C55EAC5-3FEF-435A-8BE7-2A53618065BC}" presName="sibTrans" presStyleLbl="sibTrans2D1" presStyleIdx="2" presStyleCnt="3" custLinFactNeighborX="3453" custLinFactNeighborY="-52576"/>
      <dgm:spPr/>
    </dgm:pt>
    <dgm:pt modelId="{41E5A7BB-4346-40F2-855C-555AD65F74B0}" type="pres">
      <dgm:prSet presAssocID="{5C55EAC5-3FEF-435A-8BE7-2A53618065BC}" presName="connectorText" presStyleLbl="sibTrans2D1" presStyleIdx="2" presStyleCnt="3"/>
      <dgm:spPr/>
    </dgm:pt>
    <dgm:pt modelId="{FF194D7E-E11B-4FF4-BDF5-EDFD6116BAF8}" type="pres">
      <dgm:prSet presAssocID="{169AA230-9545-46DC-8820-058912A9A044}" presName="node" presStyleLbl="node1" presStyleIdx="3" presStyleCnt="4">
        <dgm:presLayoutVars>
          <dgm:bulletEnabled val="1"/>
        </dgm:presLayoutVars>
      </dgm:prSet>
      <dgm:spPr/>
    </dgm:pt>
  </dgm:ptLst>
  <dgm:cxnLst>
    <dgm:cxn modelId="{F7F3DF03-969F-4BF6-A141-A2223C66D2DA}" type="presOf" srcId="{B8D5577F-99BA-458E-B591-EF143B976DD5}" destId="{85D7741D-7CCF-4BEF-A720-2BDCFD076A4F}" srcOrd="0" destOrd="0" presId="urn:microsoft.com/office/officeart/2005/8/layout/process1"/>
    <dgm:cxn modelId="{FA631F07-AADD-4203-89B9-F4A4228A18EB}" srcId="{64B1D63F-7C57-4941-AFCC-A1AE55DF84D2}" destId="{75F4A413-7D76-4614-BB55-68555DEE81E5}" srcOrd="0" destOrd="0" parTransId="{341D5366-D6F4-4718-866B-0445F1357781}" sibTransId="{A67D795E-A3F7-41D6-9C60-E0A516240D5E}"/>
    <dgm:cxn modelId="{0B246C0B-E688-4DD8-A5B3-2BF6C53BD804}" type="presOf" srcId="{A62E6D07-0C49-4AC3-9131-B3D10A2E48D2}" destId="{6E8C18DD-704D-495F-BF0C-015B1FC426F8}" srcOrd="0" destOrd="2" presId="urn:microsoft.com/office/officeart/2005/8/layout/process1"/>
    <dgm:cxn modelId="{2C9C5D10-08AC-495F-8DF0-F96C5080388A}" srcId="{18BF0A1A-73AD-4747-9F39-BE67420B7DEF}" destId="{1D62DF62-878F-43C9-A209-A04D9398D71B}" srcOrd="0" destOrd="0" parTransId="{1499C2B3-C4EC-4B57-BB2C-C2EE8750685C}" sibTransId="{0D948D73-4C0D-49A5-B024-B83843DB539C}"/>
    <dgm:cxn modelId="{84181B18-A0A3-48AF-9FB6-18EDA23F44F4}" srcId="{169AA230-9545-46DC-8820-058912A9A044}" destId="{D5740E2A-09A6-4BED-986A-24FA4280A478}" srcOrd="1" destOrd="0" parTransId="{5AEA3D18-4781-49D9-A561-9424149E3A17}" sibTransId="{2253DDD1-3641-483F-A503-E4018E65AF4B}"/>
    <dgm:cxn modelId="{C96CFF36-F432-4CEA-93AD-70D76C4F8CD2}" srcId="{18BF0A1A-73AD-4747-9F39-BE67420B7DEF}" destId="{A62E6D07-0C49-4AC3-9131-B3D10A2E48D2}" srcOrd="1" destOrd="0" parTransId="{4029A5F8-C955-40D7-A599-05EE8FA88E1A}" sibTransId="{303C50FE-FCB0-482A-9F41-AE5DB134653F}"/>
    <dgm:cxn modelId="{7F9AED39-19DB-4060-8E67-F7882449E671}" srcId="{66C94478-52E0-450A-96F9-41A72CB0F871}" destId="{64B1D63F-7C57-4941-AFCC-A1AE55DF84D2}" srcOrd="2" destOrd="0" parTransId="{4B575A7A-D2EB-4048-BF73-40F1F9CEA640}" sibTransId="{5C55EAC5-3FEF-435A-8BE7-2A53618065BC}"/>
    <dgm:cxn modelId="{411EF65E-8370-4E90-9759-1D2A34F0C137}" type="presOf" srcId="{5C55EAC5-3FEF-435A-8BE7-2A53618065BC}" destId="{41E5A7BB-4346-40F2-855C-555AD65F74B0}" srcOrd="1" destOrd="0" presId="urn:microsoft.com/office/officeart/2005/8/layout/process1"/>
    <dgm:cxn modelId="{C0089B5F-DE47-461D-949E-67AE29D24800}" type="presOf" srcId="{F4A2A5C4-3BA0-4E6C-A414-235185469B25}" destId="{0BE94204-BF6D-4047-BF9D-940A52A9DAE6}" srcOrd="0" destOrd="1" presId="urn:microsoft.com/office/officeart/2005/8/layout/process1"/>
    <dgm:cxn modelId="{EC43E145-F507-44AD-8619-E75CC1FC1592}" type="presOf" srcId="{1D62DF62-878F-43C9-A209-A04D9398D71B}" destId="{6E8C18DD-704D-495F-BF0C-015B1FC426F8}" srcOrd="0" destOrd="1" presId="urn:microsoft.com/office/officeart/2005/8/layout/process1"/>
    <dgm:cxn modelId="{024FD146-AE8A-4A0E-9CA6-EFB9816F4AB9}" type="presOf" srcId="{B170ED50-4794-45CE-9610-55F3CC8F8C78}" destId="{0BE94204-BF6D-4047-BF9D-940A52A9DAE6}" srcOrd="0" destOrd="0" presId="urn:microsoft.com/office/officeart/2005/8/layout/process1"/>
    <dgm:cxn modelId="{7D601B67-9174-4D8E-A867-7F83B68C904F}" type="presOf" srcId="{169AA230-9545-46DC-8820-058912A9A044}" destId="{FF194D7E-E11B-4FF4-BDF5-EDFD6116BAF8}" srcOrd="0" destOrd="0" presId="urn:microsoft.com/office/officeart/2005/8/layout/process1"/>
    <dgm:cxn modelId="{16E1406B-A074-468B-AAD7-A88BE842E861}" type="presOf" srcId="{B7A0FEAA-C542-4376-B8A7-AF5280CFE247}" destId="{FF194D7E-E11B-4FF4-BDF5-EDFD6116BAF8}" srcOrd="0" destOrd="1" presId="urn:microsoft.com/office/officeart/2005/8/layout/process1"/>
    <dgm:cxn modelId="{311D804C-573E-443A-A4CE-C1887767D4E0}" type="presOf" srcId="{18BF0A1A-73AD-4747-9F39-BE67420B7DEF}" destId="{6E8C18DD-704D-495F-BF0C-015B1FC426F8}" srcOrd="0" destOrd="0" presId="urn:microsoft.com/office/officeart/2005/8/layout/process1"/>
    <dgm:cxn modelId="{71B9C84D-3496-4E07-95FE-DA744B18AAD7}" type="presOf" srcId="{6B96115C-2B46-4EDA-9CC9-6051ADA00CAF}" destId="{ECCF6767-57A9-4B60-BF7F-562DD103FA2E}" srcOrd="1" destOrd="0" presId="urn:microsoft.com/office/officeart/2005/8/layout/process1"/>
    <dgm:cxn modelId="{1A594B70-54DC-4D6F-B5FC-6358820252EB}" srcId="{66C94478-52E0-450A-96F9-41A72CB0F871}" destId="{18BF0A1A-73AD-4747-9F39-BE67420B7DEF}" srcOrd="0" destOrd="0" parTransId="{E6D57349-53A1-4EBB-9333-7712F78C6ECA}" sibTransId="{B8D5577F-99BA-458E-B591-EF143B976DD5}"/>
    <dgm:cxn modelId="{8395EE76-94BF-4B51-BA02-F582DF592E73}" srcId="{169AA230-9545-46DC-8820-058912A9A044}" destId="{B7A0FEAA-C542-4376-B8A7-AF5280CFE247}" srcOrd="0" destOrd="0" parTransId="{2F0FCB7E-CC94-4613-8DD2-AB552B12DBCC}" sibTransId="{6A73F497-BFA9-4227-A832-A85592DBA236}"/>
    <dgm:cxn modelId="{A191CB5A-9E11-4A34-8F93-B40F474118AE}" type="presOf" srcId="{75F4A413-7D76-4614-BB55-68555DEE81E5}" destId="{239EEB9A-01F5-4C50-8D33-2A99F4A3EA1E}" srcOrd="0" destOrd="1" presId="urn:microsoft.com/office/officeart/2005/8/layout/process1"/>
    <dgm:cxn modelId="{90426B95-3FB4-42EE-8949-7B8A8B82EE1C}" srcId="{B170ED50-4794-45CE-9610-55F3CC8F8C78}" destId="{F4A2A5C4-3BA0-4E6C-A414-235185469B25}" srcOrd="0" destOrd="0" parTransId="{BDC5FC77-6383-4BF7-B039-DBFA12084EA6}" sibTransId="{EF76BC21-50B2-4A1D-853E-55F76D98CE62}"/>
    <dgm:cxn modelId="{45772899-6FA0-4C49-AF4E-18A9BFBC2FC8}" srcId="{66C94478-52E0-450A-96F9-41A72CB0F871}" destId="{169AA230-9545-46DC-8820-058912A9A044}" srcOrd="3" destOrd="0" parTransId="{61CF6525-7B47-4193-8760-22ADDBAEE1AB}" sibTransId="{132B97B0-FBD6-45DB-A55B-A4C526FFFE5A}"/>
    <dgm:cxn modelId="{76AE2D9B-7D9A-4BA7-B5DE-AD4603893E0C}" type="presOf" srcId="{6B96115C-2B46-4EDA-9CC9-6051ADA00CAF}" destId="{7272EEE2-2971-4FE3-873A-3BDB577092D0}" srcOrd="0" destOrd="0" presId="urn:microsoft.com/office/officeart/2005/8/layout/process1"/>
    <dgm:cxn modelId="{C054BDB7-1616-474E-A4B0-69302A9397EA}" type="presOf" srcId="{D5740E2A-09A6-4BED-986A-24FA4280A478}" destId="{FF194D7E-E11B-4FF4-BDF5-EDFD6116BAF8}" srcOrd="0" destOrd="2" presId="urn:microsoft.com/office/officeart/2005/8/layout/process1"/>
    <dgm:cxn modelId="{E839C4C4-CEB1-4946-A9AA-5D6527A851FF}" type="presOf" srcId="{5C55EAC5-3FEF-435A-8BE7-2A53618065BC}" destId="{8513F584-0227-4F97-89B6-388A04851B8C}" srcOrd="0" destOrd="0" presId="urn:microsoft.com/office/officeart/2005/8/layout/process1"/>
    <dgm:cxn modelId="{0D93FACA-24BB-44BC-AA9D-5D8131BF45D9}" srcId="{66C94478-52E0-450A-96F9-41A72CB0F871}" destId="{B170ED50-4794-45CE-9610-55F3CC8F8C78}" srcOrd="1" destOrd="0" parTransId="{24371706-2297-4BBF-83D2-456F0F2526AD}" sibTransId="{6B96115C-2B46-4EDA-9CC9-6051ADA00CAF}"/>
    <dgm:cxn modelId="{9AF80FDB-E7DB-4955-ACE7-F0833F48EF77}" type="presOf" srcId="{66C94478-52E0-450A-96F9-41A72CB0F871}" destId="{90947333-1C62-4359-8170-4247AC4718B4}" srcOrd="0" destOrd="0" presId="urn:microsoft.com/office/officeart/2005/8/layout/process1"/>
    <dgm:cxn modelId="{011406E6-E699-4643-A410-A39212F46118}" type="presOf" srcId="{64B1D63F-7C57-4941-AFCC-A1AE55DF84D2}" destId="{239EEB9A-01F5-4C50-8D33-2A99F4A3EA1E}" srcOrd="0" destOrd="0" presId="urn:microsoft.com/office/officeart/2005/8/layout/process1"/>
    <dgm:cxn modelId="{25F35CF5-AB42-4733-A676-5608658E4AAA}" type="presOf" srcId="{B8D5577F-99BA-458E-B591-EF143B976DD5}" destId="{8C96738A-71DE-4909-A778-F4ABDC46257C}" srcOrd="1" destOrd="0" presId="urn:microsoft.com/office/officeart/2005/8/layout/process1"/>
    <dgm:cxn modelId="{BED15136-F8D9-4657-9768-635D23938470}" type="presParOf" srcId="{90947333-1C62-4359-8170-4247AC4718B4}" destId="{6E8C18DD-704D-495F-BF0C-015B1FC426F8}" srcOrd="0" destOrd="0" presId="urn:microsoft.com/office/officeart/2005/8/layout/process1"/>
    <dgm:cxn modelId="{26722068-348E-4D64-A26E-D148EACC2227}" type="presParOf" srcId="{90947333-1C62-4359-8170-4247AC4718B4}" destId="{85D7741D-7CCF-4BEF-A720-2BDCFD076A4F}" srcOrd="1" destOrd="0" presId="urn:microsoft.com/office/officeart/2005/8/layout/process1"/>
    <dgm:cxn modelId="{DC3BD73A-1EFD-4A5C-9A2A-69EA1274FFD6}" type="presParOf" srcId="{85D7741D-7CCF-4BEF-A720-2BDCFD076A4F}" destId="{8C96738A-71DE-4909-A778-F4ABDC46257C}" srcOrd="0" destOrd="0" presId="urn:microsoft.com/office/officeart/2005/8/layout/process1"/>
    <dgm:cxn modelId="{03EF2433-6EA8-4824-9E75-7DD5E3EAA1D1}" type="presParOf" srcId="{90947333-1C62-4359-8170-4247AC4718B4}" destId="{0BE94204-BF6D-4047-BF9D-940A52A9DAE6}" srcOrd="2" destOrd="0" presId="urn:microsoft.com/office/officeart/2005/8/layout/process1"/>
    <dgm:cxn modelId="{1516E68A-867F-4F27-BEFC-8ADF475899F1}" type="presParOf" srcId="{90947333-1C62-4359-8170-4247AC4718B4}" destId="{7272EEE2-2971-4FE3-873A-3BDB577092D0}" srcOrd="3" destOrd="0" presId="urn:microsoft.com/office/officeart/2005/8/layout/process1"/>
    <dgm:cxn modelId="{50D153F0-8170-415F-A969-5CFEA4F90D56}" type="presParOf" srcId="{7272EEE2-2971-4FE3-873A-3BDB577092D0}" destId="{ECCF6767-57A9-4B60-BF7F-562DD103FA2E}" srcOrd="0" destOrd="0" presId="urn:microsoft.com/office/officeart/2005/8/layout/process1"/>
    <dgm:cxn modelId="{BD2C9B62-6F49-487F-8DD8-F46911CF15F1}" type="presParOf" srcId="{90947333-1C62-4359-8170-4247AC4718B4}" destId="{239EEB9A-01F5-4C50-8D33-2A99F4A3EA1E}" srcOrd="4" destOrd="0" presId="urn:microsoft.com/office/officeart/2005/8/layout/process1"/>
    <dgm:cxn modelId="{98104B50-F395-4090-83B9-8460081E4CA6}" type="presParOf" srcId="{90947333-1C62-4359-8170-4247AC4718B4}" destId="{8513F584-0227-4F97-89B6-388A04851B8C}" srcOrd="5" destOrd="0" presId="urn:microsoft.com/office/officeart/2005/8/layout/process1"/>
    <dgm:cxn modelId="{BB6D03DD-A150-4101-B9BA-CE8502C491F6}" type="presParOf" srcId="{8513F584-0227-4F97-89B6-388A04851B8C}" destId="{41E5A7BB-4346-40F2-855C-555AD65F74B0}" srcOrd="0" destOrd="0" presId="urn:microsoft.com/office/officeart/2005/8/layout/process1"/>
    <dgm:cxn modelId="{1E2BFE34-C337-40A2-98A1-91D4F44DC06E}" type="presParOf" srcId="{90947333-1C62-4359-8170-4247AC4718B4}" destId="{FF194D7E-E11B-4FF4-BDF5-EDFD6116BAF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C18DD-704D-495F-BF0C-015B1FC426F8}">
      <dsp:nvSpPr>
        <dsp:cNvPr id="0" name=""/>
        <dsp:cNvSpPr/>
      </dsp:nvSpPr>
      <dsp:spPr>
        <a:xfrm>
          <a:off x="4960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Working </a:t>
          </a:r>
          <a:br>
            <a:rPr lang="en-US" sz="1900" b="1" kern="1200" dirty="0"/>
          </a:br>
          <a:r>
            <a:rPr lang="en-US" sz="1900" b="1" kern="1200" dirty="0"/>
            <a:t>Directory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Your local files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Edit freely here</a:t>
          </a:r>
        </a:p>
      </dsp:txBody>
      <dsp:txXfrm>
        <a:off x="43071" y="162995"/>
        <a:ext cx="2092474" cy="1224995"/>
      </dsp:txXfrm>
    </dsp:sp>
    <dsp:sp modelId="{85D7741D-7CCF-4BEF-A720-2BDCFD076A4F}">
      <dsp:nvSpPr>
        <dsp:cNvPr id="0" name=""/>
        <dsp:cNvSpPr/>
      </dsp:nvSpPr>
      <dsp:spPr>
        <a:xfrm>
          <a:off x="2390526" y="506575"/>
          <a:ext cx="459763" cy="537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390526" y="614142"/>
        <a:ext cx="321834" cy="322702"/>
      </dsp:txXfrm>
    </dsp:sp>
    <dsp:sp modelId="{0BE94204-BF6D-4047-BF9D-940A52A9DAE6}">
      <dsp:nvSpPr>
        <dsp:cNvPr id="0" name=""/>
        <dsp:cNvSpPr/>
      </dsp:nvSpPr>
      <dsp:spPr>
        <a:xfrm>
          <a:off x="3041135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Staging </a:t>
          </a:r>
          <a:br>
            <a:rPr lang="en-US" sz="1900" b="1" kern="1200" dirty="0"/>
          </a:br>
          <a:r>
            <a:rPr lang="en-US" sz="1900" b="1" kern="1200" dirty="0"/>
            <a:t>Area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Changes selected for next commit</a:t>
          </a:r>
          <a:endParaRPr lang="en-US" sz="1500" kern="1200" dirty="0"/>
        </a:p>
      </dsp:txBody>
      <dsp:txXfrm>
        <a:off x="3079246" y="162995"/>
        <a:ext cx="2092474" cy="1224995"/>
      </dsp:txXfrm>
    </dsp:sp>
    <dsp:sp modelId="{7272EEE2-2971-4FE3-873A-3BDB577092D0}">
      <dsp:nvSpPr>
        <dsp:cNvPr id="0" name=""/>
        <dsp:cNvSpPr/>
      </dsp:nvSpPr>
      <dsp:spPr>
        <a:xfrm>
          <a:off x="5426701" y="506575"/>
          <a:ext cx="459763" cy="537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426701" y="614142"/>
        <a:ext cx="321834" cy="322702"/>
      </dsp:txXfrm>
    </dsp:sp>
    <dsp:sp modelId="{239EEB9A-01F5-4C50-8D33-2A99F4A3EA1E}">
      <dsp:nvSpPr>
        <dsp:cNvPr id="0" name=""/>
        <dsp:cNvSpPr/>
      </dsp:nvSpPr>
      <dsp:spPr>
        <a:xfrm>
          <a:off x="6077310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Local </a:t>
          </a:r>
          <a:br>
            <a:rPr lang="en-US" sz="1900" b="1" kern="1200" dirty="0"/>
          </a:br>
          <a:r>
            <a:rPr lang="en-US" sz="1900" b="1" kern="1200" dirty="0"/>
            <a:t>Repository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Permanent history on your machine</a:t>
          </a:r>
          <a:endParaRPr lang="en-US" sz="1500" kern="1200" dirty="0"/>
        </a:p>
      </dsp:txBody>
      <dsp:txXfrm>
        <a:off x="6115421" y="162995"/>
        <a:ext cx="2092474" cy="1224995"/>
      </dsp:txXfrm>
    </dsp:sp>
    <dsp:sp modelId="{8513F584-0227-4F97-89B6-388A04851B8C}">
      <dsp:nvSpPr>
        <dsp:cNvPr id="0" name=""/>
        <dsp:cNvSpPr/>
      </dsp:nvSpPr>
      <dsp:spPr>
        <a:xfrm>
          <a:off x="8478752" y="223802"/>
          <a:ext cx="459763" cy="537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478752" y="331369"/>
        <a:ext cx="321834" cy="322702"/>
      </dsp:txXfrm>
    </dsp:sp>
    <dsp:sp modelId="{FF194D7E-E11B-4FF4-BDF5-EDFD6116BAF8}">
      <dsp:nvSpPr>
        <dsp:cNvPr id="0" name=""/>
        <dsp:cNvSpPr/>
      </dsp:nvSpPr>
      <dsp:spPr>
        <a:xfrm>
          <a:off x="9113486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Remote </a:t>
          </a:r>
          <a:r>
            <a:rPr lang="en-US" sz="1900" b="1" kern="1200" dirty="0" err="1"/>
            <a:t>Respository</a:t>
          </a:r>
          <a:endParaRPr lang="en-US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GitHub / GitLab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Shared with team</a:t>
          </a:r>
          <a:endParaRPr lang="en-US" sz="1500" kern="1200" dirty="0"/>
        </a:p>
      </dsp:txBody>
      <dsp:txXfrm>
        <a:off x="9151597" y="162995"/>
        <a:ext cx="2092474" cy="122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tags" Target="../tags/tag205.xml"/><Relationship Id="rId3" Type="http://schemas.openxmlformats.org/officeDocument/2006/relationships/tags" Target="../tags/tag206.xml"/><Relationship Id="rId4" Type="http://schemas.openxmlformats.org/officeDocument/2006/relationships/tags" Target="../tags/tag207.xml"/><Relationship Id="rId5" Type="http://schemas.openxmlformats.org/officeDocument/2006/relationships/tags" Target="../tags/tag208.xml"/><Relationship Id="rId6" Type="http://schemas.openxmlformats.org/officeDocument/2006/relationships/tags" Target="../tags/tag209.xml"/><Relationship Id="rId7" Type="http://schemas.openxmlformats.org/officeDocument/2006/relationships/tags" Target="../tags/tag210.xml"/><Relationship Id="rId8" Type="http://schemas.openxmlformats.org/officeDocument/2006/relationships/tags" Target="../tags/tag211.xml"/><Relationship Id="rId9" Type="http://schemas.openxmlformats.org/officeDocument/2006/relationships/tags" Target="../tags/tag212.xml"/><Relationship Id="rId10" Type="http://schemas.openxmlformats.org/officeDocument/2006/relationships/tags" Target="../tags/tag213.xml"/><Relationship Id="rId11" Type="http://schemas.openxmlformats.org/officeDocument/2006/relationships/tags" Target="../tags/tag214.xml"/><Relationship Id="rId12" Type="http://schemas.openxmlformats.org/officeDocument/2006/relationships/image" Target="../media/image10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2026-04-16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tags" Target="../tags/tag202.xml"/><Relationship Id="rId10" Type="http://schemas.openxmlformats.org/officeDocument/2006/relationships/tags" Target="../tags/tag203.xml"/><Relationship Id="rId11" Type="http://schemas.openxmlformats.org/officeDocument/2006/relationships/tags" Target="../tags/tag204.xml"/><Relationship Id="rId12" Type="http://schemas.openxmlformats.org/officeDocument/2006/relationships/image" Target="../media/image10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2026-04-16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609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1C9C-84A0-4F5D-7B30-9AFD3511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FD54F-0487-4454-3E6B-6746C1D9F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4672D-20D5-D47E-1C6D-01E114AA5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C96B9B8-3B3A-A1E7-1812-CD1F46557A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98D0D-5DF0-D7C9-B247-742F4F16B7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F0CD8E-20FB-0861-3D0C-8CE08F52F0E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0C9CD-737C-4A29-B892-A34E33A32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8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6ECF-CCB2-12BB-E05D-9BB516A88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>
            <a:extLst>
              <a:ext uri="{FF2B5EF4-FFF2-40B4-BE49-F238E27FC236}">
                <a16:creationId xmlns:a16="http://schemas.microsoft.com/office/drawing/2014/main" id="{3E7FF46E-21A1-6F61-BE56-CD7956F69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>
            <a:extLst>
              <a:ext uri="{FF2B5EF4-FFF2-40B4-BE49-F238E27FC236}">
                <a16:creationId xmlns:a16="http://schemas.microsoft.com/office/drawing/2014/main" id="{C304B0C3-C872-83C3-CC53-8B83F92E1D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>
            <a:extLst>
              <a:ext uri="{FF2B5EF4-FFF2-40B4-BE49-F238E27FC236}">
                <a16:creationId xmlns:a16="http://schemas.microsoft.com/office/drawing/2014/main" id="{CC519373-D25C-3FD0-DC60-E69CACB0E5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>
            <a:extLst>
              <a:ext uri="{FF2B5EF4-FFF2-40B4-BE49-F238E27FC236}">
                <a16:creationId xmlns:a16="http://schemas.microsoft.com/office/drawing/2014/main" id="{6EC63F25-AB00-C992-4C1B-D097A155C5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>
            <a:extLst>
              <a:ext uri="{FF2B5EF4-FFF2-40B4-BE49-F238E27FC236}">
                <a16:creationId xmlns:a16="http://schemas.microsoft.com/office/drawing/2014/main" id="{346E2240-1626-861A-7D61-0D7DA3ADD3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>
            <a:extLst>
              <a:ext uri="{FF2B5EF4-FFF2-40B4-BE49-F238E27FC236}">
                <a16:creationId xmlns:a16="http://schemas.microsoft.com/office/drawing/2014/main" id="{B0BA8A4A-0E75-E53E-857D-748F3B3C0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492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36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/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/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/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/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/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19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7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/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/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/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/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/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352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CAF6-FD89-5387-6210-118AD3B6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>
            <a:extLst>
              <a:ext uri="{FF2B5EF4-FFF2-40B4-BE49-F238E27FC236}">
                <a16:creationId xmlns:a16="http://schemas.microsoft.com/office/drawing/2014/main" id="{74129C74-016E-3CDA-C450-F79F5F01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>
            <a:extLst>
              <a:ext uri="{FF2B5EF4-FFF2-40B4-BE49-F238E27FC236}">
                <a16:creationId xmlns:a16="http://schemas.microsoft.com/office/drawing/2014/main" id="{293CE481-465C-7A7F-375D-C458BE25905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>
            <a:extLst>
              <a:ext uri="{FF2B5EF4-FFF2-40B4-BE49-F238E27FC236}">
                <a16:creationId xmlns:a16="http://schemas.microsoft.com/office/drawing/2014/main" id="{7DCA4AC0-2A43-881D-6ECF-F84F585B04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>
            <a:extLst>
              <a:ext uri="{FF2B5EF4-FFF2-40B4-BE49-F238E27FC236}">
                <a16:creationId xmlns:a16="http://schemas.microsoft.com/office/drawing/2014/main" id="{7A85724F-1CB2-4ED4-59D2-8E592D1EBD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>
            <a:extLst>
              <a:ext uri="{FF2B5EF4-FFF2-40B4-BE49-F238E27FC236}">
                <a16:creationId xmlns:a16="http://schemas.microsoft.com/office/drawing/2014/main" id="{1F2DC33F-54BF-D67F-2F4B-A9A18427BE7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>
            <a:extLst>
              <a:ext uri="{FF2B5EF4-FFF2-40B4-BE49-F238E27FC236}">
                <a16:creationId xmlns:a16="http://schemas.microsoft.com/office/drawing/2014/main" id="{AD60D284-2D30-CE54-AC68-22F6C2F7A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36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811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6ECF-CCB2-12BB-E05D-9BB516A88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>
            <a:extLst>
              <a:ext uri="{FF2B5EF4-FFF2-40B4-BE49-F238E27FC236}">
                <a16:creationId xmlns:a16="http://schemas.microsoft.com/office/drawing/2014/main" id="{3E7FF46E-21A1-6F61-BE56-CD7956F69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>
            <a:extLst>
              <a:ext uri="{FF2B5EF4-FFF2-40B4-BE49-F238E27FC236}">
                <a16:creationId xmlns:a16="http://schemas.microsoft.com/office/drawing/2014/main" id="{C304B0C3-C872-83C3-CC53-8B83F92E1D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>
            <a:extLst>
              <a:ext uri="{FF2B5EF4-FFF2-40B4-BE49-F238E27FC236}">
                <a16:creationId xmlns:a16="http://schemas.microsoft.com/office/drawing/2014/main" id="{CC519373-D25C-3FD0-DC60-E69CACB0E5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>
            <a:extLst>
              <a:ext uri="{FF2B5EF4-FFF2-40B4-BE49-F238E27FC236}">
                <a16:creationId xmlns:a16="http://schemas.microsoft.com/office/drawing/2014/main" id="{6EC63F25-AB00-C992-4C1B-D097A155C5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>
            <a:extLst>
              <a:ext uri="{FF2B5EF4-FFF2-40B4-BE49-F238E27FC236}">
                <a16:creationId xmlns:a16="http://schemas.microsoft.com/office/drawing/2014/main" id="{346E2240-1626-861A-7D61-0D7DA3ADD3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>
            <a:extLst>
              <a:ext uri="{FF2B5EF4-FFF2-40B4-BE49-F238E27FC236}">
                <a16:creationId xmlns:a16="http://schemas.microsoft.com/office/drawing/2014/main" id="{B0BA8A4A-0E75-E53E-857D-748F3B3C0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45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929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/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/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/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/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/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3667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tags" Target="../tags/tag10.xml"/><Relationship Id="rId6" Type="http://schemas.openxmlformats.org/officeDocument/2006/relationships/tags" Target="../tags/tag11.xml"/><Relationship Id="rId7" Type="http://schemas.openxmlformats.org/officeDocument/2006/relationships/tags" Target="../tags/tag12.xml"/><Relationship Id="rId8" Type="http://schemas.openxmlformats.org/officeDocument/2006/relationships/tags" Target="../tags/tag13.xml"/><Relationship Id="rId9" Type="http://schemas.openxmlformats.org/officeDocument/2006/relationships/tags" Target="../tags/tag14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2.jpg"/><Relationship Id="rId1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Relationship Id="rId9" Type="http://schemas.openxmlformats.org/officeDocument/2006/relationships/tags" Target="../tags/tag23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3.jpeg"/><Relationship Id="rId12" Type="http://schemas.openxmlformats.org/officeDocument/2006/relationships/image" Target="../media/image4.svg"/><Relationship Id="rId13" Type="http://schemas.openxmlformats.org/officeDocument/2006/relationships/image" Target="../media/image5.png"/><Relationship Id="rId1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tags" Target="../tags/tag31.xml"/><Relationship Id="rId9" Type="http://schemas.openxmlformats.org/officeDocument/2006/relationships/slideMaster" Target="../slideMasters/slideMaster1.xml"/><Relationship Id="rId10" Type="http://schemas.openxmlformats.org/officeDocument/2006/relationships/image" Target="../media/image7.jpg"/><Relationship Id="rId11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slideMaster" Target="../slideMasters/slideMaster1.xml"/><Relationship Id="rId10" Type="http://schemas.openxmlformats.org/officeDocument/2006/relationships/image" Target="../media/image8.jpe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tags" Target="../tags/tag45.xml"/><Relationship Id="rId7" Type="http://schemas.openxmlformats.org/officeDocument/2006/relationships/tags" Target="../tags/tag46.xml"/><Relationship Id="rId8" Type="http://schemas.openxmlformats.org/officeDocument/2006/relationships/tags" Target="../tags/tag47.xml"/><Relationship Id="rId9" Type="http://schemas.openxmlformats.org/officeDocument/2006/relationships/tags" Target="../tags/tag48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tags" Target="../tags/tag59.xml"/><Relationship Id="rId12" Type="http://schemas.openxmlformats.org/officeDocument/2006/relationships/tags" Target="../tags/tag60.xml"/><Relationship Id="rId1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tags" Target="../tags/tag71.xml"/><Relationship Id="rId12" Type="http://schemas.openxmlformats.org/officeDocument/2006/relationships/tags" Target="../tags/tag72.xml"/><Relationship Id="rId1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9.xml"/><Relationship Id="rId2" Type="http://schemas.openxmlformats.org/officeDocument/2006/relationships/tags" Target="../tags/tag90.xml"/><Relationship Id="rId3" Type="http://schemas.openxmlformats.org/officeDocument/2006/relationships/tags" Target="../tags/tag91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Relationship Id="rId9" Type="http://schemas.openxmlformats.org/officeDocument/2006/relationships/tags" Target="../tags/tag100.xml"/><Relationship Id="rId10" Type="http://schemas.openxmlformats.org/officeDocument/2006/relationships/tags" Target="../tags/tag101.xml"/><Relationship Id="rId11" Type="http://schemas.openxmlformats.org/officeDocument/2006/relationships/tags" Target="../tags/tag102.xml"/><Relationship Id="rId12" Type="http://schemas.openxmlformats.org/officeDocument/2006/relationships/tags" Target="../tags/tag103.xml"/><Relationship Id="rId1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tags" Target="../tags/tag105.xml"/><Relationship Id="rId3" Type="http://schemas.openxmlformats.org/officeDocument/2006/relationships/tags" Target="../tags/tag106.xml"/><Relationship Id="rId4" Type="http://schemas.openxmlformats.org/officeDocument/2006/relationships/tags" Target="../tags/tag107.xml"/><Relationship Id="rId5" Type="http://schemas.openxmlformats.org/officeDocument/2006/relationships/tags" Target="../tags/tag108.xml"/><Relationship Id="rId6" Type="http://schemas.openxmlformats.org/officeDocument/2006/relationships/tags" Target="../tags/tag109.xml"/><Relationship Id="rId7" Type="http://schemas.openxmlformats.org/officeDocument/2006/relationships/tags" Target="../tags/tag110.xml"/><Relationship Id="rId8" Type="http://schemas.openxmlformats.org/officeDocument/2006/relationships/tags" Target="../tags/tag111.xml"/><Relationship Id="rId9" Type="http://schemas.openxmlformats.org/officeDocument/2006/relationships/tags" Target="../tags/tag112.xml"/><Relationship Id="rId10" Type="http://schemas.openxmlformats.org/officeDocument/2006/relationships/tags" Target="../tags/tag113.xml"/><Relationship Id="rId11" Type="http://schemas.openxmlformats.org/officeDocument/2006/relationships/tags" Target="../tags/tag114.xml"/><Relationship Id="rId12" Type="http://schemas.openxmlformats.org/officeDocument/2006/relationships/tags" Target="../tags/tag115.xml"/><Relationship Id="rId13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tags" Target="../tags/tag120.xml"/><Relationship Id="rId6" Type="http://schemas.openxmlformats.org/officeDocument/2006/relationships/tags" Target="../tags/tag121.xml"/><Relationship Id="rId7" Type="http://schemas.openxmlformats.org/officeDocument/2006/relationships/tags" Target="../tags/tag122.xml"/><Relationship Id="rId8" Type="http://schemas.openxmlformats.org/officeDocument/2006/relationships/tags" Target="../tags/tag123.xml"/><Relationship Id="rId9" Type="http://schemas.openxmlformats.org/officeDocument/2006/relationships/tags" Target="../tags/tag124.xml"/><Relationship Id="rId10" Type="http://schemas.openxmlformats.org/officeDocument/2006/relationships/tags" Target="../tags/tag125.xml"/><Relationship Id="rId11" Type="http://schemas.openxmlformats.org/officeDocument/2006/relationships/tags" Target="../tags/tag126.xml"/><Relationship Id="rId12" Type="http://schemas.openxmlformats.org/officeDocument/2006/relationships/tags" Target="../tags/tag127.xml"/><Relationship Id="rId13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28.xml"/><Relationship Id="rId2" Type="http://schemas.openxmlformats.org/officeDocument/2006/relationships/tags" Target="../tags/tag129.xml"/><Relationship Id="rId3" Type="http://schemas.openxmlformats.org/officeDocument/2006/relationships/tags" Target="../tags/tag130.xml"/><Relationship Id="rId4" Type="http://schemas.openxmlformats.org/officeDocument/2006/relationships/tags" Target="../tags/tag131.xml"/><Relationship Id="rId5" Type="http://schemas.openxmlformats.org/officeDocument/2006/relationships/tags" Target="../tags/tag132.xml"/><Relationship Id="rId6" Type="http://schemas.openxmlformats.org/officeDocument/2006/relationships/tags" Target="../tags/tag133.xml"/><Relationship Id="rId7" Type="http://schemas.openxmlformats.org/officeDocument/2006/relationships/tags" Target="../tags/tag134.xml"/><Relationship Id="rId8" Type="http://schemas.openxmlformats.org/officeDocument/2006/relationships/tags" Target="../tags/tag135.xml"/><Relationship Id="rId9" Type="http://schemas.openxmlformats.org/officeDocument/2006/relationships/tags" Target="../tags/tag136.xml"/><Relationship Id="rId10" Type="http://schemas.openxmlformats.org/officeDocument/2006/relationships/tags" Target="../tags/tag137.xml"/><Relationship Id="rId11" Type="http://schemas.openxmlformats.org/officeDocument/2006/relationships/tags" Target="../tags/tag138.xml"/><Relationship Id="rId12" Type="http://schemas.openxmlformats.org/officeDocument/2006/relationships/tags" Target="../tags/tag139.xml"/><Relationship Id="rId13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40.xml"/><Relationship Id="rId2" Type="http://schemas.openxmlformats.org/officeDocument/2006/relationships/tags" Target="../tags/tag141.xml"/><Relationship Id="rId3" Type="http://schemas.openxmlformats.org/officeDocument/2006/relationships/tags" Target="../tags/tag142.xml"/><Relationship Id="rId4" Type="http://schemas.openxmlformats.org/officeDocument/2006/relationships/tags" Target="../tags/tag143.xml"/><Relationship Id="rId5" Type="http://schemas.openxmlformats.org/officeDocument/2006/relationships/tags" Target="../tags/tag144.xml"/><Relationship Id="rId6" Type="http://schemas.openxmlformats.org/officeDocument/2006/relationships/tags" Target="../tags/tag145.xml"/><Relationship Id="rId7" Type="http://schemas.openxmlformats.org/officeDocument/2006/relationships/tags" Target="../tags/tag146.xml"/><Relationship Id="rId8" Type="http://schemas.openxmlformats.org/officeDocument/2006/relationships/tags" Target="../tags/tag147.xml"/><Relationship Id="rId9" Type="http://schemas.openxmlformats.org/officeDocument/2006/relationships/tags" Target="../tags/tag148.xml"/><Relationship Id="rId10" Type="http://schemas.openxmlformats.org/officeDocument/2006/relationships/tags" Target="../tags/tag149.xml"/><Relationship Id="rId11" Type="http://schemas.openxmlformats.org/officeDocument/2006/relationships/tags" Target="../tags/tag150.xml"/><Relationship Id="rId12" Type="http://schemas.openxmlformats.org/officeDocument/2006/relationships/tags" Target="../tags/tag151.xml"/><Relationship Id="rId13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52.xml"/><Relationship Id="rId2" Type="http://schemas.openxmlformats.org/officeDocument/2006/relationships/tags" Target="../tags/tag153.xml"/><Relationship Id="rId3" Type="http://schemas.openxmlformats.org/officeDocument/2006/relationships/tags" Target="../tags/tag154.xml"/><Relationship Id="rId4" Type="http://schemas.openxmlformats.org/officeDocument/2006/relationships/tags" Target="../tags/tag155.xml"/><Relationship Id="rId5" Type="http://schemas.openxmlformats.org/officeDocument/2006/relationships/tags" Target="../tags/tag156.xml"/><Relationship Id="rId6" Type="http://schemas.openxmlformats.org/officeDocument/2006/relationships/tags" Target="../tags/tag157.xml"/><Relationship Id="rId7" Type="http://schemas.openxmlformats.org/officeDocument/2006/relationships/tags" Target="../tags/tag158.xml"/><Relationship Id="rId8" Type="http://schemas.openxmlformats.org/officeDocument/2006/relationships/tags" Target="../tags/tag159.xml"/><Relationship Id="rId9" Type="http://schemas.openxmlformats.org/officeDocument/2006/relationships/tags" Target="../tags/tag160.xml"/><Relationship Id="rId10" Type="http://schemas.openxmlformats.org/officeDocument/2006/relationships/tags" Target="../tags/tag161.xml"/><Relationship Id="rId11" Type="http://schemas.openxmlformats.org/officeDocument/2006/relationships/tags" Target="../tags/tag162.xml"/><Relationship Id="rId12" Type="http://schemas.openxmlformats.org/officeDocument/2006/relationships/tags" Target="../tags/tag163.xml"/><Relationship Id="rId13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64.xml"/><Relationship Id="rId2" Type="http://schemas.openxmlformats.org/officeDocument/2006/relationships/tags" Target="../tags/tag165.xml"/><Relationship Id="rId3" Type="http://schemas.openxmlformats.org/officeDocument/2006/relationships/tags" Target="../tags/tag166.xml"/><Relationship Id="rId4" Type="http://schemas.openxmlformats.org/officeDocument/2006/relationships/tags" Target="../tags/tag167.xml"/><Relationship Id="rId5" Type="http://schemas.openxmlformats.org/officeDocument/2006/relationships/tags" Target="../tags/tag168.xml"/><Relationship Id="rId6" Type="http://schemas.openxmlformats.org/officeDocument/2006/relationships/tags" Target="../tags/tag169.xml"/><Relationship Id="rId7" Type="http://schemas.openxmlformats.org/officeDocument/2006/relationships/tags" Target="../tags/tag170.xml"/><Relationship Id="rId8" Type="http://schemas.openxmlformats.org/officeDocument/2006/relationships/tags" Target="../tags/tag171.xml"/><Relationship Id="rId9" Type="http://schemas.openxmlformats.org/officeDocument/2006/relationships/tags" Target="../tags/tag172.xml"/><Relationship Id="rId10" Type="http://schemas.openxmlformats.org/officeDocument/2006/relationships/tags" Target="../tags/tag173.xml"/><Relationship Id="rId11" Type="http://schemas.openxmlformats.org/officeDocument/2006/relationships/tags" Target="../tags/tag174.xml"/><Relationship Id="rId12" Type="http://schemas.openxmlformats.org/officeDocument/2006/relationships/tags" Target="../tags/tag175.xml"/><Relationship Id="rId13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tags" Target="../tags/tag177.xml"/><Relationship Id="rId3" Type="http://schemas.openxmlformats.org/officeDocument/2006/relationships/tags" Target="../tags/tag178.xml"/><Relationship Id="rId4" Type="http://schemas.openxmlformats.org/officeDocument/2006/relationships/tags" Target="../tags/tag179.xml"/><Relationship Id="rId5" Type="http://schemas.openxmlformats.org/officeDocument/2006/relationships/tags" Target="../tags/tag180.xml"/><Relationship Id="rId6" Type="http://schemas.openxmlformats.org/officeDocument/2006/relationships/tags" Target="../tags/tag181.xml"/><Relationship Id="rId7" Type="http://schemas.openxmlformats.org/officeDocument/2006/relationships/tags" Target="../tags/tag182.xml"/><Relationship Id="rId8" Type="http://schemas.openxmlformats.org/officeDocument/2006/relationships/tags" Target="../tags/tag183.xml"/><Relationship Id="rId9" Type="http://schemas.openxmlformats.org/officeDocument/2006/relationships/tags" Target="../tags/tag184.xml"/><Relationship Id="rId10" Type="http://schemas.openxmlformats.org/officeDocument/2006/relationships/tags" Target="../tags/tag185.xml"/><Relationship Id="rId11" Type="http://schemas.openxmlformats.org/officeDocument/2006/relationships/tags" Target="../tags/tag186.xml"/><Relationship Id="rId12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tags" Target="../tags/tag188.xml"/><Relationship Id="rId3" Type="http://schemas.openxmlformats.org/officeDocument/2006/relationships/tags" Target="../tags/tag189.xml"/><Relationship Id="rId4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90.xml"/><Relationship Id="rId2" Type="http://schemas.openxmlformats.org/officeDocument/2006/relationships/tags" Target="../tags/tag191.xml"/><Relationship Id="rId3" Type="http://schemas.openxmlformats.org/officeDocument/2006/relationships/tags" Target="../tags/tag192.xml"/><Relationship Id="rId4" Type="http://schemas.openxmlformats.org/officeDocument/2006/relationships/tags" Target="../tags/tag193.xml"/><Relationship Id="rId5" Type="http://schemas.openxmlformats.org/officeDocument/2006/relationships/tags" Target="../tags/tag194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912424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13" name="Crystal Shape">
            <a:extLst>
              <a:ext uri="{FF2B5EF4-FFF2-40B4-BE49-F238E27FC236}">
                <a16:creationId xmlns:a16="http://schemas.microsoft.com/office/drawing/2014/main" id="{A4208110-E884-BAAA-527C-E592A2F7FA29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18864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994175" y="353272"/>
            <a:ext cx="1574433" cy="687428"/>
          </a:xfrm>
          <a:prstGeom prst="rect">
            <a:avLst/>
          </a:prstGeom>
        </p:spPr>
      </p:pic>
      <p:pic>
        <p:nvPicPr>
          <p:cNvPr id="22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5C8094CB-6CA5-4C8C-A34D-E405220AEA8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3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580F642-116E-41DC-881C-366C1DFCA4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922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PROTECTION">
            <a:extLst>
              <a:ext uri="{FF2B5EF4-FFF2-40B4-BE49-F238E27FC236}">
                <a16:creationId xmlns:a16="http://schemas.microsoft.com/office/drawing/2014/main" id="{4DCE96B1-83D3-EAE7-D992-044F49F60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263352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close-up of a plant&#10;&#10;Description automatically generated">
            <a:extLst>
              <a:ext uri="{FF2B5EF4-FFF2-40B4-BE49-F238E27FC236}">
                <a16:creationId xmlns:a16="http://schemas.microsoft.com/office/drawing/2014/main" id="{D8A43A75-D6CE-2257-415C-1E0787C2AD1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06538" cy="6858000"/>
          </a:xfrm>
          <a:prstGeom prst="rect">
            <a:avLst/>
          </a:prstGeom>
        </p:spPr>
      </p:pic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807AF6D-9E64-2C4F-72B8-8E1B696F07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34800" y="353272"/>
            <a:ext cx="1574433" cy="687428"/>
          </a:xfrm>
          <a:prstGeom prst="rect">
            <a:avLst/>
          </a:prstGeom>
        </p:spPr>
      </p:pic>
      <p:pic>
        <p:nvPicPr>
          <p:cNvPr id="20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B9B3D97A-9BFB-40A0-9441-80DA943DDD7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1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9FCA7E8-3379-4D22-BCD2-3178461C8B7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75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tags" Target="../tags/tag2.xml"/><Relationship Id="rId23" Type="http://schemas.openxmlformats.org/officeDocument/2006/relationships/tags" Target="../tags/tag3.xml"/><Relationship Id="rId24" Type="http://schemas.openxmlformats.org/officeDocument/2006/relationships/tags" Target="../tags/tag4.xml"/><Relationship Id="rId25" Type="http://schemas.openxmlformats.org/officeDocument/2006/relationships/tags" Target="../tags/tag5.xml"/><Relationship Id="rId2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7" r:id="rId2"/>
    <p:sldLayoutId id="2147483755" r:id="rId3"/>
    <p:sldLayoutId id="2147483758" r:id="rId4"/>
    <p:sldLayoutId id="2147483751" r:id="rId5"/>
    <p:sldLayoutId id="2147483729" r:id="rId6"/>
    <p:sldLayoutId id="2147483730" r:id="rId7"/>
    <p:sldLayoutId id="2147483731" r:id="rId8"/>
    <p:sldLayoutId id="2147483747" r:id="rId9"/>
    <p:sldLayoutId id="2147483756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54" r:id="rId19"/>
    <p:sldLayoutId id="2147483753" r:id="rId20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15.xml"/><Relationship Id="rId2" Type="http://schemas.openxmlformats.org/officeDocument/2006/relationships/tags" Target="../tags/tag216.xml"/><Relationship Id="rId3" Type="http://schemas.openxmlformats.org/officeDocument/2006/relationships/tags" Target="../tags/tag217.xml"/><Relationship Id="rId4" Type="http://schemas.openxmlformats.org/officeDocument/2006/relationships/tags" Target="../tags/tag218.xml"/><Relationship Id="rId5" Type="http://schemas.openxmlformats.org/officeDocument/2006/relationships/tags" Target="../tags/tag219.xml"/><Relationship Id="rId6" Type="http://schemas.openxmlformats.org/officeDocument/2006/relationships/tags" Target="../tags/tag220.xml"/><Relationship Id="rId7" Type="http://schemas.openxmlformats.org/officeDocument/2006/relationships/tags" Target="../tags/tag221.xml"/><Relationship Id="rId8" Type="http://schemas.openxmlformats.org/officeDocument/2006/relationships/tags" Target="../tags/tag222.xml"/><Relationship Id="rId9" Type="http://schemas.openxmlformats.org/officeDocument/2006/relationships/tags" Target="../tags/tag223.xml"/><Relationship Id="rId10" Type="http://schemas.openxmlformats.org/officeDocument/2006/relationships/tags" Target="../tags/tag224.xml"/><Relationship Id="rId11" Type="http://schemas.openxmlformats.org/officeDocument/2006/relationships/tags" Target="../tags/tag225.xml"/><Relationship Id="rId12" Type="http://schemas.openxmlformats.org/officeDocument/2006/relationships/tags" Target="../tags/tag226.xml"/><Relationship Id="rId13" Type="http://schemas.openxmlformats.org/officeDocument/2006/relationships/tags" Target="../tags/tag227.xml"/><Relationship Id="rId14" Type="http://schemas.openxmlformats.org/officeDocument/2006/relationships/tags" Target="../tags/tag228.xml"/><Relationship Id="rId15" Type="http://schemas.openxmlformats.org/officeDocument/2006/relationships/tags" Target="../tags/tag229.xml"/><Relationship Id="rId16" Type="http://schemas.openxmlformats.org/officeDocument/2006/relationships/tags" Target="../tags/tag230.xml"/><Relationship Id="rId17" Type="http://schemas.openxmlformats.org/officeDocument/2006/relationships/tags" Target="../tags/tag231.xml"/><Relationship Id="rId18" Type="http://schemas.openxmlformats.org/officeDocument/2006/relationships/tags" Target="../tags/tag232.xml"/><Relationship Id="rId19" Type="http://schemas.openxmlformats.org/officeDocument/2006/relationships/slideLayout" Target="../slideLayouts/slideLayout6.xml"/><Relationship Id="rId20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33.xml"/><Relationship Id="rId2" Type="http://schemas.openxmlformats.org/officeDocument/2006/relationships/tags" Target="../tags/tag234.xml"/><Relationship Id="rId3" Type="http://schemas.openxmlformats.org/officeDocument/2006/relationships/tags" Target="../tags/tag235.xml"/><Relationship Id="rId4" Type="http://schemas.openxmlformats.org/officeDocument/2006/relationships/tags" Target="../tags/tag236.xml"/><Relationship Id="rId5" Type="http://schemas.openxmlformats.org/officeDocument/2006/relationships/tags" Target="../tags/tag237.xml"/><Relationship Id="rId6" Type="http://schemas.openxmlformats.org/officeDocument/2006/relationships/tags" Target="../tags/tag238.xml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2.xml"/><Relationship Id="rId9" Type="http://schemas.openxmlformats.org/officeDocument/2006/relationships/hyperlink" Target="https://github.com/Infineon/retarget-io" TargetMode="External"/><Relationship Id="rId10" Type="http://schemas.openxmlformats.org/officeDocument/2006/relationships/image" Target="../media/image12.svg"/><Relationship Id="rId11" Type="http://schemas.openxmlformats.org/officeDocument/2006/relationships/image" Target="../media/image13.svg"/><Relationship Id="rId12" Type="http://schemas.openxmlformats.org/officeDocument/2006/relationships/image" Target="../media/image1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larkJ-Infineon/mtb-training-blinky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4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246.xml"/><Relationship Id="rId2" Type="http://schemas.openxmlformats.org/officeDocument/2006/relationships/tags" Target="../tags/tag247.xml"/><Relationship Id="rId3" Type="http://schemas.openxmlformats.org/officeDocument/2006/relationships/tags" Target="../tags/tag248.xml"/><Relationship Id="rId4" Type="http://schemas.openxmlformats.org/officeDocument/2006/relationships/tags" Target="../tags/tag249.xml"/><Relationship Id="rId5" Type="http://schemas.openxmlformats.org/officeDocument/2006/relationships/tags" Target="../tags/tag250.xml"/><Relationship Id="rId6" Type="http://schemas.openxmlformats.org/officeDocument/2006/relationships/tags" Target="../tags/tag251.xml"/><Relationship Id="rId7" Type="http://schemas.openxmlformats.org/officeDocument/2006/relationships/tags" Target="../tags/tag252.xml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254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255.xml"/><Relationship Id="rId2" Type="http://schemas.openxmlformats.org/officeDocument/2006/relationships/tags" Target="../tags/tag256.xml"/><Relationship Id="rId3" Type="http://schemas.openxmlformats.org/officeDocument/2006/relationships/tags" Target="../tags/tag257.xml"/><Relationship Id="rId4" Type="http://schemas.openxmlformats.org/officeDocument/2006/relationships/tags" Target="../tags/tag258.xml"/><Relationship Id="rId5" Type="http://schemas.openxmlformats.org/officeDocument/2006/relationships/tags" Target="../tags/tag259.xml"/><Relationship Id="rId6" Type="http://schemas.openxmlformats.org/officeDocument/2006/relationships/tags" Target="../tags/tag260.xml"/><Relationship Id="rId7" Type="http://schemas.openxmlformats.org/officeDocument/2006/relationships/tags" Target="../tags/tag261.xml"/><Relationship Id="rId8" Type="http://schemas.openxmlformats.org/officeDocument/2006/relationships/tags" Target="../tags/tag262.xml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9.xml"/><Relationship Id="rId11" Type="http://schemas.openxmlformats.org/officeDocument/2006/relationships/image" Target="../media/image21.svg"/><Relationship Id="rId12" Type="http://schemas.openxmlformats.org/officeDocument/2006/relationships/image" Target="../media/image22.svg"/><Relationship Id="rId13" Type="http://schemas.openxmlformats.org/officeDocument/2006/relationships/image" Target="../media/image23.svg"/><Relationship Id="rId14" Type="http://schemas.openxmlformats.org/officeDocument/2006/relationships/image" Target="../media/image24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tags" Target="../tags/tag26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8.sv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tags" Target="../tags/tag26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D798BF3-9FA4-4548-81F2-B6E6CC99B4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2BD278F-B47A-4B82-B85E-CEFAD1AB9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Clark Jarvis – Software and Tools Product Marketer</a:t>
            </a:r>
          </a:p>
          <a:p>
            <a:r>
              <a:rPr lang="de-DE" dirty="0"/>
              <a:t>October 2026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5783C9-99EF-42BD-B0B5-BCBAA19E0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3962400"/>
            <a:ext cx="10882200" cy="1118901"/>
          </a:xfrm>
        </p:spPr>
        <p:txBody>
          <a:bodyPr>
            <a:normAutofit fontScale="90000"/>
          </a:bodyPr>
          <a:lstStyle/>
          <a:p>
            <a:r>
              <a:rPr lang="de-DE" dirty="0"/>
              <a:t>Infineon Academy Distribution Training</a:t>
            </a:r>
            <a:br>
              <a:rPr lang="de-DE" dirty="0"/>
            </a:br>
            <a:r>
              <a:rPr lang="en-US" b="0" i="1" dirty="0"/>
              <a:t>Mastering ModusToolbox™ in Your Development Workflow</a:t>
            </a:r>
            <a:endParaRPr lang="de-D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0FD82F-D758-303A-2513-77A4B83F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0B69C-B315-23BF-44CB-4F478DC9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BFBC0-2F70-5870-6969-4CDF633A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7EC534-8055-C048-6636-C19715FD2F6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34434" y="1268413"/>
            <a:ext cx="10692231" cy="4535997"/>
            <a:chOff x="334434" y="1268413"/>
            <a:chExt cx="10692231" cy="4535997"/>
          </a:xfrm>
        </p:grpSpPr>
        <p:sp>
          <p:nvSpPr>
            <p:cNvPr id="5" name="MIO_AGENDA_ELEMENT_TITEL_1">
              <a:extLst>
                <a:ext uri="{FF2B5EF4-FFF2-40B4-BE49-F238E27FC236}">
                  <a16:creationId xmlns:a16="http://schemas.microsoft.com/office/drawing/2014/main" id="{D4DDBF0C-F1B1-B4D9-8303-76759B53E4D7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1235076" y="1268413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>
                  <a:latin typeface="+mn-lt"/>
                </a:rPr>
                <a:t>Working Effectively with Version Control &amp; Git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6" name="MIO_AGENDA_ELEMENT_ELEMENTNUMBER_1">
              <a:extLst>
                <a:ext uri="{FF2B5EF4-FFF2-40B4-BE49-F238E27FC236}">
                  <a16:creationId xmlns:a16="http://schemas.microsoft.com/office/drawing/2014/main" id="{54DCAA54-DFA0-28B3-12B7-307542821E07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334434" y="1268413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1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7" name="MIO_AGENDA_ELEMENT_TITEL_2">
              <a:extLst>
                <a:ext uri="{FF2B5EF4-FFF2-40B4-BE49-F238E27FC236}">
                  <a16:creationId xmlns:a16="http://schemas.microsoft.com/office/drawing/2014/main" id="{7EC5EFCA-7408-0F27-1936-DB8D41142266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235076" y="1844412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de-DE" sz="1800">
                  <a:latin typeface="+mn-lt"/>
                </a:rPr>
                <a:t>Sharing, Importing &amp; Exporting Projects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8" name="MIO_AGENDA_ELEMENT_ELEMENTNUMBER_2">
              <a:extLst>
                <a:ext uri="{FF2B5EF4-FFF2-40B4-BE49-F238E27FC236}">
                  <a16:creationId xmlns:a16="http://schemas.microsoft.com/office/drawing/2014/main" id="{F69DFA63-E3EC-FE5D-3955-AE9CB34C1E46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334434" y="1844412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2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" name="MIO_AGENDA_ELEMENT_TITEL_3">
              <a:extLst>
                <a:ext uri="{FF2B5EF4-FFF2-40B4-BE49-F238E27FC236}">
                  <a16:creationId xmlns:a16="http://schemas.microsoft.com/office/drawing/2014/main" id="{9E633665-D0C5-8B88-AD08-C536FBAF2522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235076" y="2420412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>
                  <a:latin typeface="+mn-lt"/>
                </a:rPr>
                <a:t>Understanding the ModusToolbox™ BSP Concept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0" name="MIO_AGENDA_ELEMENT_ELEMENTNUMBER_3">
              <a:extLst>
                <a:ext uri="{FF2B5EF4-FFF2-40B4-BE49-F238E27FC236}">
                  <a16:creationId xmlns:a16="http://schemas.microsoft.com/office/drawing/2014/main" id="{ADD036B5-7332-2767-BCD8-396CD0971219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334434" y="2420412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3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1" name="MIO_AGENDA_ELEMENT_TITEL_4">
              <a:extLst>
                <a:ext uri="{FF2B5EF4-FFF2-40B4-BE49-F238E27FC236}">
                  <a16:creationId xmlns:a16="http://schemas.microsoft.com/office/drawing/2014/main" id="{EFB08CCC-42FD-4C64-EF77-52C375832F3D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235076" y="2996411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>
                  <a:latin typeface="+mn-lt"/>
                </a:rPr>
                <a:t>Workflows to Develop &amp; Utilize a Custom BSP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2" name="MIO_AGENDA_ELEMENT_ELEMENTNUMBER_4">
              <a:extLst>
                <a:ext uri="{FF2B5EF4-FFF2-40B4-BE49-F238E27FC236}">
                  <a16:creationId xmlns:a16="http://schemas.microsoft.com/office/drawing/2014/main" id="{12EF25DB-5935-4610-2EB5-815E3680093D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334434" y="2996411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4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3" name="MIO_AGENDA_ELEMENT_TITEL_5">
              <a:extLst>
                <a:ext uri="{FF2B5EF4-FFF2-40B4-BE49-F238E27FC236}">
                  <a16:creationId xmlns:a16="http://schemas.microsoft.com/office/drawing/2014/main" id="{18F1AA73-9BF4-5D4A-D5C4-5E02FA7BB0F0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1235076" y="3572411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>
                  <a:latin typeface="+mn-lt"/>
                </a:rPr>
                <a:t>Middleware Integration — Library Manager &amp; Makefiles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4" name="MIO_AGENDA_ELEMENT_ELEMENTNUMBER_5">
              <a:extLst>
                <a:ext uri="{FF2B5EF4-FFF2-40B4-BE49-F238E27FC236}">
                  <a16:creationId xmlns:a16="http://schemas.microsoft.com/office/drawing/2014/main" id="{5BD297E8-81C1-FECC-D84A-E1F3FCD28792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334434" y="3572411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5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5" name="MIO_AGENDA_ELEMENT_TITEL_6">
              <a:extLst>
                <a:ext uri="{FF2B5EF4-FFF2-40B4-BE49-F238E27FC236}">
                  <a16:creationId xmlns:a16="http://schemas.microsoft.com/office/drawing/2014/main" id="{3C8370C0-5AD8-91E5-4106-F5161FFFD7A7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>
            <a:xfrm>
              <a:off x="1235076" y="4148410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de-DE" sz="1800">
                  <a:latin typeface="+mn-lt"/>
                </a:rPr>
                <a:t>ModusToolbox™ AI Assistant extension for VS Code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6" name="MIO_AGENDA_ELEMENT_ELEMENTNUMBER_6">
              <a:extLst>
                <a:ext uri="{FF2B5EF4-FFF2-40B4-BE49-F238E27FC236}">
                  <a16:creationId xmlns:a16="http://schemas.microsoft.com/office/drawing/2014/main" id="{D3933C13-7906-4A89-895C-BF1AE351E65F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334434" y="4148410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6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7" name="MIO_AGENDA_ELEMENT_TITEL_7">
              <a:extLst>
                <a:ext uri="{FF2B5EF4-FFF2-40B4-BE49-F238E27FC236}">
                  <a16:creationId xmlns:a16="http://schemas.microsoft.com/office/drawing/2014/main" id="{84B0F71E-C028-9934-32CC-BEBD99D15C07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>
            <a:xfrm>
              <a:off x="1235076" y="4724410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>
                  <a:latin typeface="+mn-lt"/>
                </a:rPr>
                <a:t>Introduction to the Upcoming ModusToolbox™ SDK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8" name="MIO_AGENDA_ELEMENT_ELEMENTNUMBER_7">
              <a:extLst>
                <a:ext uri="{FF2B5EF4-FFF2-40B4-BE49-F238E27FC236}">
                  <a16:creationId xmlns:a16="http://schemas.microsoft.com/office/drawing/2014/main" id="{B8163804-58A3-717D-AA14-2CFD6FC22C81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>
            <a:xfrm>
              <a:off x="334434" y="4724410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7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MIO_AGENDA_ELEMENT_TITEL_8">
              <a:extLst>
                <a:ext uri="{FF2B5EF4-FFF2-40B4-BE49-F238E27FC236}">
                  <a16:creationId xmlns:a16="http://schemas.microsoft.com/office/drawing/2014/main" id="{8C84FCF4-5ADD-8521-2469-6EE11B1B3652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1235076" y="5300410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de-DE" sz="1800">
                  <a:latin typeface="+mn-lt"/>
                </a:rPr>
                <a:t>Q&amp;A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20" name="MIO_AGENDA_ELEMENT_ELEMENTNUMBER_8">
              <a:extLst>
                <a:ext uri="{FF2B5EF4-FFF2-40B4-BE49-F238E27FC236}">
                  <a16:creationId xmlns:a16="http://schemas.microsoft.com/office/drawing/2014/main" id="{D0D9FCD4-1DAA-3B02-8E98-BBC60F73115A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334434" y="5300410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8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24A036-9EA3-8F81-4695-3DEC28ED37F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1244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58AB-4322-AD79-00A1-D97649B7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Roadmap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3C32EA-6C30-08D6-93D3-B07A11068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232286"/>
              </p:ext>
            </p:extLst>
          </p:nvPr>
        </p:nvGraphicFramePr>
        <p:xfrm>
          <a:off x="334963" y="1447800"/>
          <a:ext cx="11520486" cy="4191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60437">
                  <a:extLst>
                    <a:ext uri="{9D8B030D-6E8A-4147-A177-3AD203B41FA5}">
                      <a16:colId xmlns:a16="http://schemas.microsoft.com/office/drawing/2014/main" val="358815699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677476517"/>
                    </a:ext>
                  </a:extLst>
                </a:gridCol>
                <a:gridCol w="6902449">
                  <a:extLst>
                    <a:ext uri="{9D8B030D-6E8A-4147-A177-3AD203B41FA5}">
                      <a16:colId xmlns:a16="http://schemas.microsoft.com/office/drawing/2014/main" val="3263953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Topic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Key Skill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286270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Version Control &amp; Git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Know what to commit, what to ignore, how to collaborate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2927776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Project Sharing &amp; Export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Send a working project to anyone — colleague, customer, Infineon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2685432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Understanding BSPs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How BSPs bridge your app code and hardware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2874322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Custom BSP Workflows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Build a custom BSP for production hardware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305672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Middleware &amp; Library Manager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Add libraries, manage dependencies, understand the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357754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The ModusToolbox™ SDK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What's coming and why it matters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3712389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91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33C25B-8AFB-5F99-57CF-D083A368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effectively with </a:t>
            </a:r>
            <a:br>
              <a:rPr lang="en-US" dirty="0"/>
            </a:br>
            <a:r>
              <a:rPr lang="en-US" dirty="0"/>
              <a:t>version control and git</a:t>
            </a:r>
          </a:p>
        </p:txBody>
      </p:sp>
    </p:spTree>
    <p:extLst>
      <p:ext uri="{BB962C8B-B14F-4D97-AF65-F5344CB8AC3E}">
        <p14:creationId xmlns:p14="http://schemas.microsoft.com/office/powerpoint/2010/main" val="252309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3DB54-EDAA-323A-87B5-63B2513F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ModusToolbox™ project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0AD82-6277-770C-1369-88AC8C95F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2" b="5819"/>
          <a:stretch>
            <a:fillRect/>
          </a:stretch>
        </p:blipFill>
        <p:spPr>
          <a:xfrm>
            <a:off x="1371600" y="1066800"/>
            <a:ext cx="9144000" cy="533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4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5BC6-A1C9-5083-FD78-34BB4397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41AE33-397F-577B-BF20-E6AF1049A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The .</a:t>
            </a:r>
            <a:r>
              <a:rPr lang="en-US" dirty="0" err="1"/>
              <a:t>mtb</a:t>
            </a:r>
            <a:r>
              <a:rPr lang="en-US" dirty="0"/>
              <a:t> dependency model</a:t>
            </a:r>
          </a:p>
        </p:txBody>
      </p:sp>
      <p:sp>
        <p:nvSpPr>
          <p:cNvPr id="5" name="Chevron 6">
            <a:extLst>
              <a:ext uri="{FF2B5EF4-FFF2-40B4-BE49-F238E27FC236}">
                <a16:creationId xmlns:a16="http://schemas.microsoft.com/office/drawing/2014/main" id="{A7934B3C-AF39-1FFD-736A-38C92D0715B5}"/>
              </a:ext>
            </a:extLst>
          </p:cNvPr>
          <p:cNvSpPr/>
          <p:nvPr/>
        </p:nvSpPr>
        <p:spPr>
          <a:xfrm>
            <a:off x="7410450" y="1238253"/>
            <a:ext cx="4107788" cy="1025457"/>
          </a:xfrm>
          <a:prstGeom prst="chevron">
            <a:avLst>
              <a:gd name="adj" fmla="val 20758"/>
            </a:avLst>
          </a:prstGeom>
          <a:solidFill>
            <a:schemeClr val="tx2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Workspace clone of library</a:t>
            </a:r>
          </a:p>
          <a:p>
            <a:pPr algn="ctr"/>
            <a:r>
              <a:rPr lang="en-US" sz="1200" dirty="0" err="1">
                <a:solidFill>
                  <a:srgbClr val="FFFFFF"/>
                </a:solidFill>
              </a:rPr>
              <a:t>mtb_shared</a:t>
            </a:r>
            <a:r>
              <a:rPr lang="en-US" sz="1200" dirty="0">
                <a:solidFill>
                  <a:srgbClr val="FFFFFF"/>
                </a:solidFill>
              </a:rPr>
              <a:t>/retarget-io/release-v1.9.0/</a:t>
            </a:r>
          </a:p>
        </p:txBody>
      </p:sp>
      <p:sp>
        <p:nvSpPr>
          <p:cNvPr id="6" name="Chevron 20">
            <a:extLst>
              <a:ext uri="{FF2B5EF4-FFF2-40B4-BE49-F238E27FC236}">
                <a16:creationId xmlns:a16="http://schemas.microsoft.com/office/drawing/2014/main" id="{7A451A3E-567D-B256-C396-AE96A0251924}"/>
              </a:ext>
            </a:extLst>
          </p:cNvPr>
          <p:cNvSpPr/>
          <p:nvPr/>
        </p:nvSpPr>
        <p:spPr>
          <a:xfrm>
            <a:off x="3606125" y="1238253"/>
            <a:ext cx="4107788" cy="1025457"/>
          </a:xfrm>
          <a:prstGeom prst="chevron">
            <a:avLst>
              <a:gd name="adj" fmla="val 20758"/>
            </a:avLst>
          </a:prstGeom>
          <a:solidFill>
            <a:srgbClr val="3B9B9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Resolution of dependencies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make </a:t>
            </a:r>
            <a:r>
              <a:rPr lang="en-US" sz="1200" dirty="0" err="1">
                <a:solidFill>
                  <a:srgbClr val="FFFFFF"/>
                </a:solidFill>
              </a:rPr>
              <a:t>getlibs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" name="Pentagon 3">
            <a:extLst>
              <a:ext uri="{FF2B5EF4-FFF2-40B4-BE49-F238E27FC236}">
                <a16:creationId xmlns:a16="http://schemas.microsoft.com/office/drawing/2014/main" id="{FEBB7A6E-98FF-A4A9-F7CF-0A36B0667814}"/>
              </a:ext>
            </a:extLst>
          </p:cNvPr>
          <p:cNvSpPr/>
          <p:nvPr/>
        </p:nvSpPr>
        <p:spPr>
          <a:xfrm>
            <a:off x="457400" y="1238253"/>
            <a:ext cx="3452188" cy="1025457"/>
          </a:xfrm>
          <a:prstGeom prst="homePlate">
            <a:avLst>
              <a:gd name="adj" fmla="val 22102"/>
            </a:avLst>
          </a:prstGeom>
          <a:solidFill>
            <a:srgbClr val="6CB4AD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72000" tIns="0" rIns="72000" bIns="72000" rtlCol="0" anchor="ctr" anchorCtr="0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User required library</a:t>
            </a:r>
          </a:p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deps/retarget-</a:t>
            </a:r>
            <a:r>
              <a:rPr lang="en-US" sz="1200" dirty="0" err="1">
                <a:solidFill>
                  <a:schemeClr val="bg1"/>
                </a:solidFill>
              </a:rPr>
              <a:t>io.mtb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6">
            <a:extLst>
              <a:ext uri="{FF2B5EF4-FFF2-40B4-BE49-F238E27FC236}">
                <a16:creationId xmlns:a16="http://schemas.microsoft.com/office/drawing/2014/main" id="{6FA706A3-68B6-B471-9F62-9B023024B9B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198997" y="2272395"/>
            <a:ext cx="439604" cy="2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5C5AD7E0-3E3F-9647-52E7-1DD51DB3EC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23000" y="2272395"/>
            <a:ext cx="439604" cy="225"/>
          </a:xfrm>
          <a:prstGeom prst="line">
            <a:avLst/>
          </a:prstGeom>
          <a:ln>
            <a:solidFill>
              <a:srgbClr val="B8DE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4B38B2E1-F7E9-793C-6F2F-6E0FBD259C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40217" y="2272395"/>
            <a:ext cx="439604" cy="225"/>
          </a:xfrm>
          <a:prstGeom prst="line">
            <a:avLst/>
          </a:prstGeom>
          <a:ln>
            <a:solidFill>
              <a:srgbClr val="3B9B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">
            <a:extLst>
              <a:ext uri="{FF2B5EF4-FFF2-40B4-BE49-F238E27FC236}">
                <a16:creationId xmlns:a16="http://schemas.microsoft.com/office/drawing/2014/main" id="{A86AC139-4C90-C526-14C7-C9EF8E868EFE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557491" y="3256391"/>
            <a:ext cx="2871509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URL: </a:t>
            </a:r>
            <a:r>
              <a:rPr lang="en-US" sz="1200" dirty="0">
                <a:hlinkClick r:id="rId9"/>
              </a:rPr>
              <a:t>https://github.com/Infineon/retarget-io</a:t>
            </a:r>
            <a:br>
              <a:rPr lang="en-US" sz="1200" dirty="0"/>
            </a:br>
            <a:endParaRPr lang="en-US" sz="1200" dirty="0"/>
          </a:p>
          <a:p>
            <a:r>
              <a:rPr lang="en-US" sz="1400" dirty="0"/>
              <a:t>Version: release-v1.10.0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Path: libs/retarget-io</a:t>
            </a:r>
          </a:p>
        </p:txBody>
      </p:sp>
      <p:sp>
        <p:nvSpPr>
          <p:cNvPr id="29" name="TextBox">
            <a:extLst>
              <a:ext uri="{FF2B5EF4-FFF2-40B4-BE49-F238E27FC236}">
                <a16:creationId xmlns:a16="http://schemas.microsoft.com/office/drawing/2014/main" id="{22241018-A1C9-4603-C9E2-A9903B16455F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3909588" y="3256391"/>
            <a:ext cx="3495736" cy="21724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Parses the .</a:t>
            </a:r>
            <a:r>
              <a:rPr lang="en-US" sz="1400" dirty="0" err="1"/>
              <a:t>mtb</a:t>
            </a:r>
            <a:r>
              <a:rPr lang="en-US" sz="1400" dirty="0"/>
              <a:t> file</a:t>
            </a:r>
          </a:p>
          <a:p>
            <a:pPr lvl="1"/>
            <a:r>
              <a:rPr lang="en-US" sz="1200" dirty="0"/>
              <a:t>Runs git clone with the specified URL </a:t>
            </a:r>
            <a:br>
              <a:rPr lang="en-US" sz="1200" dirty="0"/>
            </a:br>
            <a:r>
              <a:rPr lang="en-US" sz="1200" dirty="0"/>
              <a:t>and version tag</a:t>
            </a:r>
          </a:p>
          <a:p>
            <a:pPr lvl="1"/>
            <a:r>
              <a:rPr lang="en-US" sz="1200" dirty="0"/>
              <a:t>Resolves transitive dependencies (each library can have its own deps/) </a:t>
            </a:r>
            <a:br>
              <a:rPr lang="en-US" sz="1200" dirty="0"/>
            </a:br>
            <a:endParaRPr lang="en-US" sz="1200" dirty="0"/>
          </a:p>
          <a:p>
            <a:r>
              <a:rPr lang="en-US" sz="1400" dirty="0"/>
              <a:t>Generates</a:t>
            </a:r>
          </a:p>
          <a:p>
            <a:pPr lvl="1"/>
            <a:r>
              <a:rPr lang="en-US" sz="1200" dirty="0"/>
              <a:t>libs/mtb.mk</a:t>
            </a:r>
          </a:p>
          <a:p>
            <a:pPr lvl="1"/>
            <a:r>
              <a:rPr lang="en-US" sz="1200" dirty="0"/>
              <a:t>SEARCH_* paths</a:t>
            </a:r>
            <a:endParaRPr lang="en-US" sz="1000" dirty="0"/>
          </a:p>
        </p:txBody>
      </p:sp>
      <p:sp>
        <p:nvSpPr>
          <p:cNvPr id="30" name="TextBox">
            <a:extLst>
              <a:ext uri="{FF2B5EF4-FFF2-40B4-BE49-F238E27FC236}">
                <a16:creationId xmlns:a16="http://schemas.microsoft.com/office/drawing/2014/main" id="{64A51177-D85C-AE25-0520-6C333BAA877A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7756341" y="3256391"/>
            <a:ext cx="3878168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Full library source code, checked out at the pinned version.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Shared across all projects in the workspace.</a:t>
            </a:r>
          </a:p>
          <a:p>
            <a:pPr lvl="1"/>
            <a:r>
              <a:rPr lang="en-US" sz="1200" dirty="0"/>
              <a:t>Never committed to any project's Git repo.</a:t>
            </a:r>
          </a:p>
        </p:txBody>
      </p:sp>
      <p:pic>
        <p:nvPicPr>
          <p:cNvPr id="10" name="Computer">
            <a:extLst>
              <a:ext uri="{FF2B5EF4-FFF2-40B4-BE49-F238E27FC236}">
                <a16:creationId xmlns:a16="http://schemas.microsoft.com/office/drawing/2014/main" id="{22B5C20E-BB1F-F074-0E27-80CE14C350D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90199" y="2638114"/>
            <a:ext cx="457200" cy="4572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23F8761-87E0-1845-11C9-13E36BC11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4202" y="2638113"/>
            <a:ext cx="457200" cy="457200"/>
          </a:xfrm>
          <a:prstGeom prst="rect">
            <a:avLst/>
          </a:prstGeom>
        </p:spPr>
      </p:pic>
      <p:pic>
        <p:nvPicPr>
          <p:cNvPr id="9" name="Cloud">
            <a:extLst>
              <a:ext uri="{FF2B5EF4-FFF2-40B4-BE49-F238E27FC236}">
                <a16:creationId xmlns:a16="http://schemas.microsoft.com/office/drawing/2014/main" id="{997BA07C-533C-8849-9BE0-07EB8FAC4B9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8856" y="2627330"/>
            <a:ext cx="457200" cy="45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424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E6BA-6AD6-0F42-F7A9-D5600F7D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6E352148-9F28-595E-3AB2-1E3F39B48B1D}"/>
              </a:ext>
            </a:extLst>
          </p:cNvPr>
          <p:cNvSpPr/>
          <p:nvPr/>
        </p:nvSpPr>
        <p:spPr>
          <a:xfrm>
            <a:off x="6126038" y="1905000"/>
            <a:ext cx="5724000" cy="440048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10AFE340-EF90-B1A4-ED77-58279097C1A5}"/>
              </a:ext>
            </a:extLst>
          </p:cNvPr>
          <p:cNvSpPr/>
          <p:nvPr/>
        </p:nvSpPr>
        <p:spPr>
          <a:xfrm>
            <a:off x="334434" y="1905000"/>
            <a:ext cx="5724000" cy="4400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algn="ctr"/>
            <a:endParaRPr lang="en-US" sz="32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132AC5A-1A4C-B79C-DBA4-536934C7C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are deps/ and libs/ folders?</a:t>
            </a:r>
          </a:p>
        </p:txBody>
      </p:sp>
      <p:sp>
        <p:nvSpPr>
          <p:cNvPr id="10" name="Rechteck 42">
            <a:extLst>
              <a:ext uri="{FF2B5EF4-FFF2-40B4-BE49-F238E27FC236}">
                <a16:creationId xmlns:a16="http://schemas.microsoft.com/office/drawing/2014/main" id="{A1865F31-F241-ABAE-FC11-BFC97669DF11}"/>
              </a:ext>
            </a:extLst>
          </p:cNvPr>
          <p:cNvSpPr/>
          <p:nvPr/>
        </p:nvSpPr>
        <p:spPr bwMode="auto">
          <a:xfrm>
            <a:off x="5194942" y="3123444"/>
            <a:ext cx="1800000" cy="1800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00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09816E-8E5E-5F12-EAF2-0EEEF284D184}"/>
              </a:ext>
            </a:extLst>
          </p:cNvPr>
          <p:cNvSpPr txBox="1">
            <a:spLocks/>
          </p:cNvSpPr>
          <p:nvPr/>
        </p:nvSpPr>
        <p:spPr>
          <a:xfrm>
            <a:off x="518855" y="2209801"/>
            <a:ext cx="4320000" cy="39716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latin typeface="+mn-lt"/>
              </a:defRPr>
            </a:lvl1pPr>
            <a:lvl2pPr marL="504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latin typeface="+mn-lt"/>
              </a:defRPr>
            </a:lvl2pPr>
            <a:lvl3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3pPr>
            <a:lvl4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4pPr>
            <a:lvl5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5pPr>
            <a:lvl6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baseline="0">
                <a:latin typeface="+mn-lt"/>
              </a:defRPr>
            </a:lvl6pPr>
            <a:lvl7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7pPr>
            <a:lvl8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8pPr>
            <a:lvl9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9pPr>
          </a:lstStyle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What is inside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en-US" dirty="0" err="1">
                <a:solidFill>
                  <a:schemeClr val="bg1"/>
                </a:solidFill>
              </a:rPr>
              <a:t>mtb</a:t>
            </a:r>
            <a:r>
              <a:rPr lang="en-US" dirty="0">
                <a:solidFill>
                  <a:schemeClr val="bg1"/>
                </a:solidFill>
              </a:rPr>
              <a:t> files you declare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Who controls it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You (the developer)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What is represents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What you asked for</a:t>
            </a: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Version control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Yes, this should in the git commit</a:t>
            </a:r>
          </a:p>
          <a:p>
            <a:pPr marL="0" indent="0">
              <a:buClr>
                <a:schemeClr val="bg1"/>
              </a:buCl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79F0524-C2D1-B076-28A6-E3C5D6AFB235}"/>
              </a:ext>
            </a:extLst>
          </p:cNvPr>
          <p:cNvSpPr txBox="1">
            <a:spLocks/>
          </p:cNvSpPr>
          <p:nvPr/>
        </p:nvSpPr>
        <p:spPr>
          <a:xfrm>
            <a:off x="6994941" y="2209800"/>
            <a:ext cx="4678203" cy="3971634"/>
          </a:xfrm>
          <a:prstGeom prst="rect">
            <a:avLst/>
          </a:prstGeom>
        </p:spPr>
        <p:txBody>
          <a:bodyPr vert="horz" lIns="180000" tIns="0" rIns="0" bIns="0" rtlCol="0">
            <a:noAutofit/>
          </a:bodyPr>
          <a:lstStyle>
            <a:lvl1pPr marL="252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latin typeface="+mn-lt"/>
              </a:defRPr>
            </a:lvl1pPr>
            <a:lvl2pPr marL="504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latin typeface="+mn-lt"/>
              </a:defRPr>
            </a:lvl2pPr>
            <a:lvl3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3pPr>
            <a:lvl4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4pPr>
            <a:lvl5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5pPr>
            <a:lvl6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baseline="0">
                <a:latin typeface="+mn-lt"/>
              </a:defRPr>
            </a:lvl6pPr>
            <a:lvl7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7pPr>
            <a:lvl8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8pPr>
            <a:lvl9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9pPr>
          </a:lstStyle>
          <a:p>
            <a:r>
              <a:rPr lang="en-US" b="1" dirty="0"/>
              <a:t>What is inside</a:t>
            </a:r>
            <a:br>
              <a:rPr lang="en-US" dirty="0"/>
            </a:br>
            <a:r>
              <a:rPr lang="en-US" dirty="0"/>
              <a:t>resolved .</a:t>
            </a:r>
            <a:r>
              <a:rPr lang="en-US" dirty="0" err="1"/>
              <a:t>mtb</a:t>
            </a:r>
            <a:r>
              <a:rPr lang="en-US" dirty="0"/>
              <a:t> file or generated .</a:t>
            </a:r>
            <a:r>
              <a:rPr lang="en-US" dirty="0" err="1"/>
              <a:t>mk</a:t>
            </a:r>
            <a:r>
              <a:rPr lang="en-US" dirty="0"/>
              <a:t> files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Who controls it</a:t>
            </a:r>
            <a:br>
              <a:rPr lang="en-US" dirty="0"/>
            </a:br>
            <a:r>
              <a:rPr lang="en-US" dirty="0"/>
              <a:t>make </a:t>
            </a:r>
            <a:r>
              <a:rPr lang="en-US" dirty="0" err="1"/>
              <a:t>getlibs</a:t>
            </a:r>
            <a:r>
              <a:rPr lang="en-US" dirty="0"/>
              <a:t> (the tool)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What is represents</a:t>
            </a:r>
            <a:br>
              <a:rPr lang="en-US" dirty="0"/>
            </a:br>
            <a:r>
              <a:rPr lang="en-US" dirty="0"/>
              <a:t>Everything the build actually needs</a:t>
            </a:r>
          </a:p>
          <a:p>
            <a:endParaRPr lang="en-US" dirty="0"/>
          </a:p>
          <a:p>
            <a:r>
              <a:rPr lang="en-US" b="1" dirty="0"/>
              <a:t>Version control</a:t>
            </a:r>
            <a:br>
              <a:rPr lang="en-US" dirty="0"/>
            </a:br>
            <a:r>
              <a:rPr lang="en-US" dirty="0"/>
              <a:t>No, this is restored and reconstructed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8D726-9867-3C34-0EDE-0C815B569DA4}"/>
              </a:ext>
            </a:extLst>
          </p:cNvPr>
          <p:cNvSpPr/>
          <p:nvPr/>
        </p:nvSpPr>
        <p:spPr bwMode="auto">
          <a:xfrm>
            <a:off x="6058434" y="2983395"/>
            <a:ext cx="61379" cy="1998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hteck 42">
            <a:extLst>
              <a:ext uri="{FF2B5EF4-FFF2-40B4-BE49-F238E27FC236}">
                <a16:creationId xmlns:a16="http://schemas.microsoft.com/office/drawing/2014/main" id="{FB07970F-DDD4-D3F1-3C97-BDD78ED6BB7F}"/>
              </a:ext>
            </a:extLst>
          </p:cNvPr>
          <p:cNvSpPr/>
          <p:nvPr/>
        </p:nvSpPr>
        <p:spPr bwMode="auto">
          <a:xfrm>
            <a:off x="5374942" y="3303444"/>
            <a:ext cx="1440000" cy="1440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2400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VS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24D99-B526-0BF8-001E-AE50302B5EA8}"/>
              </a:ext>
            </a:extLst>
          </p:cNvPr>
          <p:cNvSpPr/>
          <p:nvPr/>
        </p:nvSpPr>
        <p:spPr bwMode="auto">
          <a:xfrm>
            <a:off x="334434" y="1219200"/>
            <a:ext cx="5724000" cy="609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2400" b="1" dirty="0">
                <a:solidFill>
                  <a:schemeClr val="bg1"/>
                </a:solidFill>
                <a:latin typeface="+mn-lt"/>
              </a:rPr>
              <a:t>deps/</a:t>
            </a:r>
            <a:endParaRPr lang="en-US" sz="2400" b="1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C2945-72F8-28FC-AAF2-D04494FB0CC6}"/>
              </a:ext>
            </a:extLst>
          </p:cNvPr>
          <p:cNvSpPr/>
          <p:nvPr/>
        </p:nvSpPr>
        <p:spPr bwMode="auto">
          <a:xfrm>
            <a:off x="6126038" y="1219200"/>
            <a:ext cx="5724000" cy="609600"/>
          </a:xfrm>
          <a:prstGeom prst="rect">
            <a:avLst/>
          </a:prstGeom>
          <a:noFill/>
          <a:ln w="9525">
            <a:solidFill>
              <a:srgbClr val="0A8276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2400" b="1" dirty="0">
                <a:solidFill>
                  <a:srgbClr val="0A8276"/>
                </a:solidFill>
                <a:latin typeface="+mn-lt"/>
              </a:rPr>
              <a:t>libs/</a:t>
            </a:r>
            <a:endParaRPr lang="en-US" sz="2400" b="1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1798571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FAA60-D7E1-D2C0-BB5D-B5191FD911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5410200"/>
            <a:ext cx="11520000" cy="971551"/>
          </a:xfrm>
        </p:spPr>
        <p:txBody>
          <a:bodyPr/>
          <a:lstStyle/>
          <a:p>
            <a:r>
              <a:rPr lang="en-US" dirty="0"/>
              <a:t>ModusToolbox™ Code Example projects include a starting .</a:t>
            </a:r>
            <a:r>
              <a:rPr lang="en-US" dirty="0" err="1"/>
              <a:t>gitignore</a:t>
            </a:r>
            <a:r>
              <a:rPr lang="en-US" dirty="0"/>
              <a:t> reference file.</a:t>
            </a:r>
          </a:p>
          <a:p>
            <a:r>
              <a:rPr lang="en-US" dirty="0"/>
              <a:t>This file should be edited based on the user’s workflow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6C315-7992-8438-C87F-675B89E8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commit, what to ignore?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B7B059-D9BC-786A-3320-83789491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060042"/>
              </p:ext>
            </p:extLst>
          </p:nvPr>
        </p:nvGraphicFramePr>
        <p:xfrm>
          <a:off x="661581" y="1524000"/>
          <a:ext cx="10866438" cy="3200400"/>
        </p:xfrm>
        <a:graphic>
          <a:graphicData uri="http://schemas.openxmlformats.org/drawingml/2006/table">
            <a:tbl>
              <a:tblPr firstRow="1" firstCol="1" bandCol="1">
                <a:tableStyleId>{B301B821-A1FF-4177-AEE7-76D212191A09}</a:tableStyleId>
              </a:tblPr>
              <a:tblGrid>
                <a:gridCol w="4140471">
                  <a:extLst>
                    <a:ext uri="{9D8B030D-6E8A-4147-A177-3AD203B41FA5}">
                      <a16:colId xmlns:a16="http://schemas.microsoft.com/office/drawing/2014/main" val="38016829"/>
                    </a:ext>
                  </a:extLst>
                </a:gridCol>
                <a:gridCol w="6725967">
                  <a:extLst>
                    <a:ext uri="{9D8B030D-6E8A-4147-A177-3AD203B41FA5}">
                      <a16:colId xmlns:a16="http://schemas.microsoft.com/office/drawing/2014/main" val="136849446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COMMIT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182880" marR="182880" marT="91440" marB="9144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IGNORE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182880" marR="182880" marT="91440" marB="9144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72061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build/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5704577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main.c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and all source files</a:t>
                      </a: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(regenerated by 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159496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deps/*.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libs/ (transitive 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+ mtb.mk pointing to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4347099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bsps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(BSP customizations)</a:t>
                      </a: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vscode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(user-specific)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0431845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marR="0" lvl="0" indent="0" algn="l" defTabSz="121917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gitignore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itself</a:t>
                      </a: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.cache/ (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clangd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/ IntelliSense index)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9420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31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8ECFD7-D690-A623-E78D-E01D0444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version-controlled project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AC46D9-E421-5357-3A96-B74006DAE450}"/>
              </a:ext>
            </a:extLst>
          </p:cNvPr>
          <p:cNvSpPr/>
          <p:nvPr/>
        </p:nvSpPr>
        <p:spPr bwMode="auto">
          <a:xfrm>
            <a:off x="762000" y="1311626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Clone the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A0A83-8349-CF9C-B3B6-22CEB7BC0E5D}"/>
              </a:ext>
            </a:extLst>
          </p:cNvPr>
          <p:cNvSpPr/>
          <p:nvPr/>
        </p:nvSpPr>
        <p:spPr bwMode="auto">
          <a:xfrm>
            <a:off x="762000" y="32943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Resolve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6BD4E3-390E-191E-16DD-8C2031D54FBA}"/>
              </a:ext>
            </a:extLst>
          </p:cNvPr>
          <p:cNvSpPr/>
          <p:nvPr/>
        </p:nvSpPr>
        <p:spPr bwMode="auto">
          <a:xfrm>
            <a:off x="762000" y="23037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Import into IDE</a:t>
            </a:r>
            <a:b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(optional)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7D75CA-B385-81E7-B2B6-80B6A2C4945C}"/>
              </a:ext>
            </a:extLst>
          </p:cNvPr>
          <p:cNvSpPr/>
          <p:nvPr/>
        </p:nvSpPr>
        <p:spPr bwMode="auto">
          <a:xfrm>
            <a:off x="762000" y="42849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Build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4C28E2-27D5-1678-B63E-7C225154CA33}"/>
              </a:ext>
            </a:extLst>
          </p:cNvPr>
          <p:cNvSpPr/>
          <p:nvPr/>
        </p:nvSpPr>
        <p:spPr bwMode="auto">
          <a:xfrm>
            <a:off x="762000" y="52755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Working Binary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C0D8F9-F84A-CD7A-E791-DB20D5EBF2D5}"/>
              </a:ext>
            </a:extLst>
          </p:cNvPr>
          <p:cNvSpPr/>
          <p:nvPr/>
        </p:nvSpPr>
        <p:spPr bwMode="auto">
          <a:xfrm>
            <a:off x="3276600" y="1320076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b="1" kern="0" dirty="0"/>
              <a:t>git clone &lt;project-</a:t>
            </a:r>
            <a:r>
              <a:rPr lang="en-US" sz="1600" b="1" kern="0" dirty="0" err="1"/>
              <a:t>url</a:t>
            </a:r>
            <a:r>
              <a:rPr lang="en-US" sz="1600" b="1" kern="0" dirty="0"/>
              <a:t>&gt;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Gets </a:t>
            </a:r>
            <a:r>
              <a:rPr lang="en-US" sz="1600" kern="0" dirty="0" err="1"/>
              <a:t>Makefile</a:t>
            </a:r>
            <a:r>
              <a:rPr lang="en-US" sz="1600" kern="0" dirty="0"/>
              <a:t>, </a:t>
            </a:r>
            <a:r>
              <a:rPr lang="en-US" sz="1600" kern="0" dirty="0" err="1"/>
              <a:t>main.c</a:t>
            </a:r>
            <a:r>
              <a:rPr lang="en-US" sz="1600" kern="0" dirty="0"/>
              <a:t>, deps/*.</a:t>
            </a:r>
            <a:r>
              <a:rPr lang="en-US" sz="1600" kern="0" dirty="0" err="1"/>
              <a:t>mtb</a:t>
            </a:r>
            <a:r>
              <a:rPr lang="en-US" sz="1600" kern="0" dirty="0"/>
              <a:t>, </a:t>
            </a:r>
            <a:r>
              <a:rPr lang="en-US" sz="1600" kern="0" dirty="0" err="1"/>
              <a:t>bsps</a:t>
            </a:r>
            <a:r>
              <a:rPr lang="en-US" sz="1600" kern="0" dirty="0"/>
              <a:t>/ — everything committed to Git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F310A-6669-963F-0D45-3FF07B806861}"/>
              </a:ext>
            </a:extLst>
          </p:cNvPr>
          <p:cNvSpPr/>
          <p:nvPr/>
        </p:nvSpPr>
        <p:spPr bwMode="auto">
          <a:xfrm>
            <a:off x="3276600" y="2298778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Open VS Code, Eclipse IDE, IAR Embedded Workbench, or Arm </a:t>
            </a:r>
            <a:r>
              <a:rPr lang="en-US" sz="1600" kern="0" dirty="0" err="1"/>
              <a:t>uVision</a:t>
            </a:r>
            <a:endParaRPr lang="en-US" sz="1600" kern="0" dirty="0"/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Follow specific steps from respective ModusToolbox™ IDE user guides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13096-738B-3515-CD83-FA5CFC0038C6}"/>
              </a:ext>
            </a:extLst>
          </p:cNvPr>
          <p:cNvSpPr/>
          <p:nvPr/>
        </p:nvSpPr>
        <p:spPr bwMode="auto">
          <a:xfrm>
            <a:off x="3276600" y="3294381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b="1" kern="0" dirty="0"/>
              <a:t>make </a:t>
            </a:r>
            <a:r>
              <a:rPr lang="en-US" sz="1600" b="1" kern="0" dirty="0" err="1"/>
              <a:t>getlibs</a:t>
            </a:r>
            <a:r>
              <a:rPr lang="en-US" sz="1600" kern="0" dirty="0"/>
              <a:t>   (Importing into VS Code or Eclipse will complete this step)</a:t>
            </a:r>
            <a:endParaRPr lang="en-US" sz="1600" b="1" kern="0" dirty="0"/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Reads deps/*.</a:t>
            </a:r>
            <a:r>
              <a:rPr lang="en-US" sz="1600" kern="0" dirty="0" err="1"/>
              <a:t>mtb</a:t>
            </a:r>
            <a:r>
              <a:rPr lang="en-US" sz="1600" kern="0" dirty="0"/>
              <a:t> → clones libraries to </a:t>
            </a:r>
            <a:r>
              <a:rPr lang="en-US" sz="1600" kern="0" dirty="0" err="1"/>
              <a:t>mtb_shared</a:t>
            </a:r>
            <a:r>
              <a:rPr lang="en-US" sz="1600" kern="0" dirty="0"/>
              <a:t>/ → generates libs/mtb.mk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C6CFC9-7F8D-B86D-808E-2CDCDB1D32B8}"/>
              </a:ext>
            </a:extLst>
          </p:cNvPr>
          <p:cNvSpPr/>
          <p:nvPr/>
        </p:nvSpPr>
        <p:spPr bwMode="auto">
          <a:xfrm>
            <a:off x="3276600" y="4277932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Build application with </a:t>
            </a:r>
            <a:r>
              <a:rPr lang="en-US" sz="1600" b="1" kern="0" dirty="0"/>
              <a:t>make build</a:t>
            </a:r>
            <a:r>
              <a:rPr lang="en-US" sz="1600" kern="0" dirty="0"/>
              <a:t> or via IDE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Compiles application + all dependencies into firmware binary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AB93A8-C8B1-A21B-961C-3202AB7B72F4}"/>
              </a:ext>
            </a:extLst>
          </p:cNvPr>
          <p:cNvSpPr/>
          <p:nvPr/>
        </p:nvSpPr>
        <p:spPr bwMode="auto">
          <a:xfrm>
            <a:off x="3276600" y="5288748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Flash to board with </a:t>
            </a:r>
            <a:r>
              <a:rPr lang="en-US" sz="1600" b="1" kern="0" dirty="0"/>
              <a:t>make program </a:t>
            </a:r>
            <a:r>
              <a:rPr lang="en-US" sz="1600" kern="0" dirty="0"/>
              <a:t>or via IDE</a:t>
            </a:r>
          </a:p>
        </p:txBody>
      </p:sp>
    </p:spTree>
    <p:extLst>
      <p:ext uri="{BB962C8B-B14F-4D97-AF65-F5344CB8AC3E}">
        <p14:creationId xmlns:p14="http://schemas.microsoft.com/office/powerpoint/2010/main" val="390178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8AC0B-95FE-8016-A017-7663C3E9DA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600" y="4876800"/>
            <a:ext cx="10820400" cy="1524000"/>
          </a:xfrm>
        </p:spPr>
        <p:txBody>
          <a:bodyPr/>
          <a:lstStyle/>
          <a:p>
            <a:r>
              <a:rPr lang="en-US" sz="1600" dirty="0"/>
              <a:t>VS Code include built-in version control tracking, management, and visualization</a:t>
            </a:r>
          </a:p>
          <a:p>
            <a:r>
              <a:rPr lang="en-US" sz="1600" dirty="0"/>
              <a:t>Eclipse includes additional Views that support version control</a:t>
            </a:r>
          </a:p>
          <a:p>
            <a:r>
              <a:rPr lang="en-US" sz="1600" dirty="0"/>
              <a:t>ModusToolbox™ (on Windows) include a version of Cygwin Git</a:t>
            </a:r>
          </a:p>
          <a:p>
            <a:pPr lvl="1"/>
            <a:r>
              <a:rPr lang="en-US" dirty="0"/>
              <a:t>This is what ModusToolbox™ uses by default</a:t>
            </a:r>
          </a:p>
          <a:p>
            <a:pPr lvl="1"/>
            <a:r>
              <a:rPr lang="en-US" dirty="0"/>
              <a:t>This instance does use different git configurations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5A84D-0AA1-D6C1-35B4-730F2B16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workflow best practices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29BE15-6662-C9FA-7651-5E90BECB2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480601"/>
              </p:ext>
            </p:extLst>
          </p:nvPr>
        </p:nvGraphicFramePr>
        <p:xfrm>
          <a:off x="684600" y="1295400"/>
          <a:ext cx="10820400" cy="33680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963600">
                  <a:extLst>
                    <a:ext uri="{9D8B030D-6E8A-4147-A177-3AD203B41FA5}">
                      <a16:colId xmlns:a16="http://schemas.microsoft.com/office/drawing/2014/main" val="1262817085"/>
                    </a:ext>
                  </a:extLst>
                </a:gridCol>
                <a:gridCol w="6856800">
                  <a:extLst>
                    <a:ext uri="{9D8B030D-6E8A-4147-A177-3AD203B41FA5}">
                      <a16:colId xmlns:a16="http://schemas.microsoft.com/office/drawing/2014/main" val="932795836"/>
                    </a:ext>
                  </a:extLst>
                </a:gridCol>
              </a:tblGrid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Practice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Why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123391170"/>
                  </a:ext>
                </a:extLst>
              </a:tr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One project per repo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(preferred)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Clean history, independent versioning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149622523"/>
                  </a:ext>
                </a:extLst>
              </a:tr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Commit .</a:t>
                      </a:r>
                      <a:r>
                        <a:rPr lang="en-US" sz="1800" b="1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 files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Reproducible dependency resolution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366551341"/>
                  </a:ext>
                </a:extLst>
              </a:tr>
              <a:tr h="39234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Never commit </a:t>
                      </a:r>
                      <a:r>
                        <a:rPr lang="en-US" sz="1800" b="1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/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It's regenerated; committing bloats the repo enormously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929293852"/>
                  </a:ext>
                </a:extLst>
              </a:tr>
              <a:tr h="39234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Tag releases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Match your project version to tested BSP/middleware versions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995337707"/>
                  </a:ext>
                </a:extLst>
              </a:tr>
              <a:tr h="39234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Document BSP + MTB version in README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e.g., "Tested with KIT_PSC3M6_EVAL in ModusToolbox™ 3.9"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137354898"/>
                  </a:ext>
                </a:extLst>
              </a:tr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Use branches for BSP variants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If supporting multiple boards, branch per target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034500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027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74058E-9E48-D9A2-D76F-25D58696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 / Exercise</a:t>
            </a:r>
            <a:br>
              <a:rPr lang="en-US" dirty="0"/>
            </a:br>
            <a:r>
              <a:rPr lang="en-US" sz="3200" b="0" dirty="0"/>
              <a:t>Clone a real project and </a:t>
            </a:r>
            <a:br>
              <a:rPr lang="en-US" sz="3200" b="0" dirty="0"/>
            </a:br>
            <a:r>
              <a:rPr lang="en-US" sz="3200" b="0" dirty="0"/>
              <a:t>verify dependencies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3806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4BF6B46-A17F-8099-7CAE-1F824F5CDCB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45202932"/>
              </p:ext>
            </p:extLst>
          </p:nvPr>
        </p:nvGraphicFramePr>
        <p:xfrm>
          <a:off x="377214" y="1143000"/>
          <a:ext cx="11435985" cy="511535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65786">
                  <a:extLst>
                    <a:ext uri="{9D8B030D-6E8A-4147-A177-3AD203B41FA5}">
                      <a16:colId xmlns:a16="http://schemas.microsoft.com/office/drawing/2014/main" val="3506067205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3338201664"/>
                    </a:ext>
                  </a:extLst>
                </a:gridCol>
                <a:gridCol w="4726599">
                  <a:extLst>
                    <a:ext uri="{9D8B030D-6E8A-4147-A177-3AD203B41FA5}">
                      <a16:colId xmlns:a16="http://schemas.microsoft.com/office/drawing/2014/main" val="1199779295"/>
                    </a:ext>
                  </a:extLst>
                </a:gridCol>
              </a:tblGrid>
              <a:tr h="347949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5641" marR="75641" marT="37821" marB="37821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Command / Action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5641" marR="75641" marT="37821" marB="37821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5641" marR="75641" marT="37821" marB="37821"/>
                </a:tc>
                <a:extLst>
                  <a:ext uri="{0D108BD9-81ED-4DB2-BD59-A6C34878D82A}">
                    <a16:rowId xmlns:a16="http://schemas.microsoft.com/office/drawing/2014/main" val="2066836049"/>
                  </a:ext>
                </a:extLst>
              </a:tr>
              <a:tr h="3479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Open </a:t>
                      </a: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Modus-Shell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4034614014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mkdir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C:/MTB_Training &amp;&amp; cd C:/MTB_Training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Create a workspace directory for the training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818344109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git clone 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hlinkClick r:id="rId2"/>
                        </a:rPr>
                        <a:t>https://github.com/ClarkJ-Infineon/mtb-training-blinky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Project cloned into workspace (no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or libs/ yet)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2270062384"/>
                  </a:ext>
                </a:extLst>
              </a:tr>
              <a:tr h="3479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cd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-training-blinky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3290630325"/>
                  </a:ext>
                </a:extLst>
              </a:tr>
              <a:tr h="3479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ls deps/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See .mtb files for BSP and libraries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2082638013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Libraries cloned into ../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/, libs/mtb.mk generated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3164773836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7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make build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Successful build for KIT_PSC3M6_EVAL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2594465060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8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Inspect libs/ directory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See transitive 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files and mtb.mk with SEARCH paths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4176491696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9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Inspect libs/mtb.mk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See the SEARCH_ paths that wire libraries into the build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4194239959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C9AA428-CDA5-B3A3-D013-832D92003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Clone a real project and verify dependencies</a:t>
            </a:r>
          </a:p>
        </p:txBody>
      </p:sp>
    </p:spTree>
    <p:extLst>
      <p:ext uri="{BB962C8B-B14F-4D97-AF65-F5344CB8AC3E}">
        <p14:creationId xmlns:p14="http://schemas.microsoft.com/office/powerpoint/2010/main" val="190617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F6C4-141D-40FB-873C-109F1FA2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5B56BF-40AE-D8FF-FE52-382578FC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Sharing, importing and</a:t>
            </a:r>
            <a:br>
              <a:rPr lang="en-US" dirty="0"/>
            </a:br>
            <a:r>
              <a:rPr lang="en-US" dirty="0"/>
              <a:t>exporting projects	</a:t>
            </a:r>
          </a:p>
        </p:txBody>
      </p:sp>
    </p:spTree>
    <p:extLst>
      <p:ext uri="{BB962C8B-B14F-4D97-AF65-F5344CB8AC3E}">
        <p14:creationId xmlns:p14="http://schemas.microsoft.com/office/powerpoint/2010/main" val="243549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F9F56C-1608-4886-744E-A74DCA01B0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451" y="4724400"/>
            <a:ext cx="11520000" cy="1600200"/>
          </a:xfrm>
        </p:spPr>
        <p:txBody>
          <a:bodyPr/>
          <a:lstStyle/>
          <a:p>
            <a:r>
              <a:rPr lang="en-US" sz="1600" b="1" dirty="0"/>
              <a:t>Do not include </a:t>
            </a:r>
            <a:r>
              <a:rPr lang="en-US" sz="1600" b="1" dirty="0" err="1"/>
              <a:t>mtb_shared</a:t>
            </a:r>
            <a:r>
              <a:rPr lang="en-US" sz="1600" b="1" dirty="0"/>
              <a:t>/ in archives.</a:t>
            </a:r>
            <a:r>
              <a:rPr lang="en-US" sz="1600" dirty="0"/>
              <a:t> </a:t>
            </a:r>
            <a:r>
              <a:rPr lang="en-US" sz="1600" dirty="0" err="1"/>
              <a:t>mtb_shared</a:t>
            </a:r>
            <a:r>
              <a:rPr lang="en-US" sz="1600" dirty="0"/>
              <a:t>/ is a workspace-level cache shared across all projects.</a:t>
            </a:r>
          </a:p>
          <a:p>
            <a:r>
              <a:rPr lang="en-US" sz="1600" dirty="0"/>
              <a:t>It contains every library version you've ever resolved, not just the ones your project uses. </a:t>
            </a:r>
          </a:p>
          <a:p>
            <a:r>
              <a:rPr lang="en-US" sz="1600" dirty="0"/>
              <a:t>Including it unnecessary files (often 200+ MB), creates confusion for the recipient, and may be overwritten anyway if the import process re-runs make </a:t>
            </a:r>
            <a:r>
              <a:rPr lang="en-US" sz="1600" dirty="0" err="1"/>
              <a:t>getlibs</a:t>
            </a:r>
            <a:r>
              <a:rPr lang="en-US" sz="1600" dirty="0"/>
              <a:t>. </a:t>
            </a:r>
          </a:p>
          <a:p>
            <a:r>
              <a:rPr lang="en-US" sz="1600" dirty="0"/>
              <a:t>Always let the recipient run make </a:t>
            </a:r>
            <a:r>
              <a:rPr lang="en-US" sz="1600" dirty="0" err="1"/>
              <a:t>getlibs</a:t>
            </a:r>
            <a:r>
              <a:rPr lang="en-US" sz="1600" dirty="0"/>
              <a:t> to get exactly what the project needs.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3AF0C9-9303-4693-B70D-F074E252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typical ways to share a project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F20B9C-3DEB-AC04-F923-B9AC1ECA1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048549"/>
              </p:ext>
            </p:extLst>
          </p:nvPr>
        </p:nvGraphicFramePr>
        <p:xfrm>
          <a:off x="334963" y="1219200"/>
          <a:ext cx="11520488" cy="325001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74837">
                  <a:extLst>
                    <a:ext uri="{9D8B030D-6E8A-4147-A177-3AD203B41FA5}">
                      <a16:colId xmlns:a16="http://schemas.microsoft.com/office/drawing/2014/main" val="227597049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805728526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014884257"/>
                    </a:ext>
                  </a:extLst>
                </a:gridCol>
                <a:gridCol w="3321051">
                  <a:extLst>
                    <a:ext uri="{9D8B030D-6E8A-4147-A177-3AD203B41FA5}">
                      <a16:colId xmlns:a16="http://schemas.microsoft.com/office/drawing/2014/main" val="1151151884"/>
                    </a:ext>
                  </a:extLst>
                </a:gridCol>
              </a:tblGrid>
              <a:tr h="47633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Scenario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What controls the outcome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Includes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mtb_shared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?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248407544"/>
                  </a:ext>
                </a:extLst>
              </a:tr>
              <a:tr h="76678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Git repo</a:t>
                      </a:r>
                      <a:b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(push/pull)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Cleanest for teams leveraging Git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.</a:t>
                      </a: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gitignore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Defines what's tracked vs. excluded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Recipient runs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make </a:t>
                      </a: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600" b="1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180609621"/>
                  </a:ext>
                </a:extLst>
              </a:tr>
              <a:tr h="76678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mtbarchive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(CLI or GUI)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MTB-aware archive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Includes the right files, excludes generated artifacts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Built-in best practices, tool knows the MTB project structure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Recipient runs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make </a:t>
                      </a: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600" b="1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4022126115"/>
                  </a:ext>
                </a:extLst>
              </a:tr>
              <a:tr h="58089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IDE Export / manual ZIP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IDE "Export ModusToolbox™ Application" or zip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User's understanding of what to include — YMMV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No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See warning below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28674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639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9887E3-12BF-6386-6838-AA191CEB32A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GUI version is accessible via</a:t>
            </a:r>
          </a:p>
          <a:p>
            <a:pPr lvl="1"/>
            <a:r>
              <a:rPr lang="en-US" dirty="0"/>
              <a:t>Eclipse IDE for ModusToolbox™ Quick Panel</a:t>
            </a:r>
          </a:p>
          <a:p>
            <a:pPr lvl="1"/>
            <a:r>
              <a:rPr lang="en-US" dirty="0"/>
              <a:t>VS Code ModusToolbox™ Assistant extension </a:t>
            </a:r>
          </a:p>
          <a:p>
            <a:pPr lvl="1"/>
            <a:r>
              <a:rPr lang="en-US" dirty="0"/>
              <a:t>ModusToolbox™ tools installation directory</a:t>
            </a:r>
          </a:p>
          <a:p>
            <a:pPr lvl="1"/>
            <a:endParaRPr lang="en-US" dirty="0"/>
          </a:p>
          <a:p>
            <a:r>
              <a:rPr lang="en-US" b="1" dirty="0"/>
              <a:t>CLI version available from Modus-Shell</a:t>
            </a:r>
          </a:p>
          <a:p>
            <a:pPr lvl="1"/>
            <a:r>
              <a:rPr lang="en-US" dirty="0" err="1">
                <a:solidFill>
                  <a:srgbClr val="0A8276"/>
                </a:solidFill>
                <a:latin typeface="Consolas" panose="020B0609020204030204" pitchFamily="49" charset="0"/>
              </a:rPr>
              <a:t>mtbarchive</a:t>
            </a:r>
            <a:r>
              <a:rPr lang="en-US" dirty="0">
                <a:solidFill>
                  <a:srgbClr val="0A8276"/>
                </a:solidFill>
                <a:latin typeface="Consolas" panose="020B0609020204030204" pitchFamily="49" charset="0"/>
              </a:rPr>
              <a:t> -o my_project_archive.zip -f &lt;project-folder&gt;</a:t>
            </a:r>
          </a:p>
          <a:p>
            <a:pPr lvl="1"/>
            <a:endParaRPr lang="en-US" dirty="0"/>
          </a:p>
          <a:p>
            <a:r>
              <a:rPr lang="en-US" b="1" dirty="0"/>
              <a:t>Why use it over a plain ZIP?</a:t>
            </a:r>
            <a:endParaRPr lang="en-US" dirty="0"/>
          </a:p>
          <a:p>
            <a:pPr lvl="1"/>
            <a:r>
              <a:rPr lang="en-US" dirty="0"/>
              <a:t>Knows which artifacts are generated vs. authored</a:t>
            </a:r>
            <a:br>
              <a:rPr lang="en-US" dirty="0"/>
            </a:br>
            <a:r>
              <a:rPr lang="en-US" dirty="0"/>
              <a:t>won't accidentally include 200 MB of libs/</a:t>
            </a:r>
          </a:p>
          <a:p>
            <a:pPr lvl="1"/>
            <a:r>
              <a:rPr lang="en-US" dirty="0"/>
              <a:t>Produces a clean archive that recipients can open with </a:t>
            </a:r>
            <a:br>
              <a:rPr lang="en-US" dirty="0"/>
            </a:br>
            <a:r>
              <a:rPr lang="en-US" dirty="0"/>
              <a:t>make </a:t>
            </a:r>
            <a:r>
              <a:rPr lang="en-US" dirty="0" err="1"/>
              <a:t>getlibs</a:t>
            </a:r>
            <a:r>
              <a:rPr lang="en-US" dirty="0"/>
              <a:t> → make build</a:t>
            </a:r>
          </a:p>
          <a:p>
            <a:pPr lvl="1"/>
            <a:r>
              <a:rPr lang="en-US" dirty="0"/>
              <a:t>Ideal for support tickets, customer handoff, </a:t>
            </a:r>
            <a:br>
              <a:rPr lang="en-US" dirty="0"/>
            </a:br>
            <a:r>
              <a:rPr lang="en-US" dirty="0"/>
              <a:t>email/USB sharing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E35380-6B5D-D282-43FE-D0F95FEA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ModusToolbox Archiving and Sharing Utility - </a:t>
            </a:r>
            <a:r>
              <a:rPr lang="en-US" dirty="0" err="1"/>
              <a:t>mtbarchive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E6DBB1-415C-4E29-E677-57464FC27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3657600"/>
            <a:ext cx="4850185" cy="2506088"/>
          </a:xfrm>
          <a:prstGeom prst="roundRect">
            <a:avLst>
              <a:gd name="adj" fmla="val 2794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3192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FABDCF-AEA1-3FDB-8C9F-4974E520590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68004042"/>
              </p:ext>
            </p:extLst>
          </p:nvPr>
        </p:nvGraphicFramePr>
        <p:xfrm>
          <a:off x="354807" y="1307641"/>
          <a:ext cx="11287143" cy="1550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456FD09-CCB0-1A39-6807-42DEB592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82" y="188720"/>
            <a:ext cx="9613068" cy="720000"/>
          </a:xfrm>
        </p:spPr>
        <p:txBody>
          <a:bodyPr/>
          <a:lstStyle/>
          <a:p>
            <a:r>
              <a:rPr lang="en-US" dirty="0"/>
              <a:t>Saving and sharing your work with 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0412E-618D-88F7-D796-57D569871B9B}"/>
              </a:ext>
            </a:extLst>
          </p:cNvPr>
          <p:cNvSpPr txBox="1"/>
          <p:nvPr/>
        </p:nvSpPr>
        <p:spPr bwMode="auto">
          <a:xfrm>
            <a:off x="6841350" y="3419475"/>
            <a:ext cx="4800600" cy="2985433"/>
          </a:xfrm>
          <a:prstGeom prst="rect">
            <a:avLst/>
          </a:prstGeom>
          <a:noFill/>
          <a:ln w="28575">
            <a:solidFill>
              <a:srgbClr val="0A8276"/>
            </a:solidFill>
            <a:miter lim="800000"/>
            <a:headEnd/>
            <a:tailEnd/>
          </a:ln>
          <a:effectLst/>
        </p:spPr>
        <p:txBody>
          <a:bodyPr wrap="square" lIns="91440" tIns="91440" rIns="91440" bIns="91440" rtlCol="0" anchor="t" anchorCtr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Check what's changed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</a:t>
            </a:r>
            <a:r>
              <a:rPr lang="en-US" sz="1200" b="1" dirty="0">
                <a:latin typeface="Consolas" panose="020B0609020204030204" pitchFamily="49" charset="0"/>
              </a:rPr>
              <a:t> status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Stage specific files (or all changes)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add </a:t>
            </a:r>
            <a:r>
              <a:rPr lang="en-US" sz="1200" b="1" dirty="0">
                <a:latin typeface="Consolas" panose="020B0609020204030204" pitchFamily="49" charset="0"/>
              </a:rPr>
              <a:t>&lt;file&gt;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add </a:t>
            </a:r>
            <a:r>
              <a:rPr lang="en-US" sz="1200" b="1" dirty="0">
                <a:latin typeface="Consolas" panose="020B0609020204030204" pitchFamily="49" charset="0"/>
              </a:rPr>
              <a:t>.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Commit with a descriptive message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commit </a:t>
            </a:r>
            <a:r>
              <a:rPr lang="en-US" sz="1200" b="1" dirty="0">
                <a:latin typeface="Consolas" panose="020B0609020204030204" pitchFamily="49" charset="0"/>
              </a:rPr>
              <a:t>-m "Add UART debug output to main loop"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Push to remote repository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push </a:t>
            </a:r>
            <a:r>
              <a:rPr lang="en-US" sz="1200" b="1" dirty="0">
                <a:latin typeface="Consolas" panose="020B0609020204030204" pitchFamily="49" charset="0"/>
              </a:rPr>
              <a:t>origin main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Pull latest changes from remote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pull </a:t>
            </a:r>
            <a:r>
              <a:rPr lang="en-US" sz="1200" b="1" dirty="0">
                <a:latin typeface="Consolas" panose="020B0609020204030204" pitchFamily="49" charset="0"/>
              </a:rPr>
              <a:t>origin main</a:t>
            </a:r>
            <a:endParaRPr lang="en-US" sz="1600" b="1" kern="0" baseline="0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E4063A-73E9-DB16-5481-0F2D6A6B80D5}"/>
              </a:ext>
            </a:extLst>
          </p:cNvPr>
          <p:cNvGrpSpPr/>
          <p:nvPr/>
        </p:nvGrpSpPr>
        <p:grpSpPr>
          <a:xfrm rot="10800000">
            <a:off x="8764597" y="2115677"/>
            <a:ext cx="459763" cy="537836"/>
            <a:chOff x="8462877" y="506575"/>
            <a:chExt cx="459763" cy="537836"/>
          </a:xfrm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2196D1AA-EAEF-DD2E-031E-C68E6C437BED}"/>
                </a:ext>
              </a:extLst>
            </p:cNvPr>
            <p:cNvSpPr/>
            <p:nvPr/>
          </p:nvSpPr>
          <p:spPr>
            <a:xfrm>
              <a:off x="8462877" y="506575"/>
              <a:ext cx="459763" cy="53783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E9CDDEA5-9973-DCB0-8409-D0C717F07A91}"/>
                </a:ext>
              </a:extLst>
            </p:cNvPr>
            <p:cNvSpPr txBox="1"/>
            <p:nvPr/>
          </p:nvSpPr>
          <p:spPr>
            <a:xfrm>
              <a:off x="8462877" y="614142"/>
              <a:ext cx="321834" cy="3227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kern="12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3C4F1D-CFD3-15D9-BC9D-5DD14AABBD50}"/>
              </a:ext>
            </a:extLst>
          </p:cNvPr>
          <p:cNvSpPr txBox="1"/>
          <p:nvPr/>
        </p:nvSpPr>
        <p:spPr bwMode="auto">
          <a:xfrm>
            <a:off x="2466173" y="2746122"/>
            <a:ext cx="990600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add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71F72-7AB3-597E-39EE-E993B48F8499}"/>
              </a:ext>
            </a:extLst>
          </p:cNvPr>
          <p:cNvSpPr txBox="1"/>
          <p:nvPr/>
        </p:nvSpPr>
        <p:spPr bwMode="auto">
          <a:xfrm>
            <a:off x="5368343" y="2746122"/>
            <a:ext cx="126006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commit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4A343-69A0-29D0-6327-7D531E967B17}"/>
              </a:ext>
            </a:extLst>
          </p:cNvPr>
          <p:cNvSpPr txBox="1"/>
          <p:nvPr/>
        </p:nvSpPr>
        <p:spPr bwMode="auto">
          <a:xfrm>
            <a:off x="8364443" y="2746122"/>
            <a:ext cx="126006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pull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04D1D-FA10-3255-E922-3ADDBFF0B533}"/>
              </a:ext>
            </a:extLst>
          </p:cNvPr>
          <p:cNvSpPr txBox="1"/>
          <p:nvPr/>
        </p:nvSpPr>
        <p:spPr bwMode="auto">
          <a:xfrm>
            <a:off x="8364443" y="1066800"/>
            <a:ext cx="126006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push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6A30405-0C40-754B-E405-F6B74D47A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122527"/>
              </p:ext>
            </p:extLst>
          </p:nvPr>
        </p:nvGraphicFramePr>
        <p:xfrm>
          <a:off x="373857" y="3683069"/>
          <a:ext cx="5837238" cy="2458244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918619">
                  <a:extLst>
                    <a:ext uri="{9D8B030D-6E8A-4147-A177-3AD203B41FA5}">
                      <a16:colId xmlns:a16="http://schemas.microsoft.com/office/drawing/2014/main" val="3098836410"/>
                    </a:ext>
                  </a:extLst>
                </a:gridCol>
                <a:gridCol w="2918619">
                  <a:extLst>
                    <a:ext uri="{9D8B030D-6E8A-4147-A177-3AD203B41FA5}">
                      <a16:colId xmlns:a16="http://schemas.microsoft.com/office/drawing/2014/main" val="3984036237"/>
                    </a:ext>
                  </a:extLst>
                </a:gridCol>
              </a:tblGrid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Best Practices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Why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811482529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Commit often, in small logical chunks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  <a:effectLst/>
                        </a:rPr>
                        <a:t>Easier to review, revert, and bisect issues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599707302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Write descriptive commit messages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  <a:effectLst/>
                        </a:rPr>
                        <a:t>Future-you (and teammates) will thank you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631000657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Always make build before committing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Don't push broken code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039418569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  <a:effectLst/>
                        </a:rPr>
                        <a:t>Review git status before committing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Catch unintended files (e.g., build/ artifacts)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158135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814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AD5167-3266-7287-9D25-8B59FC4EE368}"/>
              </a:ext>
            </a:extLst>
          </p:cNvPr>
          <p:cNvSpPr/>
          <p:nvPr/>
        </p:nvSpPr>
        <p:spPr bwMode="auto">
          <a:xfrm>
            <a:off x="404020" y="1143000"/>
            <a:ext cx="5410200" cy="42672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BF5A46-E26D-6917-AA5E-D35E231DD27D}"/>
              </a:ext>
            </a:extLst>
          </p:cNvPr>
          <p:cNvSpPr/>
          <p:nvPr/>
        </p:nvSpPr>
        <p:spPr bwMode="auto">
          <a:xfrm>
            <a:off x="5959080" y="1143000"/>
            <a:ext cx="5798740" cy="426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A8276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64E15A-31CA-60CA-6F1B-D291C993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 shared project into your IDE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BD4C30C-CB85-C175-DC51-2C62556E1F27}"/>
              </a:ext>
            </a:extLst>
          </p:cNvPr>
          <p:cNvSpPr txBox="1">
            <a:spLocks/>
          </p:cNvSpPr>
          <p:nvPr/>
        </p:nvSpPr>
        <p:spPr>
          <a:xfrm>
            <a:off x="510780" y="1371600"/>
            <a:ext cx="4770040" cy="3374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bg1"/>
              </a:buClr>
            </a:pPr>
            <a:r>
              <a:rPr lang="en-US" b="1" dirty="0">
                <a:solidFill>
                  <a:schemeClr val="bg1"/>
                </a:solidFill>
              </a:rPr>
              <a:t>Eclipse IDE for ModusToolbox™: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Clone or copy the project into your desired </a:t>
            </a:r>
            <a:r>
              <a:rPr lang="en-US" b="1" dirty="0">
                <a:solidFill>
                  <a:schemeClr val="bg1"/>
                </a:solidFill>
              </a:rPr>
              <a:t>workspace folder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Launch Eclipse IDE and set the workspace to the project's </a:t>
            </a:r>
            <a:r>
              <a:rPr lang="en-US" b="1" dirty="0">
                <a:solidFill>
                  <a:schemeClr val="bg1"/>
                </a:solidFill>
              </a:rPr>
              <a:t>parent folder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From the </a:t>
            </a:r>
            <a:r>
              <a:rPr lang="en-US" b="1" dirty="0">
                <a:solidFill>
                  <a:schemeClr val="bg1"/>
                </a:solidFill>
              </a:rPr>
              <a:t>Quick Panel</a:t>
            </a:r>
            <a:r>
              <a:rPr lang="en-US" dirty="0">
                <a:solidFill>
                  <a:schemeClr val="bg1"/>
                </a:solidFill>
              </a:rPr>
              <a:t> → click 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Import Existing Application In-Place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Select the project folder → Eclipse registers it as a managed MTB project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E3F14A8-FA7D-04C9-45EE-1DCF675DC829}"/>
              </a:ext>
            </a:extLst>
          </p:cNvPr>
          <p:cNvSpPr txBox="1">
            <a:spLocks/>
          </p:cNvSpPr>
          <p:nvPr/>
        </p:nvSpPr>
        <p:spPr>
          <a:xfrm>
            <a:off x="6042820" y="1371600"/>
            <a:ext cx="5715000" cy="4038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 dirty="0"/>
              <a:t>VS Code (with ModusToolbox™ extension):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Clone or copy the project to the desired location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Open VS Code → </a:t>
            </a:r>
            <a:r>
              <a:rPr lang="en-US" b="1" dirty="0"/>
              <a:t>File → Open Folder...</a:t>
            </a:r>
            <a:r>
              <a:rPr lang="en-US" dirty="0"/>
              <a:t> → select the project folder</a:t>
            </a:r>
            <a:br>
              <a:rPr lang="en-US" dirty="0"/>
            </a:b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VS Code (without ModusToolbox™ extension):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Clone or copy the project to the desired location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Open Modus-Shell, navigate to the project folder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Run </a:t>
            </a:r>
            <a:r>
              <a:rPr lang="en-US" b="1" dirty="0"/>
              <a:t>make </a:t>
            </a:r>
            <a:r>
              <a:rPr lang="en-US" b="1" dirty="0" err="1"/>
              <a:t>vscode</a:t>
            </a:r>
            <a:r>
              <a:rPr lang="en-US" b="1" dirty="0"/>
              <a:t> </a:t>
            </a:r>
            <a:r>
              <a:rPr lang="en-US" dirty="0"/>
              <a:t>— generates .</a:t>
            </a:r>
            <a:r>
              <a:rPr lang="en-US" dirty="0" err="1"/>
              <a:t>vscode</a:t>
            </a:r>
            <a:r>
              <a:rPr lang="en-US" dirty="0"/>
              <a:t>/ settings and a .code-workspace file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Open the generated .code-workspace file in VS Code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AB13771-DAA2-EEA2-3E28-1FAB85386897}"/>
              </a:ext>
            </a:extLst>
          </p:cNvPr>
          <p:cNvSpPr txBox="1">
            <a:spLocks/>
          </p:cNvSpPr>
          <p:nvPr/>
        </p:nvSpPr>
        <p:spPr>
          <a:xfrm>
            <a:off x="457200" y="5709317"/>
            <a:ext cx="11520000" cy="511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IAR / µVision:</a:t>
            </a:r>
            <a:r>
              <a:rPr lang="en-US" sz="1600" dirty="0"/>
              <a:t> Refer to the respective user guides, similar import-in-place workflow applies. </a:t>
            </a:r>
            <a:br>
              <a:rPr lang="en-US" sz="1600" dirty="0"/>
            </a:br>
            <a:r>
              <a:rPr lang="en-US" sz="1600" dirty="0"/>
              <a:t>Use </a:t>
            </a:r>
            <a:r>
              <a:rPr lang="en-US" sz="1600" b="1" dirty="0"/>
              <a:t>make ewarm8 </a:t>
            </a:r>
            <a:r>
              <a:rPr lang="en-US" sz="1600" dirty="0"/>
              <a:t>or </a:t>
            </a:r>
            <a:r>
              <a:rPr lang="en-US" sz="1600" b="1" dirty="0"/>
              <a:t>make uvision5 </a:t>
            </a:r>
            <a:r>
              <a:rPr lang="en-US" sz="1600" dirty="0"/>
              <a:t>from Modus-Shell to generate IDE project files.</a:t>
            </a:r>
            <a:endParaRPr lang="en-US" sz="1600" kern="0" dirty="0"/>
          </a:p>
        </p:txBody>
      </p:sp>
    </p:spTree>
    <p:extLst>
      <p:ext uri="{BB962C8B-B14F-4D97-AF65-F5344CB8AC3E}">
        <p14:creationId xmlns:p14="http://schemas.microsoft.com/office/powerpoint/2010/main" val="902554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7682-5FAF-1A32-CAD7-9B3032F6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AA20A1-0C83-C13D-1F2D-E100563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 / Exercise</a:t>
            </a:r>
            <a:br>
              <a:rPr lang="en-US" dirty="0"/>
            </a:br>
            <a:r>
              <a:rPr lang="en-US" sz="3200" b="0" dirty="0"/>
              <a:t>IDE import and archive / sharing export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52908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D45C7AF-9546-0278-45AD-804B6D4E5BF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47141866"/>
              </p:ext>
            </p:extLst>
          </p:nvPr>
        </p:nvGraphicFramePr>
        <p:xfrm>
          <a:off x="334963" y="1562100"/>
          <a:ext cx="11520486" cy="3733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08037">
                  <a:extLst>
                    <a:ext uri="{9D8B030D-6E8A-4147-A177-3AD203B41FA5}">
                      <a16:colId xmlns:a16="http://schemas.microsoft.com/office/drawing/2014/main" val="2671743513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1029622647"/>
                    </a:ext>
                  </a:extLst>
                </a:gridCol>
                <a:gridCol w="4845049">
                  <a:extLst>
                    <a:ext uri="{9D8B030D-6E8A-4147-A177-3AD203B41FA5}">
                      <a16:colId xmlns:a16="http://schemas.microsoft.com/office/drawing/2014/main" val="873793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442702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Launch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ModusToolbox™ Eclipse IDE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When prompted for workspace, set to C:/MTB_Training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302995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From the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Quick Panel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 →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Import ModusToolbox™ Application In-Place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Select mtb-training-blinky folder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200662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Project appears in Eclipse Project Explorer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Source files, BSP, and dependencies visible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3748736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Build from Eclipse (Quick Panel →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Build Application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)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Confirm the project builds successfully in the IDE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220157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From Quick Panel → Tools section → launch </a:t>
                      </a:r>
                      <a:b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ModusToolbox™ archiving and sharing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 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GUI opens with project pre-selected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264733928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65F0EF0-63BA-EC3C-5054-D41C64D6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IDE import and archive / sharing export</a:t>
            </a:r>
          </a:p>
        </p:txBody>
      </p:sp>
    </p:spTree>
    <p:extLst>
      <p:ext uri="{BB962C8B-B14F-4D97-AF65-F5344CB8AC3E}">
        <p14:creationId xmlns:p14="http://schemas.microsoft.com/office/powerpoint/2010/main" val="578330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E19F-5FAB-E742-F43C-167028D9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F347D8-21ED-96AB-C753-F5A45FF0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</a:t>
            </a:r>
            <a:br>
              <a:rPr lang="en-US" dirty="0"/>
            </a:br>
            <a:r>
              <a:rPr lang="en-US" dirty="0"/>
              <a:t>ModusToolbox™ BSP concept	</a:t>
            </a:r>
          </a:p>
        </p:txBody>
      </p:sp>
    </p:spTree>
    <p:extLst>
      <p:ext uri="{BB962C8B-B14F-4D97-AF65-F5344CB8AC3E}">
        <p14:creationId xmlns:p14="http://schemas.microsoft.com/office/powerpoint/2010/main" val="685938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5F01A-9EF9-C3E1-8D84-433AE1EB98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9786" y="1268414"/>
            <a:ext cx="4565014" cy="5113337"/>
          </a:xfrm>
        </p:spPr>
        <p:txBody>
          <a:bodyPr/>
          <a:lstStyle/>
          <a:p>
            <a:r>
              <a:rPr lang="en-US" b="1" dirty="0"/>
              <a:t>The BSP answers three questions:</a:t>
            </a:r>
            <a:br>
              <a:rPr lang="en-US" b="1" dirty="0"/>
            </a:br>
            <a:endParaRPr lang="en-US" dirty="0"/>
          </a:p>
          <a:p>
            <a:pPr lvl="1"/>
            <a:r>
              <a:rPr lang="en-US" b="1" dirty="0"/>
              <a:t>Which chip</a:t>
            </a:r>
            <a:r>
              <a:rPr lang="en-US" dirty="0"/>
              <a:t> — device ID, core type, flash/RAM sizes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How is it wired</a:t>
            </a:r>
            <a:r>
              <a:rPr lang="en-US" dirty="0"/>
              <a:t> — pin assignments, crystal frequencies, debug interface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How does it boot</a:t>
            </a:r>
            <a:r>
              <a:rPr lang="en-US" dirty="0"/>
              <a:t> — startup code, linker scripts, memory map</a:t>
            </a:r>
          </a:p>
          <a:p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50800C6-5AE9-FBA0-B0A4-57247CF4E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is a ModusToolbox™ BSP?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07A0F2-3956-D16F-0331-2ADDD7E4A279}"/>
              </a:ext>
            </a:extLst>
          </p:cNvPr>
          <p:cNvGrpSpPr/>
          <p:nvPr/>
        </p:nvGrpSpPr>
        <p:grpSpPr>
          <a:xfrm>
            <a:off x="306785" y="1239839"/>
            <a:ext cx="7086601" cy="5111998"/>
            <a:chOff x="533400" y="1269085"/>
            <a:chExt cx="7086601" cy="5111998"/>
          </a:xfrm>
        </p:grpSpPr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08AF3F57-F3FB-1B01-DBF4-1FAE412F3822}"/>
                </a:ext>
              </a:extLst>
            </p:cNvPr>
            <p:cNvSpPr/>
            <p:nvPr/>
          </p:nvSpPr>
          <p:spPr>
            <a:xfrm rot="5400000">
              <a:off x="3034374" y="4311034"/>
              <a:ext cx="1626475" cy="2513623"/>
            </a:xfrm>
            <a:prstGeom prst="chevron">
              <a:avLst>
                <a:gd name="adj" fmla="val 20758"/>
              </a:avLst>
            </a:prstGeom>
            <a:solidFill>
              <a:schemeClr val="tx2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t" anchorCtr="0"/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</a:rPr>
                <a:t>Silicon (MCU)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sp>
          <p:nvSpPr>
            <p:cNvPr id="9" name="Chevron 21">
              <a:extLst>
                <a:ext uri="{FF2B5EF4-FFF2-40B4-BE49-F238E27FC236}">
                  <a16:creationId xmlns:a16="http://schemas.microsoft.com/office/drawing/2014/main" id="{F5FA16DA-303A-1E2B-5BD5-11025D05B027}"/>
                </a:ext>
              </a:extLst>
            </p:cNvPr>
            <p:cNvSpPr/>
            <p:nvPr/>
          </p:nvSpPr>
          <p:spPr>
            <a:xfrm rot="5400000">
              <a:off x="3034373" y="1787967"/>
              <a:ext cx="1626476" cy="2513623"/>
            </a:xfrm>
            <a:prstGeom prst="chevron">
              <a:avLst>
                <a:gd name="adj" fmla="val 20758"/>
              </a:avLst>
            </a:prstGeom>
            <a:solidFill>
              <a:srgbClr val="6CB4AD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t" anchorCtr="0"/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</a:rPr>
                <a:t>Middleware / Peripheral Drivers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sp>
          <p:nvSpPr>
            <p:cNvPr id="10" name="Pentagon 3">
              <a:extLst>
                <a:ext uri="{FF2B5EF4-FFF2-40B4-BE49-F238E27FC236}">
                  <a16:creationId xmlns:a16="http://schemas.microsoft.com/office/drawing/2014/main" id="{60523A9E-0BEE-292D-3F6F-CFDF9F186134}"/>
                </a:ext>
              </a:extLst>
            </p:cNvPr>
            <p:cNvSpPr/>
            <p:nvPr/>
          </p:nvSpPr>
          <p:spPr>
            <a:xfrm rot="5400000">
              <a:off x="3164166" y="695718"/>
              <a:ext cx="1366890" cy="2513623"/>
            </a:xfrm>
            <a:prstGeom prst="homePlate">
              <a:avLst>
                <a:gd name="adj" fmla="val 22102"/>
              </a:avLst>
            </a:prstGeom>
            <a:solidFill>
              <a:srgbClr val="B8DEDA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ctr" anchorCtr="0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Your Application Code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">
              <a:extLst>
                <a:ext uri="{FF2B5EF4-FFF2-40B4-BE49-F238E27FC236}">
                  <a16:creationId xmlns:a16="http://schemas.microsoft.com/office/drawing/2014/main" id="{E14F5E71-71CB-2F2E-757F-85B551B04AFB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 bwMode="auto">
            <a:xfrm>
              <a:off x="5306630" y="2598311"/>
              <a:ext cx="1780949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b="1" dirty="0"/>
                <a:t>Device-family API layer</a:t>
              </a:r>
            </a:p>
          </p:txBody>
        </p:sp>
        <p:sp>
          <p:nvSpPr>
            <p:cNvPr id="33" name="TextBox">
              <a:extLst>
                <a:ext uri="{FF2B5EF4-FFF2-40B4-BE49-F238E27FC236}">
                  <a16:creationId xmlns:a16="http://schemas.microsoft.com/office/drawing/2014/main" id="{0E728898-06A3-C9EE-C7F5-E625E5E435C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 bwMode="auto">
            <a:xfrm>
              <a:off x="5306631" y="5081895"/>
              <a:ext cx="2313370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b="1" dirty="0"/>
                <a:t>PSOC™ Control, PSOC™ Edge, </a:t>
              </a:r>
              <a:r>
                <a:rPr lang="en-US" b="1" dirty="0" err="1"/>
                <a:t>etc</a:t>
              </a:r>
              <a:r>
                <a:rPr lang="en-US" b="1" dirty="0"/>
                <a:t>…</a:t>
              </a:r>
            </a:p>
          </p:txBody>
        </p:sp>
        <p:sp>
          <p:nvSpPr>
            <p:cNvPr id="34" name="TextBox">
              <a:extLst>
                <a:ext uri="{FF2B5EF4-FFF2-40B4-BE49-F238E27FC236}">
                  <a16:creationId xmlns:a16="http://schemas.microsoft.com/office/drawing/2014/main" id="{54528C9C-9226-5B1D-A1DF-1536BDADE67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 bwMode="auto">
            <a:xfrm>
              <a:off x="685800" y="1576624"/>
              <a:ext cx="1702792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 algn="r">
                <a:buNone/>
              </a:pPr>
              <a:r>
                <a:rPr lang="en-US" b="1" dirty="0"/>
                <a:t>Portable across boards</a:t>
              </a:r>
            </a:p>
          </p:txBody>
        </p:sp>
        <p:sp>
          <p:nvSpPr>
            <p:cNvPr id="35" name="TextBox">
              <a:extLst>
                <a:ext uri="{FF2B5EF4-FFF2-40B4-BE49-F238E27FC236}">
                  <a16:creationId xmlns:a16="http://schemas.microsoft.com/office/drawing/2014/main" id="{3CE05592-7A9E-51AA-2E18-382EE6B3FEA7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 bwMode="auto">
            <a:xfrm>
              <a:off x="533400" y="3827580"/>
              <a:ext cx="1855192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 algn="r">
                <a:buNone/>
              </a:pPr>
              <a:r>
                <a:rPr lang="en-US" b="1" dirty="0"/>
                <a:t>Pins, clocks, memory, startup</a:t>
              </a:r>
            </a:p>
          </p:txBody>
        </p:sp>
        <p:sp>
          <p:nvSpPr>
            <p:cNvPr id="8" name="Chevron 20">
              <a:extLst>
                <a:ext uri="{FF2B5EF4-FFF2-40B4-BE49-F238E27FC236}">
                  <a16:creationId xmlns:a16="http://schemas.microsoft.com/office/drawing/2014/main" id="{66B06299-F78C-462F-99B0-9396F176D004}"/>
                </a:ext>
              </a:extLst>
            </p:cNvPr>
            <p:cNvSpPr/>
            <p:nvPr/>
          </p:nvSpPr>
          <p:spPr>
            <a:xfrm rot="5400000">
              <a:off x="3034374" y="3052000"/>
              <a:ext cx="1626475" cy="2513623"/>
            </a:xfrm>
            <a:prstGeom prst="chevron">
              <a:avLst>
                <a:gd name="adj" fmla="val 20758"/>
              </a:avLst>
            </a:prstGeom>
            <a:solidFill>
              <a:srgbClr val="3B9B91"/>
            </a:solidFill>
            <a:ln w="38100">
              <a:solidFill>
                <a:srgbClr val="B9D2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t" anchorCtr="0"/>
            <a:lstStyle/>
            <a:p>
              <a:pPr algn="ctr"/>
              <a:r>
                <a:rPr lang="en-US" sz="2000" b="1" dirty="0">
                  <a:solidFill>
                    <a:srgbClr val="FFFFFF"/>
                  </a:solidFill>
                </a:rPr>
                <a:t>Board Support Package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2339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Anatomy of a Board Support Package</a:t>
            </a:r>
          </a:p>
        </p:txBody>
      </p:sp>
      <p:sp>
        <p:nvSpPr>
          <p:cNvPr id="5" name="Oval 36">
            <a:extLst>
              <a:ext uri="{FF2B5EF4-FFF2-40B4-BE49-F238E27FC236}">
                <a16:creationId xmlns:a16="http://schemas.microsoft.com/office/drawing/2014/main" id="{1501EF7D-0999-3E44-AC09-628424A12CA2}"/>
              </a:ext>
            </a:extLst>
          </p:cNvPr>
          <p:cNvSpPr/>
          <p:nvPr/>
        </p:nvSpPr>
        <p:spPr>
          <a:xfrm>
            <a:off x="4425015" y="2121496"/>
            <a:ext cx="3341970" cy="335827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37">
            <a:extLst>
              <a:ext uri="{FF2B5EF4-FFF2-40B4-BE49-F238E27FC236}">
                <a16:creationId xmlns:a16="http://schemas.microsoft.com/office/drawing/2014/main" id="{44B15514-CD0E-4DD0-5F9D-7F983D7C6713}"/>
              </a:ext>
            </a:extLst>
          </p:cNvPr>
          <p:cNvSpPr/>
          <p:nvPr/>
        </p:nvSpPr>
        <p:spPr>
          <a:xfrm>
            <a:off x="4988217" y="2687445"/>
            <a:ext cx="2215566" cy="22263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38">
            <a:extLst>
              <a:ext uri="{FF2B5EF4-FFF2-40B4-BE49-F238E27FC236}">
                <a16:creationId xmlns:a16="http://schemas.microsoft.com/office/drawing/2014/main" id="{142E60CF-0C38-E2E4-B618-8803212AF466}"/>
              </a:ext>
            </a:extLst>
          </p:cNvPr>
          <p:cNvSpPr txBox="1"/>
          <p:nvPr/>
        </p:nvSpPr>
        <p:spPr>
          <a:xfrm>
            <a:off x="4754278" y="3258982"/>
            <a:ext cx="269427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ModusToolbox™ Board Support Package </a:t>
            </a:r>
            <a:br>
              <a:rPr lang="de-DE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(BSP)</a:t>
            </a:r>
          </a:p>
        </p:txBody>
      </p:sp>
      <p:cxnSp>
        <p:nvCxnSpPr>
          <p:cNvPr id="9" name="Gerade Verbindung 16">
            <a:extLst>
              <a:ext uri="{FF2B5EF4-FFF2-40B4-BE49-F238E27FC236}">
                <a16:creationId xmlns:a16="http://schemas.microsoft.com/office/drawing/2014/main" id="{90F92063-0DAF-08E4-8800-8856920031FA}"/>
              </a:ext>
            </a:extLst>
          </p:cNvPr>
          <p:cNvCxnSpPr>
            <a:cxnSpLocks/>
          </p:cNvCxnSpPr>
          <p:nvPr/>
        </p:nvCxnSpPr>
        <p:spPr>
          <a:xfrm flipV="1">
            <a:off x="7325468" y="3819458"/>
            <a:ext cx="1011445" cy="1754"/>
          </a:xfrm>
          <a:prstGeom prst="line">
            <a:avLst/>
          </a:prstGeom>
          <a:ln w="635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ihandform 21">
            <a:extLst>
              <a:ext uri="{FF2B5EF4-FFF2-40B4-BE49-F238E27FC236}">
                <a16:creationId xmlns:a16="http://schemas.microsoft.com/office/drawing/2014/main" id="{1DCF909E-8BAC-56CD-1196-599B6FD33BFF}"/>
              </a:ext>
            </a:extLst>
          </p:cNvPr>
          <p:cNvSpPr/>
          <p:nvPr/>
        </p:nvSpPr>
        <p:spPr bwMode="auto">
          <a:xfrm flipV="1">
            <a:off x="6521777" y="2009388"/>
            <a:ext cx="1815141" cy="654383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7691AFF-2E4E-C203-E2A8-71B9B9E812B0}"/>
              </a:ext>
            </a:extLst>
          </p:cNvPr>
          <p:cNvSpPr/>
          <p:nvPr/>
        </p:nvSpPr>
        <p:spPr bwMode="auto">
          <a:xfrm>
            <a:off x="8336915" y="1262610"/>
            <a:ext cx="3517884" cy="148591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180000" tIns="72000" rIns="72000" bIns="72000" rtlCol="0" anchor="ctr">
            <a:noAutofit/>
          </a:bodyPr>
          <a:lstStyle/>
          <a:p>
            <a:pPr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Device resource initialization</a:t>
            </a:r>
            <a:br>
              <a:rPr lang="en-US" sz="2000" dirty="0"/>
            </a:br>
            <a:r>
              <a:rPr lang="en-US" sz="2000" dirty="0"/>
              <a:t>Pins, Clocks, Power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6B615A3-5A04-C633-C840-C534C1BF9143}"/>
              </a:ext>
            </a:extLst>
          </p:cNvPr>
          <p:cNvSpPr/>
          <p:nvPr/>
        </p:nvSpPr>
        <p:spPr bwMode="auto">
          <a:xfrm>
            <a:off x="8336915" y="3080031"/>
            <a:ext cx="3517884" cy="1473453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180000" tIns="72000" rIns="72000" bIns="72000" rtlCol="0" anchor="ctr">
            <a:noAutofit/>
          </a:bodyPr>
          <a:lstStyle/>
          <a:p>
            <a:pPr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Board dependent libraries and build recipes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88E2F5D-B11B-AE2D-BFCB-14BB574927A7}"/>
              </a:ext>
            </a:extLst>
          </p:cNvPr>
          <p:cNvSpPr/>
          <p:nvPr/>
        </p:nvSpPr>
        <p:spPr bwMode="auto">
          <a:xfrm>
            <a:off x="8336915" y="4906544"/>
            <a:ext cx="3517884" cy="147520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180000" tIns="72000" rIns="72000" bIns="72000" rtlCol="0" anchor="ctr">
            <a:noAutofit/>
          </a:bodyPr>
          <a:lstStyle/>
          <a:p>
            <a:pPr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Secure domain partition resources</a:t>
            </a:r>
          </a:p>
        </p:txBody>
      </p:sp>
      <p:cxnSp>
        <p:nvCxnSpPr>
          <p:cNvPr id="55" name="Gerade Verbindung 16">
            <a:extLst>
              <a:ext uri="{FF2B5EF4-FFF2-40B4-BE49-F238E27FC236}">
                <a16:creationId xmlns:a16="http://schemas.microsoft.com/office/drawing/2014/main" id="{4FCFC1A5-F28C-944F-55D4-0337F5BCE9BE}"/>
              </a:ext>
            </a:extLst>
          </p:cNvPr>
          <p:cNvCxnSpPr>
            <a:cxnSpLocks/>
          </p:cNvCxnSpPr>
          <p:nvPr/>
        </p:nvCxnSpPr>
        <p:spPr>
          <a:xfrm flipH="1" flipV="1">
            <a:off x="3858538" y="3819458"/>
            <a:ext cx="1011445" cy="1754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ihandform 21">
            <a:extLst>
              <a:ext uri="{FF2B5EF4-FFF2-40B4-BE49-F238E27FC236}">
                <a16:creationId xmlns:a16="http://schemas.microsoft.com/office/drawing/2014/main" id="{B872271E-20BF-5B98-ECAC-0911721207DA}"/>
              </a:ext>
            </a:extLst>
          </p:cNvPr>
          <p:cNvSpPr/>
          <p:nvPr/>
        </p:nvSpPr>
        <p:spPr bwMode="auto">
          <a:xfrm flipH="1" flipV="1">
            <a:off x="3858533" y="1967769"/>
            <a:ext cx="1815141" cy="696001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  <p:sp>
        <p:nvSpPr>
          <p:cNvPr id="70" name="Rechteck 16">
            <a:extLst>
              <a:ext uri="{FF2B5EF4-FFF2-40B4-BE49-F238E27FC236}">
                <a16:creationId xmlns:a16="http://schemas.microsoft.com/office/drawing/2014/main" id="{7502AE86-872B-09B9-AB10-C22B85A38A6D}"/>
              </a:ext>
            </a:extLst>
          </p:cNvPr>
          <p:cNvSpPr/>
          <p:nvPr/>
        </p:nvSpPr>
        <p:spPr bwMode="auto">
          <a:xfrm>
            <a:off x="334799" y="1262610"/>
            <a:ext cx="3524080" cy="148591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72000" tIns="72000" rIns="180000" bIns="72000" rtlCol="0" anchor="ctr">
            <a:noAutofit/>
          </a:bodyPr>
          <a:lstStyle/>
          <a:p>
            <a:pPr algn="r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Linker scripts and </a:t>
            </a:r>
            <a:br>
              <a:rPr lang="en-US" sz="2000" dirty="0"/>
            </a:br>
            <a:r>
              <a:rPr lang="en-US" sz="2000" dirty="0"/>
              <a:t>startup code</a:t>
            </a:r>
          </a:p>
        </p:txBody>
      </p:sp>
      <p:sp>
        <p:nvSpPr>
          <p:cNvPr id="71" name="Rechteck 18">
            <a:extLst>
              <a:ext uri="{FF2B5EF4-FFF2-40B4-BE49-F238E27FC236}">
                <a16:creationId xmlns:a16="http://schemas.microsoft.com/office/drawing/2014/main" id="{9DF6DCA2-3BBC-5033-6AD5-5AD3E7FDFE26}"/>
              </a:ext>
            </a:extLst>
          </p:cNvPr>
          <p:cNvSpPr/>
          <p:nvPr/>
        </p:nvSpPr>
        <p:spPr bwMode="auto">
          <a:xfrm>
            <a:off x="334799" y="3080031"/>
            <a:ext cx="3524080" cy="1482223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72000" tIns="72000" rIns="180000" bIns="72000" rtlCol="0" anchor="ctr">
            <a:noAutofit/>
          </a:bodyPr>
          <a:lstStyle/>
          <a:p>
            <a:pPr algn="r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Peripheral configuration structures</a:t>
            </a:r>
          </a:p>
        </p:txBody>
      </p:sp>
      <p:sp>
        <p:nvSpPr>
          <p:cNvPr id="80" name="Rectangle 116">
            <a:extLst>
              <a:ext uri="{FF2B5EF4-FFF2-40B4-BE49-F238E27FC236}">
                <a16:creationId xmlns:a16="http://schemas.microsoft.com/office/drawing/2014/main" id="{022220F6-3CAF-4E94-B9CF-5DC7434B4F41}"/>
              </a:ext>
            </a:extLst>
          </p:cNvPr>
          <p:cNvSpPr/>
          <p:nvPr/>
        </p:nvSpPr>
        <p:spPr>
          <a:xfrm>
            <a:off x="3804920" y="3080031"/>
            <a:ext cx="53613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angle 116">
            <a:extLst>
              <a:ext uri="{FF2B5EF4-FFF2-40B4-BE49-F238E27FC236}">
                <a16:creationId xmlns:a16="http://schemas.microsoft.com/office/drawing/2014/main" id="{2A2E569C-9A4B-4C91-55DB-2C2418916013}"/>
              </a:ext>
            </a:extLst>
          </p:cNvPr>
          <p:cNvSpPr/>
          <p:nvPr/>
        </p:nvSpPr>
        <p:spPr>
          <a:xfrm>
            <a:off x="3804920" y="1262610"/>
            <a:ext cx="53613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116">
            <a:extLst>
              <a:ext uri="{FF2B5EF4-FFF2-40B4-BE49-F238E27FC236}">
                <a16:creationId xmlns:a16="http://schemas.microsoft.com/office/drawing/2014/main" id="{3FF70D76-2776-6159-9353-7C4E8AEC0B2C}"/>
              </a:ext>
            </a:extLst>
          </p:cNvPr>
          <p:cNvSpPr/>
          <p:nvPr/>
        </p:nvSpPr>
        <p:spPr>
          <a:xfrm>
            <a:off x="8336569" y="1262610"/>
            <a:ext cx="54956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116">
            <a:extLst>
              <a:ext uri="{FF2B5EF4-FFF2-40B4-BE49-F238E27FC236}">
                <a16:creationId xmlns:a16="http://schemas.microsoft.com/office/drawing/2014/main" id="{2114EDBD-AEA4-4DBC-6099-9410C15F6A4C}"/>
              </a:ext>
            </a:extLst>
          </p:cNvPr>
          <p:cNvSpPr/>
          <p:nvPr/>
        </p:nvSpPr>
        <p:spPr>
          <a:xfrm>
            <a:off x="8336569" y="3080031"/>
            <a:ext cx="54956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eihandform 5">
            <a:extLst>
              <a:ext uri="{FF2B5EF4-FFF2-40B4-BE49-F238E27FC236}">
                <a16:creationId xmlns:a16="http://schemas.microsoft.com/office/drawing/2014/main" id="{A2ECAD72-830E-F65F-C29E-14E01CC9187E}"/>
              </a:ext>
            </a:extLst>
          </p:cNvPr>
          <p:cNvSpPr/>
          <p:nvPr/>
        </p:nvSpPr>
        <p:spPr bwMode="auto">
          <a:xfrm>
            <a:off x="6521777" y="4958075"/>
            <a:ext cx="1815141" cy="682830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  <p:sp>
        <p:nvSpPr>
          <p:cNvPr id="84" name="Rectangle 116">
            <a:extLst>
              <a:ext uri="{FF2B5EF4-FFF2-40B4-BE49-F238E27FC236}">
                <a16:creationId xmlns:a16="http://schemas.microsoft.com/office/drawing/2014/main" id="{2C379228-1CD3-5F14-31BF-B75A07606F5F}"/>
              </a:ext>
            </a:extLst>
          </p:cNvPr>
          <p:cNvSpPr/>
          <p:nvPr/>
        </p:nvSpPr>
        <p:spPr>
          <a:xfrm>
            <a:off x="8336569" y="4903036"/>
            <a:ext cx="54956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 16">
            <a:extLst>
              <a:ext uri="{FF2B5EF4-FFF2-40B4-BE49-F238E27FC236}">
                <a16:creationId xmlns:a16="http://schemas.microsoft.com/office/drawing/2014/main" id="{2DCCF5BB-1E41-6B60-8F88-C9633443C747}"/>
              </a:ext>
            </a:extLst>
          </p:cNvPr>
          <p:cNvSpPr/>
          <p:nvPr/>
        </p:nvSpPr>
        <p:spPr bwMode="auto">
          <a:xfrm>
            <a:off x="334799" y="4899345"/>
            <a:ext cx="3524080" cy="1482406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72000" tIns="72000" rIns="180000" bIns="72000" rtlCol="0" anchor="ctr">
            <a:noAutofit/>
          </a:bodyPr>
          <a:lstStyle/>
          <a:p>
            <a:pPr algn="r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Software aliases for hardware resources</a:t>
            </a:r>
          </a:p>
        </p:txBody>
      </p:sp>
      <p:sp>
        <p:nvSpPr>
          <p:cNvPr id="13" name="Rectangle 116">
            <a:extLst>
              <a:ext uri="{FF2B5EF4-FFF2-40B4-BE49-F238E27FC236}">
                <a16:creationId xmlns:a16="http://schemas.microsoft.com/office/drawing/2014/main" id="{5BA77D23-28DE-2A86-CD91-BB1505F3AECA}"/>
              </a:ext>
            </a:extLst>
          </p:cNvPr>
          <p:cNvSpPr/>
          <p:nvPr/>
        </p:nvSpPr>
        <p:spPr>
          <a:xfrm>
            <a:off x="3804920" y="4903036"/>
            <a:ext cx="53613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ihandform 5">
            <a:extLst>
              <a:ext uri="{FF2B5EF4-FFF2-40B4-BE49-F238E27FC236}">
                <a16:creationId xmlns:a16="http://schemas.microsoft.com/office/drawing/2014/main" id="{D5376F1C-B6ED-FC93-CB12-8BB0DAB319E1}"/>
              </a:ext>
            </a:extLst>
          </p:cNvPr>
          <p:cNvSpPr/>
          <p:nvPr/>
        </p:nvSpPr>
        <p:spPr bwMode="auto">
          <a:xfrm flipH="1">
            <a:off x="3858879" y="4958075"/>
            <a:ext cx="1815141" cy="682830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2691821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5093-5B5F-B92B-AD28-30324B1D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CDB7D-B0B6-2A73-6433-59E1389DAE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1447800"/>
            <a:ext cx="4996800" cy="4933951"/>
          </a:xfrm>
        </p:spPr>
        <p:txBody>
          <a:bodyPr/>
          <a:lstStyle/>
          <a:p>
            <a:r>
              <a:rPr lang="en-US" dirty="0"/>
              <a:t>The config/</a:t>
            </a:r>
            <a:r>
              <a:rPr lang="en-US" dirty="0" err="1"/>
              <a:t>GeneratedSource</a:t>
            </a:r>
            <a:r>
              <a:rPr lang="en-US" dirty="0"/>
              <a:t>/ files are </a:t>
            </a:r>
            <a:r>
              <a:rPr lang="en-US" b="1" dirty="0"/>
              <a:t>generated by Device Configurator</a:t>
            </a:r>
            <a:r>
              <a:rPr lang="en-US" dirty="0"/>
              <a:t> from </a:t>
            </a:r>
            <a:r>
              <a:rPr lang="en-US" dirty="0" err="1"/>
              <a:t>design.modus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 edit </a:t>
            </a:r>
            <a:r>
              <a:rPr lang="en-US" dirty="0" err="1"/>
              <a:t>design.modus</a:t>
            </a:r>
            <a:r>
              <a:rPr lang="en-US" dirty="0"/>
              <a:t> in the GUI; the .c/.h files are regenerated automatically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85851C-025D-7C09-8AF1-65517008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structure of a Board Support Package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D094C5-7543-46AE-569D-648ACB900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908720"/>
            <a:ext cx="6441504" cy="560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24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FCA72237-5A95-4584-1F52-0D46F0DA5C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5422065"/>
            <a:ext cx="11520000" cy="959686"/>
          </a:xfrm>
        </p:spPr>
        <p:txBody>
          <a:bodyPr/>
          <a:lstStyle/>
          <a:p>
            <a:r>
              <a:rPr lang="en-US" sz="1600" b="1" dirty="0" err="1"/>
              <a:t>design.modus</a:t>
            </a:r>
            <a:r>
              <a:rPr lang="en-US" sz="1600" b="1" dirty="0"/>
              <a:t> </a:t>
            </a:r>
            <a:r>
              <a:rPr lang="en-US" sz="1600" dirty="0"/>
              <a:t>is binary XML — always edit via Device Configurator, never manually</a:t>
            </a:r>
          </a:p>
          <a:p>
            <a:r>
              <a:rPr lang="en-US" sz="1600" dirty="0"/>
              <a:t>Changes to pin assignments, clock speeds, or peripheral configs go here</a:t>
            </a:r>
          </a:p>
          <a:p>
            <a:r>
              <a:rPr lang="en-US" sz="1600" dirty="0"/>
              <a:t>When you switch BSPs, you get a </a:t>
            </a:r>
            <a:r>
              <a:rPr lang="en-US" sz="1600" dirty="0">
                <a:solidFill>
                  <a:srgbClr val="0A8276"/>
                </a:solidFill>
              </a:rPr>
              <a:t>different</a:t>
            </a:r>
            <a:r>
              <a:rPr lang="en-US" sz="1600" dirty="0"/>
              <a:t> </a:t>
            </a:r>
            <a:r>
              <a:rPr lang="en-US" sz="1600" b="1" dirty="0" err="1"/>
              <a:t>design.modus</a:t>
            </a:r>
            <a:r>
              <a:rPr lang="en-US" sz="1600" b="1" dirty="0"/>
              <a:t> </a:t>
            </a:r>
            <a:r>
              <a:rPr lang="en-US" sz="1600" dirty="0"/>
              <a:t>for the new board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C2E995-5AC1-85DE-3E46-AA37B632B7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Device Configurator flow </a:t>
            </a:r>
          </a:p>
        </p:txBody>
      </p:sp>
      <p:sp>
        <p:nvSpPr>
          <p:cNvPr id="5" name="Chevron 6">
            <a:extLst>
              <a:ext uri="{FF2B5EF4-FFF2-40B4-BE49-F238E27FC236}">
                <a16:creationId xmlns:a16="http://schemas.microsoft.com/office/drawing/2014/main" id="{AC554603-5B46-F0E1-69BC-A272F84D5E4E}"/>
              </a:ext>
            </a:extLst>
          </p:cNvPr>
          <p:cNvSpPr/>
          <p:nvPr/>
        </p:nvSpPr>
        <p:spPr>
          <a:xfrm>
            <a:off x="7520066" y="1219203"/>
            <a:ext cx="4107788" cy="949257"/>
          </a:xfrm>
          <a:prstGeom prst="chevron">
            <a:avLst>
              <a:gd name="adj" fmla="val 20758"/>
            </a:avLst>
          </a:prstGeom>
          <a:solidFill>
            <a:schemeClr val="tx2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Application Init</a:t>
            </a:r>
          </a:p>
          <a:p>
            <a:pPr algn="ctr"/>
            <a:r>
              <a:rPr lang="en-US" sz="1200" dirty="0" err="1">
                <a:solidFill>
                  <a:srgbClr val="FFFFFF"/>
                </a:solidFill>
              </a:rPr>
              <a:t>cybsp_init</a:t>
            </a:r>
            <a:r>
              <a:rPr lang="en-US" sz="1200" dirty="0">
                <a:solidFill>
                  <a:srgbClr val="FFFFFF"/>
                </a:solidFill>
              </a:rPr>
              <a:t>()</a:t>
            </a:r>
          </a:p>
        </p:txBody>
      </p:sp>
      <p:sp>
        <p:nvSpPr>
          <p:cNvPr id="6" name="Chevron 20">
            <a:extLst>
              <a:ext uri="{FF2B5EF4-FFF2-40B4-BE49-F238E27FC236}">
                <a16:creationId xmlns:a16="http://schemas.microsoft.com/office/drawing/2014/main" id="{64D9BDD1-50C0-2737-06FC-1A81B85756E9}"/>
              </a:ext>
            </a:extLst>
          </p:cNvPr>
          <p:cNvSpPr/>
          <p:nvPr/>
        </p:nvSpPr>
        <p:spPr>
          <a:xfrm>
            <a:off x="3715741" y="1219203"/>
            <a:ext cx="4107788" cy="949257"/>
          </a:xfrm>
          <a:prstGeom prst="chevron">
            <a:avLst>
              <a:gd name="adj" fmla="val 20758"/>
            </a:avLst>
          </a:prstGeom>
          <a:solidFill>
            <a:srgbClr val="3B9B9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Auto-generated C files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config/</a:t>
            </a:r>
            <a:r>
              <a:rPr lang="en-US" sz="1200" dirty="0" err="1">
                <a:solidFill>
                  <a:srgbClr val="FFFFFF"/>
                </a:solidFill>
              </a:rPr>
              <a:t>GeneratedSource</a:t>
            </a:r>
            <a:r>
              <a:rPr lang="en-US" sz="1200" dirty="0">
                <a:solidFill>
                  <a:srgbClr val="FFFFFF"/>
                </a:solidFill>
              </a:rPr>
              <a:t>/</a:t>
            </a:r>
          </a:p>
        </p:txBody>
      </p:sp>
      <p:sp>
        <p:nvSpPr>
          <p:cNvPr id="8" name="Pentagon 3">
            <a:extLst>
              <a:ext uri="{FF2B5EF4-FFF2-40B4-BE49-F238E27FC236}">
                <a16:creationId xmlns:a16="http://schemas.microsoft.com/office/drawing/2014/main" id="{C52FCBE2-384B-FE01-1BCB-738E581E3B9E}"/>
              </a:ext>
            </a:extLst>
          </p:cNvPr>
          <p:cNvSpPr/>
          <p:nvPr/>
        </p:nvSpPr>
        <p:spPr>
          <a:xfrm>
            <a:off x="567016" y="1219203"/>
            <a:ext cx="3452188" cy="949257"/>
          </a:xfrm>
          <a:prstGeom prst="homePlate">
            <a:avLst>
              <a:gd name="adj" fmla="val 22102"/>
            </a:avLst>
          </a:prstGeom>
          <a:solidFill>
            <a:srgbClr val="6CB4AD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72000" tIns="0" rIns="72000" bIns="72000" rtlCol="0" anchor="ctr" anchorCtr="0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GUI based Configuration</a:t>
            </a:r>
          </a:p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Device Configurator (</a:t>
            </a:r>
            <a:r>
              <a:rPr lang="en-US" sz="1200" dirty="0" err="1">
                <a:solidFill>
                  <a:schemeClr val="bg1"/>
                </a:solidFill>
              </a:rPr>
              <a:t>design.modus</a:t>
            </a:r>
            <a:r>
              <a:rPr lang="en-US" sz="12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4" name="Straight Connector 16">
            <a:extLst>
              <a:ext uri="{FF2B5EF4-FFF2-40B4-BE49-F238E27FC236}">
                <a16:creationId xmlns:a16="http://schemas.microsoft.com/office/drawing/2014/main" id="{09FFEC8E-F40B-0024-DB32-B7D8049A4128}"/>
              </a:ext>
            </a:extLst>
          </p:cNvPr>
          <p:cNvCxnSpPr>
            <a:cxnSpLocks/>
          </p:cNvCxnSpPr>
          <p:nvPr/>
        </p:nvCxnSpPr>
        <p:spPr>
          <a:xfrm flipV="1">
            <a:off x="9528302" y="1884854"/>
            <a:ext cx="225" cy="43960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2425D9A1-9076-65FC-76ED-983E1B8031E1}"/>
              </a:ext>
            </a:extLst>
          </p:cNvPr>
          <p:cNvCxnSpPr>
            <a:cxnSpLocks/>
          </p:cNvCxnSpPr>
          <p:nvPr/>
        </p:nvCxnSpPr>
        <p:spPr>
          <a:xfrm flipV="1">
            <a:off x="1852305" y="1884854"/>
            <a:ext cx="225" cy="439604"/>
          </a:xfrm>
          <a:prstGeom prst="line">
            <a:avLst/>
          </a:prstGeom>
          <a:ln>
            <a:solidFill>
              <a:srgbClr val="B8DE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DF487EFB-0AB5-CE1B-CDD7-82C739A40CE0}"/>
              </a:ext>
            </a:extLst>
          </p:cNvPr>
          <p:cNvCxnSpPr>
            <a:cxnSpLocks/>
          </p:cNvCxnSpPr>
          <p:nvPr/>
        </p:nvCxnSpPr>
        <p:spPr>
          <a:xfrm flipV="1">
            <a:off x="5769522" y="1884854"/>
            <a:ext cx="225" cy="439604"/>
          </a:xfrm>
          <a:prstGeom prst="line">
            <a:avLst/>
          </a:prstGeom>
          <a:ln>
            <a:solidFill>
              <a:srgbClr val="3B9B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">
            <a:extLst>
              <a:ext uri="{FF2B5EF4-FFF2-40B4-BE49-F238E27FC236}">
                <a16:creationId xmlns:a16="http://schemas.microsoft.com/office/drawing/2014/main" id="{8A3CC325-B502-6523-CECC-FEEB21E0508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667107" y="3088540"/>
            <a:ext cx="2871509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Configure pins, clocks, peripherals, and power modes with a GUI.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Stored in </a:t>
            </a:r>
            <a:r>
              <a:rPr lang="en-US" sz="1400" dirty="0" err="1"/>
              <a:t>bsps</a:t>
            </a:r>
            <a:r>
              <a:rPr lang="en-US" sz="1400" dirty="0"/>
              <a:t>/TARGET_APP_.../</a:t>
            </a:r>
            <a:br>
              <a:rPr lang="en-US" sz="1400" dirty="0"/>
            </a:br>
            <a:r>
              <a:rPr lang="en-US" sz="1400" dirty="0"/>
              <a:t>config/</a:t>
            </a:r>
            <a:r>
              <a:rPr lang="en-US" sz="1400" dirty="0" err="1"/>
              <a:t>design.modus</a:t>
            </a:r>
            <a:endParaRPr lang="en-US" sz="1400" dirty="0"/>
          </a:p>
        </p:txBody>
      </p:sp>
      <p:sp>
        <p:nvSpPr>
          <p:cNvPr id="29" name="TextBox">
            <a:extLst>
              <a:ext uri="{FF2B5EF4-FFF2-40B4-BE49-F238E27FC236}">
                <a16:creationId xmlns:a16="http://schemas.microsoft.com/office/drawing/2014/main" id="{B5C37FED-ECC2-6743-92C9-A67DA36813E3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019204" y="3088540"/>
            <a:ext cx="3495736" cy="21724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 err="1"/>
              <a:t>cycfg_pins.c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GPIO pin assignments and drive modes</a:t>
            </a:r>
          </a:p>
          <a:p>
            <a:r>
              <a:rPr lang="en-US" sz="1400" dirty="0" err="1"/>
              <a:t>cycfg_clocks.c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Clock tree configuration (PLL, dividers)</a:t>
            </a:r>
          </a:p>
          <a:p>
            <a:r>
              <a:rPr lang="en-US" sz="1400" dirty="0" err="1"/>
              <a:t>cycfg_peripherals.c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UART, SPI, I2C, Timer </a:t>
            </a:r>
            <a:r>
              <a:rPr lang="en-US" sz="1200" dirty="0" err="1"/>
              <a:t>init</a:t>
            </a:r>
            <a:r>
              <a:rPr lang="en-US" sz="1200" dirty="0"/>
              <a:t> structs</a:t>
            </a:r>
          </a:p>
          <a:p>
            <a:r>
              <a:rPr lang="en-US" sz="1400" dirty="0" err="1"/>
              <a:t>cycfg_system.c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Power modes, WDT, system-level config</a:t>
            </a:r>
          </a:p>
        </p:txBody>
      </p:sp>
      <p:sp>
        <p:nvSpPr>
          <p:cNvPr id="30" name="TextBox">
            <a:extLst>
              <a:ext uri="{FF2B5EF4-FFF2-40B4-BE49-F238E27FC236}">
                <a16:creationId xmlns:a16="http://schemas.microsoft.com/office/drawing/2014/main" id="{192C52F1-700F-CBAF-5EF5-641AA1DF120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7865957" y="3088540"/>
            <a:ext cx="3200400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One call initializes everything — pins, clocks, peripherals, power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All generated configuration is applied automatically at startup</a:t>
            </a:r>
          </a:p>
        </p:txBody>
      </p:sp>
      <p:pic>
        <p:nvPicPr>
          <p:cNvPr id="9" name="Chip">
            <a:extLst>
              <a:ext uri="{FF2B5EF4-FFF2-40B4-BE49-F238E27FC236}">
                <a16:creationId xmlns:a16="http://schemas.microsoft.com/office/drawing/2014/main" id="{E66F20EC-3112-9449-62C8-F57B37CDE97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9815" y="2470263"/>
            <a:ext cx="457200" cy="457200"/>
          </a:xfrm>
          <a:prstGeom prst="rect">
            <a:avLst/>
          </a:prstGeom>
        </p:spPr>
      </p:pic>
      <p:pic>
        <p:nvPicPr>
          <p:cNvPr id="12" name="Gear wheels">
            <a:extLst>
              <a:ext uri="{FF2B5EF4-FFF2-40B4-BE49-F238E27FC236}">
                <a16:creationId xmlns:a16="http://schemas.microsoft.com/office/drawing/2014/main" id="{2FBE0BFF-7276-4A32-C35E-AFE7F480F0E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23818" y="2470263"/>
            <a:ext cx="457200" cy="457200"/>
          </a:xfrm>
          <a:prstGeom prst="rect">
            <a:avLst/>
          </a:prstGeom>
        </p:spPr>
      </p:pic>
      <p:pic>
        <p:nvPicPr>
          <p:cNvPr id="11" name="Puzzle">
            <a:extLst>
              <a:ext uri="{FF2B5EF4-FFF2-40B4-BE49-F238E27FC236}">
                <a16:creationId xmlns:a16="http://schemas.microsoft.com/office/drawing/2014/main" id="{B34BE038-A6F6-C3FF-2268-F8BDF3EE8FC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41035" y="2470263"/>
            <a:ext cx="457200" cy="45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0476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2695-58E2-9FCF-374C-4C869D156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1531B-0734-50F7-44D0-9C3FC987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</a:t>
            </a:r>
            <a:br>
              <a:rPr lang="en-US" dirty="0"/>
            </a:br>
            <a:r>
              <a:rPr lang="en-US" sz="3200" b="0" dirty="0"/>
              <a:t>BSP Walkthrough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7251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B2CF-2577-34A1-A10F-003A6290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 to develop and</a:t>
            </a:r>
            <a:br>
              <a:rPr lang="en-US" dirty="0"/>
            </a:br>
            <a:r>
              <a:rPr lang="en-US" dirty="0"/>
              <a:t>utilize a custom BSP	</a:t>
            </a:r>
          </a:p>
        </p:txBody>
      </p:sp>
    </p:spTree>
    <p:extLst>
      <p:ext uri="{BB962C8B-B14F-4D97-AF65-F5344CB8AC3E}">
        <p14:creationId xmlns:p14="http://schemas.microsoft.com/office/powerpoint/2010/main" val="3756758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7484-66A3-F3FC-1633-890BA8A4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7A023-F2BB-6F39-94BC-8E5F5073E7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1268415"/>
            <a:ext cx="11520000" cy="1550986"/>
          </a:xfrm>
        </p:spPr>
        <p:txBody>
          <a:bodyPr/>
          <a:lstStyle/>
          <a:p>
            <a:r>
              <a:rPr lang="en-US" b="1" dirty="0"/>
              <a:t>Infineon kit BSPs are a starting point…</a:t>
            </a:r>
            <a:endParaRPr lang="en-US" dirty="0"/>
          </a:p>
          <a:p>
            <a:pPr lvl="1"/>
            <a:r>
              <a:rPr lang="en-US" dirty="0"/>
              <a:t>They provide a working configuration for the eval board and for the available code examples</a:t>
            </a:r>
          </a:p>
          <a:p>
            <a:pPr lvl="1"/>
            <a:r>
              <a:rPr lang="en-US" dirty="0"/>
              <a:t>User prototyping on the Infineon kit will likely require BSP modifications — whether to leverage additional device capabilities or to match custom hardware.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DF4981-99EE-B06E-96B0-5E5F876F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Create a Custom BSP?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5CF6E3-779E-8D20-DA66-EBBB4110E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434257"/>
              </p:ext>
            </p:extLst>
          </p:nvPr>
        </p:nvGraphicFramePr>
        <p:xfrm>
          <a:off x="334963" y="2926080"/>
          <a:ext cx="11520486" cy="265176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856037">
                  <a:extLst>
                    <a:ext uri="{9D8B030D-6E8A-4147-A177-3AD203B41FA5}">
                      <a16:colId xmlns:a16="http://schemas.microsoft.com/office/drawing/2014/main" val="654747025"/>
                    </a:ext>
                  </a:extLst>
                </a:gridCol>
                <a:gridCol w="7664449">
                  <a:extLst>
                    <a:ext uri="{9D8B030D-6E8A-4147-A177-3AD203B41FA5}">
                      <a16:colId xmlns:a16="http://schemas.microsoft.com/office/drawing/2014/main" val="181377898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Scenario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What Changes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91440" marB="91440"/>
                </a:tc>
                <a:extLst>
                  <a:ext uri="{0D108BD9-81ED-4DB2-BD59-A6C34878D82A}">
                    <a16:rowId xmlns:a16="http://schemas.microsoft.com/office/drawing/2014/main" val="3377706568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Extending a kit BSP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Enable additional peripherals, change clock speeds, reconfigure pins to use more of the device's capabilities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84319665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Customer production board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Different pin assignments, no debug header, custom crystal, different memory layout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94223299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Multi-project sharing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Common BSP across a product line, maintained independently from application code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57443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628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Creating a custom BSP – modify existing BSP in place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2895600" y="1268416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(Optional) </a:t>
            </a:r>
            <a:r>
              <a:rPr lang="en-US" b="1" dirty="0">
                <a:latin typeface="+mn-lt"/>
              </a:rPr>
              <a:t>Copy the current BSP </a:t>
            </a:r>
            <a:r>
              <a:rPr lang="en-US" dirty="0">
                <a:latin typeface="+mn-lt"/>
              </a:rPr>
              <a:t>first if you want to preserve it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Is it possible to re-add a new BSP from Infineon GitHub (caution regarding BSP versions)</a:t>
            </a:r>
          </a:p>
        </p:txBody>
      </p:sp>
      <p:sp>
        <p:nvSpPr>
          <p:cNvPr id="33" name="Rectangle 17"/>
          <p:cNvSpPr>
            <a:spLocks noChangeArrowheads="1"/>
          </p:cNvSpPr>
          <p:nvPr/>
        </p:nvSpPr>
        <p:spPr bwMode="auto">
          <a:xfrm>
            <a:off x="2895600" y="3337813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Change </a:t>
            </a:r>
            <a:r>
              <a:rPr lang="en-US" b="1" dirty="0"/>
              <a:t>device (MPN), pins, clocks, peripherals </a:t>
            </a:r>
            <a:r>
              <a:rPr lang="en-US" dirty="0"/>
              <a:t>as needed</a:t>
            </a: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2895600" y="2303115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Open </a:t>
            </a:r>
            <a:r>
              <a:rPr lang="en-US" b="1" dirty="0">
                <a:latin typeface="+mn-lt"/>
              </a:rPr>
              <a:t>BSP Assistant </a:t>
            </a:r>
            <a:r>
              <a:rPr lang="en-US" dirty="0">
                <a:latin typeface="+mn-lt"/>
              </a:rPr>
              <a:t>from Eclipse Quick Panel or VS Code ModusToolbox™ Assistant extension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This modifies the CURRENT BSP in the project — it does not create a new one</a:t>
            </a:r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2895600" y="4376194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Save → Device Configurator </a:t>
            </a:r>
            <a:r>
              <a:rPr lang="en-US" b="1" dirty="0"/>
              <a:t>regenerates configuration</a:t>
            </a:r>
          </a:p>
        </p:txBody>
      </p:sp>
      <p:sp>
        <p:nvSpPr>
          <p:cNvPr id="59" name="Richtungspfeil 58"/>
          <p:cNvSpPr/>
          <p:nvPr/>
        </p:nvSpPr>
        <p:spPr>
          <a:xfrm>
            <a:off x="588142" y="1268416"/>
            <a:ext cx="2163244" cy="872218"/>
          </a:xfrm>
          <a:prstGeom prst="homePlate">
            <a:avLst>
              <a:gd name="adj" fmla="val 21425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1:</a:t>
            </a:r>
          </a:p>
        </p:txBody>
      </p:sp>
      <p:sp>
        <p:nvSpPr>
          <p:cNvPr id="39" name="Richtungspfeil 38"/>
          <p:cNvSpPr/>
          <p:nvPr/>
        </p:nvSpPr>
        <p:spPr>
          <a:xfrm>
            <a:off x="588142" y="230298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2:</a:t>
            </a:r>
          </a:p>
        </p:txBody>
      </p:sp>
      <p:sp>
        <p:nvSpPr>
          <p:cNvPr id="40" name="Richtungspfeil 39"/>
          <p:cNvSpPr/>
          <p:nvPr/>
        </p:nvSpPr>
        <p:spPr>
          <a:xfrm>
            <a:off x="588142" y="333754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3B9B9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3:</a:t>
            </a:r>
          </a:p>
        </p:txBody>
      </p:sp>
      <p:sp>
        <p:nvSpPr>
          <p:cNvPr id="41" name="Richtungspfeil 40"/>
          <p:cNvSpPr/>
          <p:nvPr/>
        </p:nvSpPr>
        <p:spPr>
          <a:xfrm>
            <a:off x="588142" y="437579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6CB4AD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4: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96F7D8A9-6372-BF8D-5A94-7F0959406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14439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Build and test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b="1" dirty="0"/>
              <a:t>Use IDE build </a:t>
            </a:r>
            <a:r>
              <a:rPr lang="en-US" dirty="0"/>
              <a:t>or</a:t>
            </a:r>
            <a:r>
              <a:rPr lang="en-US" b="1" dirty="0"/>
              <a:t> </a:t>
            </a:r>
            <a:r>
              <a:rPr lang="en-US" dirty="0"/>
              <a:t>make build → make program</a:t>
            </a:r>
          </a:p>
        </p:txBody>
      </p:sp>
      <p:sp>
        <p:nvSpPr>
          <p:cNvPr id="6" name="Richtungspfeil 40">
            <a:extLst>
              <a:ext uri="{FF2B5EF4-FFF2-40B4-BE49-F238E27FC236}">
                <a16:creationId xmlns:a16="http://schemas.microsoft.com/office/drawing/2014/main" id="{A65315F7-3081-778D-812F-C10A6D957B41}"/>
              </a:ext>
            </a:extLst>
          </p:cNvPr>
          <p:cNvSpPr/>
          <p:nvPr/>
        </p:nvSpPr>
        <p:spPr>
          <a:xfrm>
            <a:off x="588142" y="541403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B8DEDA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5: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5244702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542D-99A7-3552-53FA-2016516A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5BF8B7-0994-D1A8-6333-7C59198859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Creating a new custom BSP using standalone BSP Assistant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6A4E2E2D-9B56-91A6-83D2-317BA2DD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68416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Launch </a:t>
            </a:r>
            <a:r>
              <a:rPr lang="en-US" b="1" dirty="0">
                <a:latin typeface="+mn-lt"/>
              </a:rPr>
              <a:t>BSP Assistant </a:t>
            </a:r>
            <a:r>
              <a:rPr lang="en-US" dirty="0">
                <a:latin typeface="+mn-lt"/>
              </a:rPr>
              <a:t>from ModusToolbox™ Dashboard (or Windows Start menu)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Select "Create New BSP based on..." an existing Infineon kit BSP or Device Part Number</a:t>
            </a:r>
          </a:p>
        </p:txBody>
      </p:sp>
      <p:sp>
        <p:nvSpPr>
          <p:cNvPr id="33" name="Rectangle 17">
            <a:extLst>
              <a:ext uri="{FF2B5EF4-FFF2-40B4-BE49-F238E27FC236}">
                <a16:creationId xmlns:a16="http://schemas.microsoft.com/office/drawing/2014/main" id="{890E7E2A-E0E1-B68B-0206-2F03232A7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337813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Open </a:t>
            </a:r>
            <a:r>
              <a:rPr lang="en-US" b="1" dirty="0"/>
              <a:t>Library Manager </a:t>
            </a:r>
            <a:r>
              <a:rPr lang="en-US" dirty="0"/>
              <a:t>in the project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If saved into </a:t>
            </a:r>
            <a:r>
              <a:rPr lang="en-US" dirty="0" err="1"/>
              <a:t>bsps</a:t>
            </a:r>
            <a:r>
              <a:rPr lang="en-US" dirty="0"/>
              <a:t>/: select and enable the new BSP as the active target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If saved externally: browse to and add the BSP, then enable it</a:t>
            </a:r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86A4CD32-9F6A-98B7-CEFD-3D412B582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303115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b="1" dirty="0">
                <a:latin typeface="+mn-lt"/>
              </a:rPr>
              <a:t>Save the new BSP </a:t>
            </a:r>
            <a:r>
              <a:rPr lang="en-US" dirty="0">
                <a:latin typeface="+mn-lt"/>
              </a:rPr>
              <a:t>to one of two locations: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Directly into the project's </a:t>
            </a:r>
            <a:r>
              <a:rPr lang="en-US" dirty="0" err="1">
                <a:latin typeface="+mn-lt"/>
              </a:rPr>
              <a:t>bsps</a:t>
            </a:r>
            <a:r>
              <a:rPr lang="en-US" dirty="0">
                <a:latin typeface="+mn-lt"/>
              </a:rPr>
              <a:t>/ folder (e.g., </a:t>
            </a:r>
            <a:r>
              <a:rPr lang="en-US" dirty="0" err="1">
                <a:latin typeface="+mn-lt"/>
              </a:rPr>
              <a:t>bsps</a:t>
            </a:r>
            <a:r>
              <a:rPr lang="en-US" dirty="0">
                <a:latin typeface="+mn-lt"/>
              </a:rPr>
              <a:t>/TARGET_MY_CUSTOM_BOARD/)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An external location (to be added to the project later)</a:t>
            </a:r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3CDA8FCD-4AEA-7D9B-248A-5FA57ABF6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76194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Edit configuration using </a:t>
            </a:r>
            <a:r>
              <a:rPr lang="en-US" b="1" dirty="0"/>
              <a:t>Device Configurator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Save → Device Configurator </a:t>
            </a:r>
            <a:r>
              <a:rPr lang="en-US" b="1" dirty="0"/>
              <a:t>regenerates configuration</a:t>
            </a:r>
          </a:p>
        </p:txBody>
      </p:sp>
      <p:sp>
        <p:nvSpPr>
          <p:cNvPr id="59" name="Richtungspfeil 58">
            <a:extLst>
              <a:ext uri="{FF2B5EF4-FFF2-40B4-BE49-F238E27FC236}">
                <a16:creationId xmlns:a16="http://schemas.microsoft.com/office/drawing/2014/main" id="{88679856-6094-8417-66D8-252C392D9731}"/>
              </a:ext>
            </a:extLst>
          </p:cNvPr>
          <p:cNvSpPr/>
          <p:nvPr/>
        </p:nvSpPr>
        <p:spPr>
          <a:xfrm>
            <a:off x="588142" y="1268416"/>
            <a:ext cx="2163244" cy="872218"/>
          </a:xfrm>
          <a:prstGeom prst="homePlate">
            <a:avLst>
              <a:gd name="adj" fmla="val 21425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1:</a:t>
            </a:r>
          </a:p>
        </p:txBody>
      </p:sp>
      <p:sp>
        <p:nvSpPr>
          <p:cNvPr id="39" name="Richtungspfeil 38">
            <a:extLst>
              <a:ext uri="{FF2B5EF4-FFF2-40B4-BE49-F238E27FC236}">
                <a16:creationId xmlns:a16="http://schemas.microsoft.com/office/drawing/2014/main" id="{DACE7A49-79EC-D1A3-4B0A-CC04FB064550}"/>
              </a:ext>
            </a:extLst>
          </p:cNvPr>
          <p:cNvSpPr/>
          <p:nvPr/>
        </p:nvSpPr>
        <p:spPr>
          <a:xfrm>
            <a:off x="588142" y="230298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2:</a:t>
            </a:r>
          </a:p>
        </p:txBody>
      </p:sp>
      <p:sp>
        <p:nvSpPr>
          <p:cNvPr id="40" name="Richtungspfeil 39">
            <a:extLst>
              <a:ext uri="{FF2B5EF4-FFF2-40B4-BE49-F238E27FC236}">
                <a16:creationId xmlns:a16="http://schemas.microsoft.com/office/drawing/2014/main" id="{A5513580-7BB8-B735-FEC4-66736CC1B2CB}"/>
              </a:ext>
            </a:extLst>
          </p:cNvPr>
          <p:cNvSpPr/>
          <p:nvPr/>
        </p:nvSpPr>
        <p:spPr>
          <a:xfrm>
            <a:off x="588142" y="333754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3B9B9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3:</a:t>
            </a:r>
          </a:p>
        </p:txBody>
      </p:sp>
      <p:sp>
        <p:nvSpPr>
          <p:cNvPr id="41" name="Richtungspfeil 40">
            <a:extLst>
              <a:ext uri="{FF2B5EF4-FFF2-40B4-BE49-F238E27FC236}">
                <a16:creationId xmlns:a16="http://schemas.microsoft.com/office/drawing/2014/main" id="{37286EE1-32CA-9AEF-61F8-FB63F1D01712}"/>
              </a:ext>
            </a:extLst>
          </p:cNvPr>
          <p:cNvSpPr/>
          <p:nvPr/>
        </p:nvSpPr>
        <p:spPr>
          <a:xfrm>
            <a:off x="588142" y="437579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6CB4AD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4: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FD69EE08-5747-C229-E1BC-98A508C98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14439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Build and test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b="1" dirty="0">
                <a:latin typeface="+mn-lt"/>
              </a:rPr>
              <a:t>Use IDE build </a:t>
            </a:r>
            <a:r>
              <a:rPr lang="en-US" dirty="0">
                <a:latin typeface="+mn-lt"/>
              </a:rPr>
              <a:t>or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make build → make program</a:t>
            </a:r>
          </a:p>
        </p:txBody>
      </p:sp>
      <p:sp>
        <p:nvSpPr>
          <p:cNvPr id="6" name="Richtungspfeil 40">
            <a:extLst>
              <a:ext uri="{FF2B5EF4-FFF2-40B4-BE49-F238E27FC236}">
                <a16:creationId xmlns:a16="http://schemas.microsoft.com/office/drawing/2014/main" id="{019D2DCF-FD77-8592-C1B4-47A373903A53}"/>
              </a:ext>
            </a:extLst>
          </p:cNvPr>
          <p:cNvSpPr/>
          <p:nvPr/>
        </p:nvSpPr>
        <p:spPr>
          <a:xfrm>
            <a:off x="588142" y="541403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B8DEDA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5: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384924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4CE3B-18E5-7745-B9DD-1185A6D20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3724240"/>
            <a:ext cx="5688000" cy="2657511"/>
          </a:xfrm>
        </p:spPr>
        <p:txBody>
          <a:bodyPr/>
          <a:lstStyle/>
          <a:p>
            <a:r>
              <a:rPr lang="en-US" b="1" dirty="0">
                <a:solidFill>
                  <a:srgbClr val="0A8276"/>
                </a:solidFill>
              </a:rPr>
              <a:t>Project-local (simplest)</a:t>
            </a:r>
          </a:p>
          <a:p>
            <a:pPr lvl="1"/>
            <a:r>
              <a:rPr lang="en-US" dirty="0"/>
              <a:t>BSP lives in </a:t>
            </a:r>
            <a:r>
              <a:rPr lang="en-US" dirty="0" err="1"/>
              <a:t>bsp</a:t>
            </a:r>
            <a:r>
              <a:rPr lang="en-US" dirty="0"/>
              <a:t>/ directory, committed with project</a:t>
            </a:r>
          </a:p>
          <a:p>
            <a:pPr lvl="1"/>
            <a:r>
              <a:rPr lang="en-US" dirty="0"/>
              <a:t>Self-contained, no external dependencies</a:t>
            </a:r>
          </a:p>
          <a:p>
            <a:pPr lvl="1"/>
            <a:r>
              <a:rPr lang="en-US" dirty="0"/>
              <a:t>Version controlled by the project’s own Git history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72F52F-DDF6-BA66-D394-8440463393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7439" y="3724240"/>
            <a:ext cx="5689202" cy="2657511"/>
          </a:xfrm>
        </p:spPr>
        <p:txBody>
          <a:bodyPr/>
          <a:lstStyle/>
          <a:p>
            <a:r>
              <a:rPr lang="en-US" b="1" dirty="0">
                <a:solidFill>
                  <a:srgbClr val="0A8276"/>
                </a:solidFill>
              </a:rPr>
              <a:t>Shared via Git repo</a:t>
            </a:r>
          </a:p>
          <a:p>
            <a:pPr lvl="1"/>
            <a:r>
              <a:rPr lang="en-US" dirty="0"/>
              <a:t>Commit custom BSP(s) to dedicated Git repo</a:t>
            </a:r>
          </a:p>
          <a:p>
            <a:pPr lvl="1"/>
            <a:r>
              <a:rPr lang="en-US" dirty="0"/>
              <a:t>Team members clone the repo to local folder</a:t>
            </a:r>
          </a:p>
          <a:p>
            <a:pPr lvl="1"/>
            <a:r>
              <a:rPr lang="en-US" dirty="0"/>
              <a:t>For new projects</a:t>
            </a:r>
          </a:p>
          <a:p>
            <a:pPr lvl="2"/>
            <a:r>
              <a:rPr lang="en-US" dirty="0"/>
              <a:t>Open Project Creator and browse for local BSP folder</a:t>
            </a:r>
          </a:p>
          <a:p>
            <a:pPr lvl="2"/>
            <a:r>
              <a:rPr lang="en-US" dirty="0"/>
              <a:t>Select folder and continue with application election</a:t>
            </a:r>
          </a:p>
          <a:p>
            <a:pPr lvl="1"/>
            <a:r>
              <a:rPr lang="en-US" dirty="0"/>
              <a:t>For existing projects</a:t>
            </a:r>
          </a:p>
          <a:p>
            <a:pPr lvl="2"/>
            <a:r>
              <a:rPr lang="en-US" dirty="0"/>
              <a:t>Use Library Manager to add / enable BSP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CADF0-2C09-1495-530C-BF64B24A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Your custom BSP available to others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ED0786-0FCA-36B4-F174-252F9DCA1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549954"/>
              </p:ext>
            </p:extLst>
          </p:nvPr>
        </p:nvGraphicFramePr>
        <p:xfrm>
          <a:off x="334963" y="1257300"/>
          <a:ext cx="11520486" cy="2118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89237">
                  <a:extLst>
                    <a:ext uri="{9D8B030D-6E8A-4147-A177-3AD203B41FA5}">
                      <a16:colId xmlns:a16="http://schemas.microsoft.com/office/drawing/2014/main" val="383357957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228748250"/>
                    </a:ext>
                  </a:extLst>
                </a:gridCol>
                <a:gridCol w="4464049">
                  <a:extLst>
                    <a:ext uri="{9D8B030D-6E8A-4147-A177-3AD203B41FA5}">
                      <a16:colId xmlns:a16="http://schemas.microsoft.com/office/drawing/2014/main" val="2596104662"/>
                    </a:ext>
                  </a:extLst>
                </a:gridCol>
              </a:tblGrid>
              <a:tr h="30260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How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Best For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152264858"/>
                  </a:ext>
                </a:extLst>
              </a:tr>
              <a:tr h="36839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Project-local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BSP lives in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effectLst/>
                        </a:rPr>
                        <a:t>bsps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/ inside the project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Single project, self-contained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50249699"/>
                  </a:ext>
                </a:extLst>
              </a:tr>
              <a:tr h="57890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Shared via Git repo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BSP(s) committed to a dedicated repo, cloned locally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Team-wide use, multiple projects, easy distribution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958077531"/>
                  </a:ext>
                </a:extLst>
              </a:tr>
              <a:tr h="57890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Manifest-published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BSP in its own Git repo, referenced via custom manifest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Organization-wide standard, integrated with Library Manager (power-user)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129130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10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F7B3F1-817A-0E66-60B4-507A38BC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custom BSPs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2B05A2-83F9-28CC-31A2-5809CC086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595418"/>
              </p:ext>
            </p:extLst>
          </p:nvPr>
        </p:nvGraphicFramePr>
        <p:xfrm>
          <a:off x="334963" y="1447800"/>
          <a:ext cx="11520486" cy="4587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151437">
                  <a:extLst>
                    <a:ext uri="{9D8B030D-6E8A-4147-A177-3AD203B41FA5}">
                      <a16:colId xmlns:a16="http://schemas.microsoft.com/office/drawing/2014/main" val="4027722008"/>
                    </a:ext>
                  </a:extLst>
                </a:gridCol>
                <a:gridCol w="6369049">
                  <a:extLst>
                    <a:ext uri="{9D8B030D-6E8A-4147-A177-3AD203B41FA5}">
                      <a16:colId xmlns:a16="http://schemas.microsoft.com/office/drawing/2014/main" val="241955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Practice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Why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4191556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Consider starting from a kit BSP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Ensures correct startup, linker, and configurator files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670075917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Modify freely — the BSP is yours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BSPs were moved into the project specifically so users can customize them. The original Infineon BSP can always be restored via Library Manager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8455582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Use descriptive naming for custom boards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TARGET_MY_PRODUCT_V2 — makes it clear this targets specific hardware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30018734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Version your custom BSP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Use Git tags so projects can pin to a known-good BSP version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216411616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Document pin changes in Device Configurator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Use the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User Notes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feature (recent addition) to annotate pin assignments, clock choices, and design rationale directly in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effectLst/>
                        </a:rPr>
                        <a:t>design.modus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— stays with the configuration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698157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Test with Device Configurator first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Validate pin/clock config before writing application code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00220217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505B243-203C-565B-A16A-3C64DE25D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1638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89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848F-0A2B-C019-C206-FA662120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9B8BA9-AB89-8930-F095-FE8ABE98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 / Exercise</a:t>
            </a:r>
            <a:br>
              <a:rPr lang="en-US" dirty="0"/>
            </a:br>
            <a:r>
              <a:rPr lang="en-US" sz="3200" b="0" dirty="0"/>
              <a:t>Create your own custom BSP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12196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BA49-B470-1A77-5907-23238B80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E8962E3-1961-A2CA-0B5E-869AECEA8B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74601934"/>
              </p:ext>
            </p:extLst>
          </p:nvPr>
        </p:nvGraphicFramePr>
        <p:xfrm>
          <a:off x="334963" y="1295400"/>
          <a:ext cx="11520486" cy="4465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08037">
                  <a:extLst>
                    <a:ext uri="{9D8B030D-6E8A-4147-A177-3AD203B41FA5}">
                      <a16:colId xmlns:a16="http://schemas.microsoft.com/office/drawing/2014/main" val="2671743513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1029622647"/>
                    </a:ext>
                  </a:extLst>
                </a:gridCol>
                <a:gridCol w="4845049">
                  <a:extLst>
                    <a:ext uri="{9D8B030D-6E8A-4147-A177-3AD203B41FA5}">
                      <a16:colId xmlns:a16="http://schemas.microsoft.com/office/drawing/2014/main" val="873793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442702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Copy the kit BSP from your project into a new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TARGET_MY_BOARD/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directory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New BSP directory appears in </a:t>
                      </a:r>
                      <a:r>
                        <a:rPr lang="en-US" dirty="0" err="1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bsps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/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02995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Switch to the new BSP: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Library Manager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</a:t>
                      </a:r>
                      <a:b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</a:b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  (select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MY_BOARD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→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Update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or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edit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Makefile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TARGET=MY_BOARD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→ make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getlibs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Makefile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TARGET=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updated,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libs/mtb.mk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regenerated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200662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Open Device Configurator on the new BSP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See the inherited kit configuration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748736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Change one pin assignment (e.g., move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USER_LED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to a different pin)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Config updates visually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220157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Save the configurator changes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 err="1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GeneratedSource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files regenerate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264733928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91A363B8-A371-B19C-2641-B4CEF7CB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Create your own custom BSP</a:t>
            </a:r>
          </a:p>
        </p:txBody>
      </p:sp>
    </p:spTree>
    <p:extLst>
      <p:ext uri="{BB962C8B-B14F-4D97-AF65-F5344CB8AC3E}">
        <p14:creationId xmlns:p14="http://schemas.microsoft.com/office/powerpoint/2010/main" val="453970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A805-32EF-5B4D-B9AA-62224D85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integration with </a:t>
            </a:r>
            <a:br>
              <a:rPr lang="en-US" dirty="0"/>
            </a:br>
            <a:r>
              <a:rPr lang="en-US" dirty="0"/>
              <a:t>Library Manager and </a:t>
            </a:r>
            <a:r>
              <a:rPr lang="en-US" dirty="0" err="1"/>
              <a:t>Makefiles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55944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0812-6F79-F454-C845-74E674A2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F5CE6A-C9DA-6CC5-6672-D649B9DD1F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/>
              <a:t>What it does: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View all middleware currently in your project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Add new middleware libraries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Update existing libraries to newer versions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Remove libraries you no longer need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/>
              <a:t>How to launch: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Eclipse IDE: </a:t>
            </a:r>
            <a:r>
              <a:rPr lang="en-US" sz="2000" b="1" dirty="0"/>
              <a:t>Tools → Library Manager </a:t>
            </a:r>
            <a:r>
              <a:rPr lang="en-US" sz="2000" dirty="0"/>
              <a:t>(or Quick Panel)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VS Code: </a:t>
            </a:r>
            <a:r>
              <a:rPr lang="en-US" sz="2000" b="1" dirty="0"/>
              <a:t>ModusToolbox™ Assistant extension </a:t>
            </a:r>
            <a:r>
              <a:rPr lang="en-US" sz="2000" dirty="0"/>
              <a:t>→ Application tab → Configure Middleware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Command line: </a:t>
            </a:r>
            <a:r>
              <a:rPr lang="en-US" sz="2000" dirty="0">
                <a:solidFill>
                  <a:srgbClr val="0A8276"/>
                </a:solidFill>
              </a:rPr>
              <a:t>make </a:t>
            </a:r>
            <a:r>
              <a:rPr lang="en-US" sz="2000" dirty="0" err="1">
                <a:solidFill>
                  <a:srgbClr val="0A8276"/>
                </a:solidFill>
              </a:rPr>
              <a:t>modlibs</a:t>
            </a:r>
            <a:r>
              <a:rPr lang="en-US" sz="2000" dirty="0">
                <a:solidFill>
                  <a:srgbClr val="0A8276"/>
                </a:solidFill>
              </a:rPr>
              <a:t>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0A8276"/>
                </a:solidFill>
              </a:rPr>
              <a:t>make library-manager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C775E9-BF1E-7451-07CB-06749FA8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Manager Overview</a:t>
            </a:r>
          </a:p>
        </p:txBody>
      </p:sp>
    </p:spTree>
    <p:extLst>
      <p:ext uri="{BB962C8B-B14F-4D97-AF65-F5344CB8AC3E}">
        <p14:creationId xmlns:p14="http://schemas.microsoft.com/office/powerpoint/2010/main" val="2993838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C7BE25-19D7-9600-BD93-1E65035E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libraries across workspace projects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46990B-3F9A-20A7-9A7F-5A7A09353E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10600" y="1524000"/>
            <a:ext cx="3091800" cy="4857751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600" dirty="0"/>
              <a:t>One copy on disk, </a:t>
            </a:r>
            <a:br>
              <a:rPr lang="en-US" sz="1600" dirty="0"/>
            </a:br>
            <a:r>
              <a:rPr lang="en-US" sz="1600" dirty="0"/>
              <a:t>shared across all projects at that version</a:t>
            </a:r>
          </a:p>
          <a:p>
            <a:pPr>
              <a:spcAft>
                <a:spcPts val="1800"/>
              </a:spcAft>
            </a:pPr>
            <a:r>
              <a:rPr lang="en-US" sz="1600" dirty="0"/>
              <a:t>Multiple versions coexist: </a:t>
            </a:r>
            <a:br>
              <a:rPr lang="en-US" sz="1600" dirty="0"/>
            </a:br>
            <a:r>
              <a:rPr lang="en-US" sz="1600" dirty="0">
                <a:solidFill>
                  <a:srgbClr val="0A8276"/>
                </a:solidFill>
              </a:rPr>
              <a:t>release-v1.8.0/</a:t>
            </a:r>
            <a:r>
              <a:rPr lang="en-US" sz="1600" dirty="0"/>
              <a:t> and </a:t>
            </a:r>
            <a:br>
              <a:rPr lang="en-US" sz="1600" dirty="0"/>
            </a:br>
            <a:r>
              <a:rPr lang="en-US" sz="1600" dirty="0">
                <a:solidFill>
                  <a:srgbClr val="0A8276"/>
                </a:solidFill>
              </a:rPr>
              <a:t>release-v1.9.0/</a:t>
            </a:r>
            <a:r>
              <a:rPr lang="en-US" sz="1600" dirty="0"/>
              <a:t> side by side</a:t>
            </a:r>
          </a:p>
          <a:p>
            <a:pPr>
              <a:spcAft>
                <a:spcPts val="1800"/>
              </a:spcAft>
            </a:pPr>
            <a:r>
              <a:rPr lang="en-US" sz="1600" dirty="0"/>
              <a:t>libs/mtb.mk contains </a:t>
            </a:r>
            <a:br>
              <a:rPr lang="en-US" sz="1600" dirty="0"/>
            </a:br>
            <a:r>
              <a:rPr lang="en-US" sz="1600" dirty="0"/>
              <a:t>SEARCH_* paths that point the build system to </a:t>
            </a:r>
            <a:r>
              <a:rPr lang="en-US" sz="1600" dirty="0" err="1">
                <a:solidFill>
                  <a:srgbClr val="0A8276"/>
                </a:solidFill>
              </a:rPr>
              <a:t>mtb_shared</a:t>
            </a:r>
            <a:r>
              <a:rPr lang="en-US" sz="1600" dirty="0">
                <a:solidFill>
                  <a:srgbClr val="0A8276"/>
                </a:solidFill>
              </a:rPr>
              <a:t>/</a:t>
            </a:r>
          </a:p>
          <a:p>
            <a:pPr>
              <a:spcAft>
                <a:spcPts val="1800"/>
              </a:spcAft>
            </a:pPr>
            <a:r>
              <a:rPr lang="en-US" sz="1600" dirty="0"/>
              <a:t>Pin to release tags in </a:t>
            </a:r>
            <a:r>
              <a:rPr lang="en-US" sz="1600" dirty="0">
                <a:solidFill>
                  <a:srgbClr val="0A8276"/>
                </a:solidFill>
              </a:rPr>
              <a:t>.</a:t>
            </a:r>
            <a:r>
              <a:rPr lang="en-US" sz="1600" dirty="0" err="1">
                <a:solidFill>
                  <a:srgbClr val="0A8276"/>
                </a:solidFill>
              </a:rPr>
              <a:t>mtb</a:t>
            </a:r>
            <a:r>
              <a:rPr lang="en-US" sz="1600" dirty="0">
                <a:solidFill>
                  <a:srgbClr val="0A8276"/>
                </a:solidFill>
              </a:rPr>
              <a:t> </a:t>
            </a:r>
            <a:r>
              <a:rPr lang="en-US" sz="1600" dirty="0"/>
              <a:t>files for reproducible builds</a:t>
            </a:r>
            <a:endParaRPr lang="en-US" dirty="0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DB1612CD-9D48-5964-4D82-0E242000F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277939"/>
            <a:ext cx="8056440" cy="417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67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50800C6-5AE9-FBA0-B0A4-57247CF4E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Adding middleware to project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8AF3F57-F3FB-1B01-DBF4-1FAE412F3822}"/>
              </a:ext>
            </a:extLst>
          </p:cNvPr>
          <p:cNvSpPr/>
          <p:nvPr/>
        </p:nvSpPr>
        <p:spPr>
          <a:xfrm rot="5400000">
            <a:off x="4786974" y="4311034"/>
            <a:ext cx="1626475" cy="2513623"/>
          </a:xfrm>
          <a:prstGeom prst="chevron">
            <a:avLst>
              <a:gd name="adj" fmla="val 20758"/>
            </a:avLst>
          </a:prstGeom>
          <a:solidFill>
            <a:schemeClr val="tx2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t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Step 04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Build system picks it up</a:t>
            </a:r>
          </a:p>
        </p:txBody>
      </p:sp>
      <p:sp>
        <p:nvSpPr>
          <p:cNvPr id="8" name="Chevron 20">
            <a:extLst>
              <a:ext uri="{FF2B5EF4-FFF2-40B4-BE49-F238E27FC236}">
                <a16:creationId xmlns:a16="http://schemas.microsoft.com/office/drawing/2014/main" id="{66B06299-F78C-462F-99B0-9396F176D004}"/>
              </a:ext>
            </a:extLst>
          </p:cNvPr>
          <p:cNvSpPr/>
          <p:nvPr/>
        </p:nvSpPr>
        <p:spPr>
          <a:xfrm rot="5400000">
            <a:off x="4786974" y="3052000"/>
            <a:ext cx="1626475" cy="2513623"/>
          </a:xfrm>
          <a:prstGeom prst="chevron">
            <a:avLst>
              <a:gd name="adj" fmla="val 20758"/>
            </a:avLst>
          </a:prstGeom>
          <a:solidFill>
            <a:srgbClr val="3B9B9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t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Step 03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Project updated</a:t>
            </a:r>
          </a:p>
        </p:txBody>
      </p:sp>
      <p:sp>
        <p:nvSpPr>
          <p:cNvPr id="9" name="Chevron 21">
            <a:extLst>
              <a:ext uri="{FF2B5EF4-FFF2-40B4-BE49-F238E27FC236}">
                <a16:creationId xmlns:a16="http://schemas.microsoft.com/office/drawing/2014/main" id="{F5FA16DA-303A-1E2B-5BD5-11025D05B027}"/>
              </a:ext>
            </a:extLst>
          </p:cNvPr>
          <p:cNvSpPr/>
          <p:nvPr/>
        </p:nvSpPr>
        <p:spPr>
          <a:xfrm rot="5400000">
            <a:off x="4786973" y="1787967"/>
            <a:ext cx="1626476" cy="2513623"/>
          </a:xfrm>
          <a:prstGeom prst="chevron">
            <a:avLst>
              <a:gd name="adj" fmla="val 20758"/>
            </a:avLst>
          </a:prstGeom>
          <a:solidFill>
            <a:srgbClr val="6CB4AD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t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Step 02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Click update in Library Manager</a:t>
            </a:r>
          </a:p>
        </p:txBody>
      </p:sp>
      <p:sp>
        <p:nvSpPr>
          <p:cNvPr id="10" name="Pentagon 3">
            <a:extLst>
              <a:ext uri="{FF2B5EF4-FFF2-40B4-BE49-F238E27FC236}">
                <a16:creationId xmlns:a16="http://schemas.microsoft.com/office/drawing/2014/main" id="{60523A9E-0BEE-292D-3F6F-CFDF9F186134}"/>
              </a:ext>
            </a:extLst>
          </p:cNvPr>
          <p:cNvSpPr/>
          <p:nvPr/>
        </p:nvSpPr>
        <p:spPr>
          <a:xfrm rot="5400000">
            <a:off x="4916766" y="695718"/>
            <a:ext cx="1366890" cy="2513623"/>
          </a:xfrm>
          <a:prstGeom prst="homePlate">
            <a:avLst>
              <a:gd name="adj" fmla="val 22102"/>
            </a:avLst>
          </a:prstGeom>
          <a:solidFill>
            <a:srgbClr val="B8DEDA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ctr" anchorCtr="0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Step 01</a:t>
            </a:r>
          </a:p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Select library in Library Manager</a:t>
            </a:r>
          </a:p>
        </p:txBody>
      </p:sp>
      <p:sp>
        <p:nvSpPr>
          <p:cNvPr id="32" name="TextBox">
            <a:extLst>
              <a:ext uri="{FF2B5EF4-FFF2-40B4-BE49-F238E27FC236}">
                <a16:creationId xmlns:a16="http://schemas.microsoft.com/office/drawing/2014/main" id="{E14F5E71-71CB-2F2E-757F-85B551B04AFB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7920486" y="2484713"/>
            <a:ext cx="4042914" cy="9830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A8276"/>
                </a:solidFill>
              </a:rPr>
              <a:t>.</a:t>
            </a:r>
            <a:r>
              <a:rPr lang="en-US" sz="1600" b="1" dirty="0" err="1">
                <a:solidFill>
                  <a:srgbClr val="0A8276"/>
                </a:solidFill>
              </a:rPr>
              <a:t>mtb</a:t>
            </a:r>
            <a:r>
              <a:rPr lang="en-US" sz="1600" b="1" dirty="0">
                <a:solidFill>
                  <a:srgbClr val="0A8276"/>
                </a:solidFill>
              </a:rPr>
              <a:t> </a:t>
            </a:r>
            <a:r>
              <a:rPr lang="en-US" sz="1600" dirty="0"/>
              <a:t>file created (including dependencies)</a:t>
            </a:r>
            <a:br>
              <a:rPr lang="en-US" sz="1600" dirty="0"/>
            </a:br>
            <a:r>
              <a:rPr lang="en-US" sz="1600" b="1" dirty="0">
                <a:solidFill>
                  <a:srgbClr val="0A8276"/>
                </a:solidFill>
              </a:rPr>
              <a:t>make </a:t>
            </a:r>
            <a:r>
              <a:rPr lang="en-US" sz="1600" b="1" dirty="0" err="1">
                <a:solidFill>
                  <a:srgbClr val="0A8276"/>
                </a:solidFill>
              </a:rPr>
              <a:t>getlibs</a:t>
            </a:r>
            <a:r>
              <a:rPr lang="en-US" sz="1600" dirty="0">
                <a:solidFill>
                  <a:srgbClr val="0A8276"/>
                </a:solidFill>
              </a:rPr>
              <a:t> </a:t>
            </a:r>
            <a:r>
              <a:rPr lang="en-US" sz="1600" dirty="0"/>
              <a:t>performed</a:t>
            </a:r>
            <a:br>
              <a:rPr lang="en-US" sz="1600" dirty="0"/>
            </a:br>
            <a:r>
              <a:rPr lang="en-US" sz="1600" dirty="0"/>
              <a:t>Library source is added to workspace</a:t>
            </a:r>
          </a:p>
        </p:txBody>
      </p:sp>
      <p:sp>
        <p:nvSpPr>
          <p:cNvPr id="33" name="TextBox">
            <a:extLst>
              <a:ext uri="{FF2B5EF4-FFF2-40B4-BE49-F238E27FC236}">
                <a16:creationId xmlns:a16="http://schemas.microsoft.com/office/drawing/2014/main" id="{0E728898-06A3-C9EE-C7F5-E625E5E435CE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976606" y="4850614"/>
            <a:ext cx="3529594" cy="13215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Next </a:t>
            </a:r>
            <a:r>
              <a:rPr lang="en-US" sz="1600" b="1" dirty="0">
                <a:solidFill>
                  <a:srgbClr val="0A8276"/>
                </a:solidFill>
              </a:rPr>
              <a:t>make build</a:t>
            </a:r>
            <a:r>
              <a:rPr lang="en-US" sz="1600" dirty="0">
                <a:solidFill>
                  <a:srgbClr val="0A8276"/>
                </a:solidFill>
              </a:rPr>
              <a:t> </a:t>
            </a:r>
            <a:r>
              <a:rPr lang="en-US" sz="1600" dirty="0"/>
              <a:t>automatically compiles the new library</a:t>
            </a:r>
          </a:p>
          <a:p>
            <a:pPr marL="0" indent="0">
              <a:buNone/>
            </a:pPr>
            <a:r>
              <a:rPr lang="en-US" sz="1600" dirty="0"/>
              <a:t>No manual </a:t>
            </a:r>
            <a:r>
              <a:rPr lang="en-US" sz="1600" dirty="0" err="1"/>
              <a:t>Makefile</a:t>
            </a:r>
            <a:r>
              <a:rPr lang="en-US" sz="1600" dirty="0"/>
              <a:t> edits to </a:t>
            </a:r>
            <a:br>
              <a:rPr lang="en-US" sz="1600" dirty="0"/>
            </a:br>
            <a:r>
              <a:rPr lang="en-US" sz="1600" i="1" dirty="0">
                <a:solidFill>
                  <a:srgbClr val="0A8276"/>
                </a:solidFill>
              </a:rPr>
              <a:t>“include library source” </a:t>
            </a:r>
          </a:p>
        </p:txBody>
      </p:sp>
      <p:sp>
        <p:nvSpPr>
          <p:cNvPr id="34" name="TextBox">
            <a:extLst>
              <a:ext uri="{FF2B5EF4-FFF2-40B4-BE49-F238E27FC236}">
                <a16:creationId xmlns:a16="http://schemas.microsoft.com/office/drawing/2014/main" id="{54528C9C-9226-5B1D-A1DF-1536BDADE67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771524" y="1369042"/>
            <a:ext cx="2614216" cy="993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 algn="r">
              <a:buNone/>
            </a:pPr>
            <a:r>
              <a:rPr lang="en-US" sz="1600" dirty="0"/>
              <a:t>Click "</a:t>
            </a:r>
            <a:r>
              <a:rPr lang="en-US" sz="1600" b="1" dirty="0">
                <a:solidFill>
                  <a:srgbClr val="0A8276"/>
                </a:solidFill>
              </a:rPr>
              <a:t>Add Library</a:t>
            </a:r>
            <a:r>
              <a:rPr lang="en-US" sz="1600" dirty="0"/>
              <a:t>"</a:t>
            </a:r>
            <a:br>
              <a:rPr lang="en-US" sz="1600" dirty="0"/>
            </a:br>
            <a:r>
              <a:rPr lang="en-US" sz="1600" dirty="0"/>
              <a:t>in the Library Manager UI</a:t>
            </a:r>
            <a:br>
              <a:rPr lang="en-US" sz="1600" dirty="0"/>
            </a:br>
            <a:r>
              <a:rPr lang="en-US" sz="1600" dirty="0"/>
              <a:t>Select required middleware</a:t>
            </a:r>
            <a:endParaRPr lang="en-US" sz="1200" dirty="0"/>
          </a:p>
        </p:txBody>
      </p:sp>
      <p:sp>
        <p:nvSpPr>
          <p:cNvPr id="35" name="TextBox">
            <a:extLst>
              <a:ext uri="{FF2B5EF4-FFF2-40B4-BE49-F238E27FC236}">
                <a16:creationId xmlns:a16="http://schemas.microsoft.com/office/drawing/2014/main" id="{3CE05592-7A9E-51AA-2E18-382EE6B3FEA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04800" y="3827580"/>
            <a:ext cx="3080941" cy="15826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 algn="r">
              <a:buNone/>
            </a:pPr>
            <a:r>
              <a:rPr lang="en-US" sz="1600" dirty="0" err="1"/>
              <a:t>Makefiles</a:t>
            </a:r>
            <a:r>
              <a:rPr lang="en-US" sz="1600" dirty="0"/>
              <a:t> (</a:t>
            </a:r>
            <a:r>
              <a:rPr lang="en-US" sz="1600" b="1" dirty="0">
                <a:solidFill>
                  <a:srgbClr val="0A8276"/>
                </a:solidFill>
              </a:rPr>
              <a:t>libs/mtb.mk</a:t>
            </a:r>
            <a:r>
              <a:rPr lang="en-US" sz="1600" dirty="0"/>
              <a:t>) updated</a:t>
            </a:r>
            <a:br>
              <a:rPr lang="en-US" sz="1600" dirty="0"/>
            </a:br>
            <a:r>
              <a:rPr lang="en-US" sz="1600" dirty="0"/>
              <a:t>to include middleware folders and search paths for </a:t>
            </a:r>
            <a:r>
              <a:rPr lang="en-US" sz="1600" b="1" dirty="0" err="1">
                <a:solidFill>
                  <a:srgbClr val="0A8276"/>
                </a:solidFill>
              </a:rPr>
              <a:t>mtb_shared</a:t>
            </a:r>
            <a:endParaRPr lang="en-US" sz="1600" b="1" dirty="0">
              <a:solidFill>
                <a:srgbClr val="0A8276"/>
              </a:solidFill>
            </a:endParaRPr>
          </a:p>
        </p:txBody>
      </p:sp>
      <p:pic>
        <p:nvPicPr>
          <p:cNvPr id="11" name="Flowchart">
            <a:extLst>
              <a:ext uri="{FF2B5EF4-FFF2-40B4-BE49-F238E27FC236}">
                <a16:creationId xmlns:a16="http://schemas.microsoft.com/office/drawing/2014/main" id="{7453956D-E196-5752-5410-EB0CBE4AAFA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69679" y="5229200"/>
            <a:ext cx="457200" cy="457200"/>
          </a:xfrm>
          <a:prstGeom prst="rect">
            <a:avLst/>
          </a:prstGeom>
        </p:spPr>
      </p:pic>
      <p:pic>
        <p:nvPicPr>
          <p:cNvPr id="5" name="Change">
            <a:extLst>
              <a:ext uri="{FF2B5EF4-FFF2-40B4-BE49-F238E27FC236}">
                <a16:creationId xmlns:a16="http://schemas.microsoft.com/office/drawing/2014/main" id="{06D1B791-396A-19A8-D8C1-90DC884BE8D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9679" y="2745617"/>
            <a:ext cx="457200" cy="457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201C126E-4E22-46F1-9E2D-B18E4DEEB3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38021" y="3974885"/>
            <a:ext cx="457200" cy="457200"/>
          </a:xfrm>
          <a:prstGeom prst="rect">
            <a:avLst/>
          </a:prstGeom>
        </p:spPr>
      </p:pic>
      <p:pic>
        <p:nvPicPr>
          <p:cNvPr id="4" name="Check">
            <a:extLst>
              <a:ext uri="{FF2B5EF4-FFF2-40B4-BE49-F238E27FC236}">
                <a16:creationId xmlns:a16="http://schemas.microsoft.com/office/drawing/2014/main" id="{2466BCE1-A7FA-A50F-977D-A6BCEFACC01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38021" y="1516347"/>
            <a:ext cx="457200" cy="45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1050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173D-FA7E-59DB-FF35-79EE0DFE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Makefiles</a:t>
            </a:r>
            <a:r>
              <a:rPr lang="en-US" dirty="0"/>
              <a:t> to integrate and configure middleware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705A0C1D-E209-1ECA-E2D2-69F5D6176138}"/>
              </a:ext>
            </a:extLst>
          </p:cNvPr>
          <p:cNvSpPr txBox="1">
            <a:spLocks/>
          </p:cNvSpPr>
          <p:nvPr/>
        </p:nvSpPr>
        <p:spPr>
          <a:xfrm>
            <a:off x="8490600" y="1276352"/>
            <a:ext cx="3091800" cy="4857751"/>
          </a:xfrm>
          <a:prstGeom prst="rect">
            <a:avLst/>
          </a:prstGeom>
        </p:spPr>
        <p:txBody>
          <a:bodyPr/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1600" kern="0" dirty="0"/>
              <a:t>Inclusion of middleware into the build system occurs automatically based on the Library Manager output (</a:t>
            </a:r>
            <a:r>
              <a:rPr lang="en-US" sz="1600" b="1" kern="0" dirty="0">
                <a:solidFill>
                  <a:srgbClr val="0A8276"/>
                </a:solidFill>
              </a:rPr>
              <a:t>make </a:t>
            </a:r>
            <a:r>
              <a:rPr lang="en-US" sz="1600" b="1" kern="0" dirty="0" err="1">
                <a:solidFill>
                  <a:srgbClr val="0A8276"/>
                </a:solidFill>
              </a:rPr>
              <a:t>getlibs</a:t>
            </a:r>
            <a:r>
              <a:rPr lang="en-US" sz="1600" kern="0" dirty="0"/>
              <a:t>)</a:t>
            </a:r>
            <a:br>
              <a:rPr lang="en-US" sz="1600" kern="0" dirty="0"/>
            </a:br>
            <a:endParaRPr lang="en-US" sz="1600" kern="0" dirty="0"/>
          </a:p>
          <a:p>
            <a:pPr>
              <a:spcAft>
                <a:spcPts val="1800"/>
              </a:spcAft>
            </a:pPr>
            <a:r>
              <a:rPr lang="en-US" sz="1600" kern="0" dirty="0"/>
              <a:t>Integration and configuration of middleware may require edits to the </a:t>
            </a:r>
            <a:r>
              <a:rPr lang="en-US" sz="1600" b="1" kern="0" dirty="0" err="1">
                <a:solidFill>
                  <a:srgbClr val="0A8276"/>
                </a:solidFill>
              </a:rPr>
              <a:t>Makefile</a:t>
            </a:r>
            <a:endParaRPr lang="en-US" sz="1600" b="1" kern="0" dirty="0">
              <a:solidFill>
                <a:srgbClr val="0A8276"/>
              </a:solidFill>
            </a:endParaRPr>
          </a:p>
          <a:p>
            <a:pPr lvl="1">
              <a:spcAft>
                <a:spcPts val="1800"/>
              </a:spcAft>
            </a:pPr>
            <a:r>
              <a:rPr lang="en-US" b="1" kern="0" dirty="0">
                <a:solidFill>
                  <a:srgbClr val="0A8276"/>
                </a:solidFill>
              </a:rPr>
              <a:t>COMPONENTS</a:t>
            </a:r>
          </a:p>
          <a:p>
            <a:pPr lvl="1">
              <a:spcAft>
                <a:spcPts val="1800"/>
              </a:spcAft>
            </a:pPr>
            <a:r>
              <a:rPr lang="en-US" b="1" kern="0" dirty="0">
                <a:solidFill>
                  <a:srgbClr val="0A8276"/>
                </a:solidFill>
              </a:rPr>
              <a:t>DEFINES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87654-1E6D-E259-F51A-86F57459A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990600"/>
            <a:ext cx="8153090" cy="514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34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CB33-D37F-3017-7612-0E012ED2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know what COMPONENTS and DEFINES to add?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9DED15-C2C5-2EEF-FAEE-3B4F2E7EF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433585"/>
              </p:ext>
            </p:extLst>
          </p:nvPr>
        </p:nvGraphicFramePr>
        <p:xfrm>
          <a:off x="533400" y="1295400"/>
          <a:ext cx="11125199" cy="47368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44768">
                  <a:extLst>
                    <a:ext uri="{9D8B030D-6E8A-4147-A177-3AD203B41FA5}">
                      <a16:colId xmlns:a16="http://schemas.microsoft.com/office/drawing/2014/main" val="3875711866"/>
                    </a:ext>
                  </a:extLst>
                </a:gridCol>
                <a:gridCol w="3475032">
                  <a:extLst>
                    <a:ext uri="{9D8B030D-6E8A-4147-A177-3AD203B41FA5}">
                      <a16:colId xmlns:a16="http://schemas.microsoft.com/office/drawing/2014/main" val="2423992882"/>
                    </a:ext>
                  </a:extLst>
                </a:gridCol>
                <a:gridCol w="5105399">
                  <a:extLst>
                    <a:ext uri="{9D8B030D-6E8A-4147-A177-3AD203B41FA5}">
                      <a16:colId xmlns:a16="http://schemas.microsoft.com/office/drawing/2014/main" val="2729556030"/>
                    </a:ext>
                  </a:extLst>
                </a:gridCol>
              </a:tblGrid>
              <a:tr h="31614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Location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68728" marR="68728" marT="34364" marB="34364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What you'll find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68728" marR="68728" marT="34364" marB="34364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How to access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68728" marR="68728" marT="34364" marB="34364"/>
                </a:tc>
                <a:extLst>
                  <a:ext uri="{0D108BD9-81ED-4DB2-BD59-A6C34878D82A}">
                    <a16:rowId xmlns:a16="http://schemas.microsoft.com/office/drawing/2014/main" val="3227613936"/>
                  </a:ext>
                </a:extLst>
              </a:tr>
              <a:tr h="105840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Library README.md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Quick-start guide, required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COMPONENTS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and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DEFINES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,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API overview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code snippets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Open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/&lt;library&gt;/&lt;version&gt;/README.md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in your IDE, or view on the library's GitHub repo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884939814"/>
                  </a:ext>
                </a:extLst>
              </a:tr>
              <a:tr h="75904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Library docs/ folder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Full API reference (HTML), configuration guide, migration notes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Open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/&lt;library&gt;/&lt;version&gt;/docs/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typically contains generated HTML API docs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377522860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IDE quick links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Direct access to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API documentation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for libraries in your project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Eclipse: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Quick Panel → Documentation section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VS Code: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ModusToolbox™ Assistant extension → Documentation links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643526004"/>
                  </a:ext>
                </a:extLst>
              </a:tr>
              <a:tr h="81098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Library GitHub repo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README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(same as above), release notes, code examples list, issue tracker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Reference the library URL in the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.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</a:rPr>
                        <a:t>mtb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file or find it in Library Manager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2343899629"/>
                  </a:ext>
                </a:extLst>
              </a:tr>
              <a:tr h="81098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Code examples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Working, tested projects that demonstrate the library in context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Links in the library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README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under "Code Examples" or "Related Resources"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203692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499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A3700-9906-8EA8-0C12-2834E6551F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1447800"/>
            <a:ext cx="11520000" cy="4933951"/>
          </a:xfrm>
        </p:spPr>
        <p:txBody>
          <a:bodyPr/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Add library via </a:t>
            </a:r>
            <a:r>
              <a:rPr lang="en-US" b="1" dirty="0">
                <a:solidFill>
                  <a:srgbClr val="0A8276"/>
                </a:solidFill>
              </a:rPr>
              <a:t>Library Manager </a:t>
            </a:r>
            <a:r>
              <a:rPr lang="en-US" dirty="0"/>
              <a:t>→ click Update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b="1" dirty="0" err="1">
                <a:solidFill>
                  <a:srgbClr val="0A8276"/>
                </a:solidFill>
              </a:rPr>
              <a:t>mtb_shared</a:t>
            </a:r>
            <a:r>
              <a:rPr lang="en-US" b="1" dirty="0">
                <a:solidFill>
                  <a:srgbClr val="0A8276"/>
                </a:solidFill>
              </a:rPr>
              <a:t>/&lt;library&gt;/&lt;version&gt;/README.md  </a:t>
            </a:r>
            <a:r>
              <a:rPr lang="en-US" dirty="0"/>
              <a:t>← START HERE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README tells you: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Required </a:t>
            </a:r>
            <a:r>
              <a:rPr lang="en-US" b="1" dirty="0">
                <a:solidFill>
                  <a:srgbClr val="0A8276"/>
                </a:solidFill>
              </a:rPr>
              <a:t>COMPONENTS</a:t>
            </a:r>
            <a:r>
              <a:rPr lang="en-US" dirty="0"/>
              <a:t> (add to </a:t>
            </a:r>
            <a:r>
              <a:rPr lang="en-US" dirty="0" err="1"/>
              <a:t>Makefile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Required </a:t>
            </a:r>
            <a:r>
              <a:rPr lang="en-US" b="1" dirty="0">
                <a:solidFill>
                  <a:srgbClr val="0A8276"/>
                </a:solidFill>
              </a:rPr>
              <a:t>DEFINES</a:t>
            </a:r>
            <a:r>
              <a:rPr lang="en-US" dirty="0"/>
              <a:t> (add to </a:t>
            </a:r>
            <a:r>
              <a:rPr lang="en-US" dirty="0" err="1"/>
              <a:t>Makefile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Required dependency libraries (added automatically via Library Manager)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Initialization code to add to </a:t>
            </a:r>
            <a:r>
              <a:rPr lang="en-US" dirty="0" err="1"/>
              <a:t>main.c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For deeper API details → </a:t>
            </a:r>
            <a:r>
              <a:rPr lang="en-US" b="1" dirty="0">
                <a:solidFill>
                  <a:srgbClr val="0A8276"/>
                </a:solidFill>
              </a:rPr>
              <a:t>open </a:t>
            </a:r>
            <a:r>
              <a:rPr lang="en-US" b="1" dirty="0" err="1">
                <a:solidFill>
                  <a:srgbClr val="0A8276"/>
                </a:solidFill>
              </a:rPr>
              <a:t>mtb_shared</a:t>
            </a:r>
            <a:r>
              <a:rPr lang="en-US" b="1" dirty="0">
                <a:solidFill>
                  <a:srgbClr val="0A8276"/>
                </a:solidFill>
              </a:rPr>
              <a:t>/&lt;library&gt;/&lt;version&gt;/docs/api_reference.html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For working examples → </a:t>
            </a:r>
            <a:r>
              <a:rPr lang="en-US" b="1" dirty="0">
                <a:solidFill>
                  <a:srgbClr val="0A8276"/>
                </a:solidFill>
              </a:rPr>
              <a:t>follow Code Example links in README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12D1DC-5DEA-53F2-9862-5C019D97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workflow — when you add a new library</a:t>
            </a:r>
          </a:p>
        </p:txBody>
      </p:sp>
    </p:spTree>
    <p:extLst>
      <p:ext uri="{BB962C8B-B14F-4D97-AF65-F5344CB8AC3E}">
        <p14:creationId xmlns:p14="http://schemas.microsoft.com/office/powerpoint/2010/main" val="3950573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533706-BD78-5CA6-16B4-B41362A4E6C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41978851"/>
              </p:ext>
            </p:extLst>
          </p:nvPr>
        </p:nvGraphicFramePr>
        <p:xfrm>
          <a:off x="434181" y="1295400"/>
          <a:ext cx="11323637" cy="4465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92190">
                  <a:extLst>
                    <a:ext uri="{9D8B030D-6E8A-4147-A177-3AD203B41FA5}">
                      <a16:colId xmlns:a16="http://schemas.microsoft.com/office/drawing/2014/main" val="1521225734"/>
                    </a:ext>
                  </a:extLst>
                </a:gridCol>
                <a:gridCol w="9031447">
                  <a:extLst>
                    <a:ext uri="{9D8B030D-6E8A-4147-A177-3AD203B41FA5}">
                      <a16:colId xmlns:a16="http://schemas.microsoft.com/office/drawing/2014/main" val="371828970"/>
                    </a:ext>
                  </a:extLst>
                </a:gridCol>
              </a:tblGrid>
              <a:tr h="19855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Concept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Key Point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601641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Library Manager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GUI for managing .mtb pointer files — handles make getlibs automatically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2864286576"/>
                  </a:ext>
                </a:extLst>
              </a:tr>
              <a:tr h="39366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README.md &amp; docs/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Every library ships its own docs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— 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COMPONENTS, DEFINES, dependencies, API reference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113120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COMPONENTS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variable that toggles optional library features (check library README)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2450480587"/>
                  </a:ext>
                </a:extLst>
              </a:tr>
              <a:tr h="39366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DEFINES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preprocessor defines to configure library behavior (check library README)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1181811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Shared library storage — one copy per version, shared across projects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169997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Version pinning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Use release tags in 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files, not main branch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236915229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322EB75-EB22-C7FD-DDA5-AA101C11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summary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4095618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02BC-77E3-69CA-288C-FDAF0E42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B8AC05-1B45-2EED-6776-97B5C137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</a:t>
            </a:r>
            <a:br>
              <a:rPr lang="en-US" dirty="0"/>
            </a:br>
            <a:r>
              <a:rPr lang="en-US" sz="3200" b="0" dirty="0"/>
              <a:t>Library Manager and</a:t>
            </a:r>
            <a:br>
              <a:rPr lang="en-US" sz="3200" b="0" dirty="0"/>
            </a:br>
            <a:r>
              <a:rPr lang="en-US" sz="3200" b="0" dirty="0"/>
              <a:t>CMSIS-DSP COMPONENT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6617802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C51A-69F7-6223-1DD7-0BC84208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ADC0-74C2-1AE7-0DC9-42AC3006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ModusToolbox™ AI Assistant extension for VS Code	</a:t>
            </a:r>
          </a:p>
        </p:txBody>
      </p:sp>
    </p:spTree>
    <p:extLst>
      <p:ext uri="{BB962C8B-B14F-4D97-AF65-F5344CB8AC3E}">
        <p14:creationId xmlns:p14="http://schemas.microsoft.com/office/powerpoint/2010/main" val="18661241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B8DB45-EFDB-43B9-8CFD-A7DA497809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1143000"/>
            <a:ext cx="11293800" cy="19812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ModusToolbox™ had provided standard VS Code support for 6+ years</a:t>
            </a:r>
          </a:p>
          <a:p>
            <a:pPr marL="252000" marR="0" lvl="0" indent="-252000" algn="l" defTabSz="5760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Pct val="100000"/>
              <a:buFont typeface="Arial" panose="020B0604020202020204" pitchFamily="34" charset="0"/>
              <a:buChar char="‒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Full development workflow: create → configure → build → program → debug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600" b="1" dirty="0"/>
              <a:t>New Infineon supported ModusToolbox™ for VS Code marketplace extension</a:t>
            </a:r>
          </a:p>
          <a:p>
            <a:r>
              <a:rPr lang="en-US" sz="1600" dirty="0"/>
              <a:t>This recent release bring enhanced enablement and out of box experience to the workflow</a:t>
            </a:r>
          </a:p>
          <a:p>
            <a:r>
              <a:rPr lang="en-US" sz="1600" dirty="0"/>
              <a:t>Available on the VS Code Marketplace — search "ModusToolbox"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3AF0C9-9303-4693-B70D-F074E252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ModusToolbox™ for VS Code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549D08-DB46-CC52-342D-D4A5AC12A3C7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3139440"/>
          <a:ext cx="6049800" cy="3108959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858800">
                  <a:extLst>
                    <a:ext uri="{9D8B030D-6E8A-4147-A177-3AD203B41FA5}">
                      <a16:colId xmlns:a16="http://schemas.microsoft.com/office/drawing/2014/main" val="33463437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650820602"/>
                    </a:ext>
                  </a:extLst>
                </a:gridCol>
              </a:tblGrid>
              <a:tr h="5563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Project Creation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Guided wizard, BSP selection, auto kit detection, </a:t>
                      </a:r>
                      <a:b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multi-core support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4922708"/>
                  </a:ext>
                </a:extLst>
              </a:tr>
              <a:tr h="5563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Build, Program &amp; Debug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>
                          <a:solidFill>
                            <a:schemeClr val="tx1"/>
                          </a:solidFill>
                          <a:effectLst/>
                        </a:rPr>
                        <a:t>One-click build/program, flash/RAM memory visualization</a:t>
                      </a:r>
                      <a:endParaRPr lang="en-US" sz="1400" b="0" i="0" spc="15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927960"/>
                  </a:ext>
                </a:extLst>
              </a:tr>
              <a:tr h="5563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Code Intelligence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 err="1">
                          <a:solidFill>
                            <a:schemeClr val="tx1"/>
                          </a:solidFill>
                          <a:effectLst/>
                        </a:rPr>
                        <a:t>Clangd</a:t>
                      </a: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-powered IntelliSense + </a:t>
                      </a:r>
                      <a:b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inline API doc lookup (Ctrl+Shift+F1)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317287"/>
                  </a:ext>
                </a:extLst>
              </a:tr>
              <a:tr h="3272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BSP &amp; Middleware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Search, filter, update BSPs with drag-and-drop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753955"/>
                  </a:ext>
                </a:extLst>
              </a:tr>
              <a:tr h="5563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Kit Integration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Connected kit monitoring — status, firmware, </a:t>
                      </a:r>
                      <a:b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BSP mapping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32750"/>
                  </a:ext>
                </a:extLst>
              </a:tr>
              <a:tr h="5563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Tool Launcher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Device Configurator, Library Manager, </a:t>
                      </a:r>
                      <a:b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400" b="0" spc="15" dirty="0">
                          <a:solidFill>
                            <a:schemeClr val="tx1"/>
                          </a:solidFill>
                          <a:effectLst/>
                        </a:rPr>
                        <a:t>LLVM management, MTB Shell</a:t>
                      </a:r>
                      <a:endParaRPr lang="en-US" sz="1400" b="0" i="0" spc="15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50879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922FA8F-845F-BAD3-CA22-A9EB8AA5D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139440"/>
            <a:ext cx="4694694" cy="310896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3A82604-DD9A-23FF-0C48-8999F4A5A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2600" y="108966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986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E6BA-6AD6-0F42-F7A9-D5600F7D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6E352148-9F28-595E-3AB2-1E3F39B48B1D}"/>
              </a:ext>
            </a:extLst>
          </p:cNvPr>
          <p:cNvSpPr/>
          <p:nvPr/>
        </p:nvSpPr>
        <p:spPr>
          <a:xfrm>
            <a:off x="6126038" y="1268414"/>
            <a:ext cx="5724000" cy="468086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10AFE340-EF90-B1A4-ED77-58279097C1A5}"/>
              </a:ext>
            </a:extLst>
          </p:cNvPr>
          <p:cNvSpPr/>
          <p:nvPr/>
        </p:nvSpPr>
        <p:spPr>
          <a:xfrm>
            <a:off x="334434" y="1268414"/>
            <a:ext cx="5724000" cy="4680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algn="ctr"/>
            <a:endParaRPr lang="en-US" sz="32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132AC5A-1A4C-B79C-DBA4-536934C7C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ModusToolbox™ AI Assistant (Public Preview)</a:t>
            </a:r>
          </a:p>
        </p:txBody>
      </p:sp>
      <p:sp>
        <p:nvSpPr>
          <p:cNvPr id="10" name="Rechteck 42">
            <a:extLst>
              <a:ext uri="{FF2B5EF4-FFF2-40B4-BE49-F238E27FC236}">
                <a16:creationId xmlns:a16="http://schemas.microsoft.com/office/drawing/2014/main" id="{A1865F31-F241-ABAE-FC11-BFC97669DF11}"/>
              </a:ext>
            </a:extLst>
          </p:cNvPr>
          <p:cNvSpPr/>
          <p:nvPr/>
        </p:nvSpPr>
        <p:spPr bwMode="auto">
          <a:xfrm>
            <a:off x="5194942" y="2708847"/>
            <a:ext cx="1800000" cy="1800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00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09816E-8E5E-5F12-EAF2-0EEEF284D184}"/>
              </a:ext>
            </a:extLst>
          </p:cNvPr>
          <p:cNvSpPr txBox="1">
            <a:spLocks/>
          </p:cNvSpPr>
          <p:nvPr/>
        </p:nvSpPr>
        <p:spPr>
          <a:xfrm>
            <a:off x="518855" y="1524001"/>
            <a:ext cx="4320000" cy="39716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latin typeface="+mn-lt"/>
              </a:defRPr>
            </a:lvl1pPr>
            <a:lvl2pPr marL="504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latin typeface="+mn-lt"/>
              </a:defRPr>
            </a:lvl2pPr>
            <a:lvl3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3pPr>
            <a:lvl4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4pPr>
            <a:lvl5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5pPr>
            <a:lvl6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baseline="0">
                <a:latin typeface="+mn-lt"/>
              </a:defRPr>
            </a:lvl6pPr>
            <a:lvl7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7pPr>
            <a:lvl8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8pPr>
            <a:lvl9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The Problem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AI assistants (Copilot, Cursor, Windsurf) generate code that looks right but: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Targets the wrong device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Uses deprecated APIs</a:t>
            </a:r>
          </a:p>
          <a:p>
            <a:pPr lvl="1"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Misses critical </a:t>
            </a:r>
            <a:r>
              <a:rPr lang="en-US" dirty="0" err="1">
                <a:solidFill>
                  <a:schemeClr val="bg1"/>
                </a:solidFill>
              </a:rPr>
              <a:t>init</a:t>
            </a:r>
            <a:r>
              <a:rPr lang="en-US" dirty="0">
                <a:solidFill>
                  <a:schemeClr val="bg1"/>
                </a:solidFill>
              </a:rPr>
              <a:t> steps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(clocks, interrupts, DMA channels)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b="1" dirty="0">
                <a:solidFill>
                  <a:schemeClr val="bg1"/>
                </a:solidFill>
              </a:rPr>
              <a:t>Root cause:</a:t>
            </a:r>
            <a:r>
              <a:rPr lang="en-US" dirty="0">
                <a:solidFill>
                  <a:schemeClr val="bg1"/>
                </a:solidFill>
              </a:rPr>
              <a:t> They have zero awareness of your hardware, BSP, or project structure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79F0524-C2D1-B076-28A6-E3C5D6AFB235}"/>
              </a:ext>
            </a:extLst>
          </p:cNvPr>
          <p:cNvSpPr txBox="1">
            <a:spLocks/>
          </p:cNvSpPr>
          <p:nvPr/>
        </p:nvSpPr>
        <p:spPr>
          <a:xfrm>
            <a:off x="6858000" y="1524000"/>
            <a:ext cx="4999566" cy="3971634"/>
          </a:xfrm>
          <a:prstGeom prst="rect">
            <a:avLst/>
          </a:prstGeom>
        </p:spPr>
        <p:txBody>
          <a:bodyPr vert="horz" lIns="180000" tIns="0" rIns="0" bIns="0" rtlCol="0">
            <a:noAutofit/>
          </a:bodyPr>
          <a:lstStyle>
            <a:lvl1pPr marL="252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latin typeface="+mn-lt"/>
              </a:defRPr>
            </a:lvl1pPr>
            <a:lvl2pPr marL="504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latin typeface="+mn-lt"/>
              </a:defRPr>
            </a:lvl2pPr>
            <a:lvl3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3pPr>
            <a:lvl4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4pPr>
            <a:lvl5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5pPr>
            <a:lvl6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baseline="0">
                <a:latin typeface="+mn-lt"/>
              </a:defRPr>
            </a:lvl6pPr>
            <a:lvl7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7pPr>
            <a:lvl8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8pPr>
            <a:lvl9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dirty="0"/>
              <a:t>The Solution: Hardware-Aware AI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The ModusToolbox™ AI Assistant gives AI assistants deep context about your workspace:</a:t>
            </a:r>
          </a:p>
          <a:p>
            <a:pPr lvl="1"/>
            <a:r>
              <a:rPr lang="en-US" b="1" dirty="0"/>
              <a:t>MCU</a:t>
            </a:r>
            <a:r>
              <a:rPr lang="en-US" dirty="0"/>
              <a:t> - actual device, not a generic Cortex-M</a:t>
            </a:r>
          </a:p>
          <a:p>
            <a:pPr lvl="1"/>
            <a:r>
              <a:rPr lang="en-US" b="1" dirty="0"/>
              <a:t>BSP</a:t>
            </a:r>
            <a:r>
              <a:rPr lang="en-US" dirty="0"/>
              <a:t> - pin config, peripherals, clock tree</a:t>
            </a:r>
          </a:p>
          <a:p>
            <a:pPr lvl="1"/>
            <a:r>
              <a:rPr lang="en-US" b="1" dirty="0"/>
              <a:t>Libraries</a:t>
            </a:r>
            <a:r>
              <a:rPr lang="en-US" dirty="0"/>
              <a:t> - what's installed, what's available</a:t>
            </a:r>
          </a:p>
          <a:p>
            <a:pPr lvl="1"/>
            <a:r>
              <a:rPr lang="en-US" b="1" dirty="0"/>
              <a:t>Proven recipes</a:t>
            </a:r>
            <a:r>
              <a:rPr lang="en-US" dirty="0"/>
              <a:t> - validated peripheral </a:t>
            </a:r>
            <a:r>
              <a:rPr lang="en-US" dirty="0" err="1"/>
              <a:t>init</a:t>
            </a:r>
            <a:r>
              <a:rPr lang="en-US" dirty="0"/>
              <a:t>, connectivity, RTOS patterns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8D726-9867-3C34-0EDE-0C815B569DA4}"/>
              </a:ext>
            </a:extLst>
          </p:cNvPr>
          <p:cNvSpPr/>
          <p:nvPr/>
        </p:nvSpPr>
        <p:spPr bwMode="auto">
          <a:xfrm>
            <a:off x="6058434" y="2568798"/>
            <a:ext cx="61379" cy="1998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6F5B556-3B2B-FA7E-7404-12F670B46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9705" y="2630118"/>
            <a:ext cx="1957458" cy="1957458"/>
          </a:xfrm>
          <a:prstGeom prst="rect">
            <a:avLst/>
          </a:prstGeom>
          <a:effectLst>
            <a:outerShdw dir="8340000" sx="103000" sy="103000" algn="ctr" rotWithShape="0">
              <a:schemeClr val="bg1">
                <a:alpha val="56000"/>
              </a:scheme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0107410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15C550-0CE1-8BB4-B455-2ACE5BF1F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21152"/>
            <a:ext cx="4079100" cy="2701296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A1A860-3992-5639-E90E-5BF343ED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AI-assisted project planning, creation, and enhancement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465B9-C15D-1626-5B4A-380E74423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295400"/>
            <a:ext cx="7219765" cy="50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90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3D4BB1C-CFEB-EE9C-4966-D9CDCF3873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275" y="1295400"/>
            <a:ext cx="10942800" cy="51151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Example prompts (show or demo)</a:t>
            </a:r>
          </a:p>
          <a:p>
            <a:r>
              <a:rPr lang="en-US" sz="1600" dirty="0"/>
              <a:t>"Create a FreeRTOS task that reads the BMI270 accelerometer over I2C and prints values over UART"</a:t>
            </a:r>
          </a:p>
          <a:p>
            <a:r>
              <a:rPr lang="en-US" sz="1600" dirty="0"/>
              <a:t>"Set up BLE peripheral advertising with a custom GATT service"</a:t>
            </a:r>
          </a:p>
          <a:p>
            <a:r>
              <a:rPr lang="en-US" sz="1600" dirty="0"/>
              <a:t>"What libraries are available for </a:t>
            </a:r>
            <a:r>
              <a:rPr lang="en-US" sz="1600" dirty="0" err="1"/>
              <a:t>WiFi</a:t>
            </a:r>
            <a:r>
              <a:rPr lang="en-US" sz="1600" dirty="0"/>
              <a:t> connectivity?"</a:t>
            </a:r>
          </a:p>
          <a:p>
            <a:r>
              <a:rPr lang="en-US" sz="1600" dirty="0"/>
              <a:t>"Configure DMA for SPI transfers on this board“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b="1" dirty="0"/>
              <a:t>What you get</a:t>
            </a:r>
          </a:p>
          <a:p>
            <a:r>
              <a:rPr lang="en-US" sz="1600" dirty="0"/>
              <a:t>Code that compiles for </a:t>
            </a:r>
            <a:r>
              <a:rPr lang="en-US" sz="1600" b="1" dirty="0"/>
              <a:t>your specific device</a:t>
            </a:r>
            <a:endParaRPr lang="en-US" sz="1600" dirty="0"/>
          </a:p>
          <a:p>
            <a:r>
              <a:rPr lang="en-US" sz="1600" dirty="0"/>
              <a:t>Correct </a:t>
            </a:r>
            <a:r>
              <a:rPr lang="en-US" sz="1600" dirty="0" err="1"/>
              <a:t>init</a:t>
            </a:r>
            <a:r>
              <a:rPr lang="en-US" sz="1600" dirty="0"/>
              <a:t> sequences (clocks, interrupts, pin mux)</a:t>
            </a:r>
          </a:p>
          <a:p>
            <a:r>
              <a:rPr lang="en-US" sz="1600" dirty="0"/>
              <a:t>Library recommendations with install commands</a:t>
            </a:r>
          </a:p>
          <a:p>
            <a:r>
              <a:rPr lang="en-US" sz="1600" dirty="0"/>
              <a:t>Device Configurator integration when config changes are needed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b="1" dirty="0"/>
              <a:t>Key messaging</a:t>
            </a:r>
          </a:p>
          <a:p>
            <a:r>
              <a:rPr lang="en-US" sz="1600" dirty="0"/>
              <a:t>Free to install from VS Code Marketplace</a:t>
            </a:r>
          </a:p>
          <a:p>
            <a:r>
              <a:rPr lang="en-US" sz="1600" dirty="0"/>
              <a:t>Works with GitHub Copilot (most common), Cursor, or Windsurf</a:t>
            </a:r>
          </a:p>
          <a:p>
            <a:r>
              <a:rPr lang="en-US" sz="1600" dirty="0"/>
              <a:t>Requires ModusToolbox™ 3.7+ and Python 3.9+</a:t>
            </a:r>
          </a:p>
          <a:p>
            <a:r>
              <a:rPr lang="en-US" sz="1600" dirty="0"/>
              <a:t>No data sent to Infineon — runs entirely local</a:t>
            </a:r>
          </a:p>
          <a:p>
            <a:r>
              <a:rPr lang="en-US" sz="1600" dirty="0"/>
              <a:t>Great demo opportunity — install takes 30 seconds, first "wow" in under a minute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F1EC6-0398-5CAC-CD8B-20966529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highlights and key messaging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B183BF62-44E0-5E58-10BC-E4122A69477C}"/>
              </a:ext>
            </a:extLst>
          </p:cNvPr>
          <p:cNvSpPr txBox="1">
            <a:spLocks/>
          </p:cNvSpPr>
          <p:nvPr/>
        </p:nvSpPr>
        <p:spPr>
          <a:xfrm>
            <a:off x="228600" y="4568235"/>
            <a:ext cx="5688000" cy="17033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en-US" kern="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EB111FC-FC56-D27C-10D0-057964958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3400" y="2630118"/>
            <a:ext cx="2590800" cy="2590800"/>
          </a:xfrm>
          <a:prstGeom prst="rect">
            <a:avLst/>
          </a:prstGeom>
          <a:effectLst>
            <a:outerShdw dir="8340000" sx="103000" sy="103000" algn="ctr" rotWithShape="0">
              <a:schemeClr val="bg1">
                <a:alpha val="56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35612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87B8D-6092-3540-5A89-248B8185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C53F-4571-B3B7-FEA2-E0BF285C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</a:t>
            </a:r>
            <a:br>
              <a:rPr lang="en-US" dirty="0"/>
            </a:br>
            <a:r>
              <a:rPr lang="en-US" dirty="0"/>
              <a:t>upcoming ModusToolbox™ SDK	</a:t>
            </a:r>
          </a:p>
        </p:txBody>
      </p:sp>
    </p:spTree>
    <p:extLst>
      <p:ext uri="{BB962C8B-B14F-4D97-AF65-F5344CB8AC3E}">
        <p14:creationId xmlns:p14="http://schemas.microsoft.com/office/powerpoint/2010/main" val="6544604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08EE-C170-B5FB-F952-D23B92BF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8783C92-82D6-E8CD-AD37-9129590E2AA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81728783"/>
              </p:ext>
            </p:extLst>
          </p:nvPr>
        </p:nvGraphicFramePr>
        <p:xfrm>
          <a:off x="509422" y="1371600"/>
          <a:ext cx="11171568" cy="4309760"/>
        </p:xfrm>
        <a:graphic>
          <a:graphicData uri="http://schemas.openxmlformats.org/drawingml/2006/table">
            <a:tbl>
              <a:tblPr firstRow="1" firstCol="1" bandCol="1">
                <a:tableStyleId>{B301B821-A1FF-4177-AEE7-76D212191A09}</a:tableStyleId>
              </a:tblPr>
              <a:tblGrid>
                <a:gridCol w="2005178">
                  <a:extLst>
                    <a:ext uri="{9D8B030D-6E8A-4147-A177-3AD203B41FA5}">
                      <a16:colId xmlns:a16="http://schemas.microsoft.com/office/drawing/2014/main" val="370170148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67143480"/>
                    </a:ext>
                  </a:extLst>
                </a:gridCol>
                <a:gridCol w="4746790">
                  <a:extLst>
                    <a:ext uri="{9D8B030D-6E8A-4147-A177-3AD203B41FA5}">
                      <a16:colId xmlns:a16="http://schemas.microsoft.com/office/drawing/2014/main" val="1076234535"/>
                    </a:ext>
                  </a:extLst>
                </a:gridCol>
              </a:tblGrid>
              <a:tr h="1772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7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3892" marR="73892" marT="36946" marB="36946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Current Model</a:t>
                      </a:r>
                      <a:endParaRPr lang="en-US" sz="17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3892" marR="73892" marT="36946" marB="36946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SDK Model</a:t>
                      </a:r>
                      <a:endParaRPr lang="en-US" sz="17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3892" marR="73892" marT="36946" marB="36946"/>
                </a:tc>
                <a:extLst>
                  <a:ext uri="{0D108BD9-81ED-4DB2-BD59-A6C34878D82A}">
                    <a16:rowId xmlns:a16="http://schemas.microsoft.com/office/drawing/2014/main" val="976140038"/>
                  </a:ext>
                </a:extLst>
              </a:tr>
              <a:tr h="3497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Project creation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BSP → CE → download manifests → clone from GitHub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BSP → CE → SDK → copy from local install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001053425"/>
                  </a:ext>
                </a:extLst>
              </a:tr>
              <a:tr h="3497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Dependencies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pointers in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deps/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Stored in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/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via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make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0A8276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, no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deps/,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/ 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libraries in project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libs/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473874141"/>
                  </a:ext>
                </a:extLst>
              </a:tr>
              <a:tr h="3497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Versioning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Each library versioned independently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User verifies compatibility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All library versions locked to SDK version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50194260"/>
                  </a:ext>
                </a:extLst>
              </a:tr>
              <a:tr h="31602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Middleware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Shared, read-only in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/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Local to project, editable directly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205317122"/>
                  </a:ext>
                </a:extLst>
              </a:tr>
              <a:tr h="593508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Offline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GitHub required for every 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Fully offline after SDK install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11971333"/>
                  </a:ext>
                </a:extLst>
              </a:tr>
              <a:tr h="45476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Portability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Recipient must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make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getlibs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to reconstruct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App is self-contained and shareable as-is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364480130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752B5BB-D1A3-7B82-5553-EDC3ED91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development model is evolving</a:t>
            </a:r>
          </a:p>
        </p:txBody>
      </p:sp>
    </p:spTree>
    <p:extLst>
      <p:ext uri="{BB962C8B-B14F-4D97-AF65-F5344CB8AC3E}">
        <p14:creationId xmlns:p14="http://schemas.microsoft.com/office/powerpoint/2010/main" val="3212115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8229600" y="1078795"/>
            <a:ext cx="278818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0" tIns="0" rIns="0" bIns="0" anchor="ctr"/>
          <a:lstStyle/>
          <a:p>
            <a:pPr marL="359991" indent="-359991" algn="ctr" eaLnBrk="0" hangingPunct="0">
              <a:spcAft>
                <a:spcPts val="1600"/>
              </a:spcAft>
              <a:buClr>
                <a:schemeClr val="bg1"/>
              </a:buClr>
            </a:pPr>
            <a:r>
              <a:rPr lang="en-US" sz="1800" b="1" dirty="0">
                <a:solidFill>
                  <a:srgbClr val="0A8276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ModusToolbox™</a:t>
            </a:r>
          </a:p>
          <a:p>
            <a:pPr marL="359991" indent="-359991" algn="ctr" eaLnBrk="0" hangingPunct="0">
              <a:spcAft>
                <a:spcPts val="1600"/>
              </a:spcAft>
              <a:buClr>
                <a:schemeClr val="bg1"/>
              </a:buClr>
            </a:pPr>
            <a:r>
              <a:rPr lang="en-US" sz="1800" b="1" dirty="0">
                <a:solidFill>
                  <a:srgbClr val="0A8276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SDK</a:t>
            </a:r>
          </a:p>
        </p:txBody>
      </p:sp>
      <p:sp>
        <p:nvSpPr>
          <p:cNvPr id="2" name="Richtungspfeil 1"/>
          <p:cNvSpPr/>
          <p:nvPr/>
        </p:nvSpPr>
        <p:spPr>
          <a:xfrm>
            <a:off x="2991739" y="1219788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All supported boards, tested versions</a:t>
            </a: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811572" y="1219626"/>
            <a:ext cx="2027766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BSPs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811572" y="1917770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Middleware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812214" y="2615914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Tools</a:t>
            </a:r>
          </a:p>
        </p:txBody>
      </p:sp>
      <p:sp>
        <p:nvSpPr>
          <p:cNvPr id="30" name="Richtungspfeil 29"/>
          <p:cNvSpPr/>
          <p:nvPr/>
        </p:nvSpPr>
        <p:spPr>
          <a:xfrm>
            <a:off x="2991739" y="1916900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PDL, Retarget-IO, Machine Learning,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Motor Control, FreeRTOS, ...</a:t>
            </a:r>
          </a:p>
        </p:txBody>
      </p:sp>
      <p:sp>
        <p:nvSpPr>
          <p:cNvPr id="31" name="Richtungspfeil 30"/>
          <p:cNvSpPr/>
          <p:nvPr/>
        </p:nvSpPr>
        <p:spPr>
          <a:xfrm>
            <a:off x="2991739" y="2614012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Device Configurator, Library Manager, 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CAPSENSE Configurator, Build system...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86D966-E344-CD9C-C6B0-8498685FA1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214" y="5034880"/>
            <a:ext cx="10434166" cy="1263943"/>
          </a:xfrm>
        </p:spPr>
        <p:txBody>
          <a:bodyPr/>
          <a:lstStyle/>
          <a:p>
            <a:r>
              <a:rPr lang="en-US" sz="1600" b="1" dirty="0"/>
              <a:t>Predictability</a:t>
            </a:r>
            <a:r>
              <a:rPr lang="en-US" sz="1600" dirty="0"/>
              <a:t> — "I'm using SDK v1.2" tells support everything they need to know</a:t>
            </a:r>
          </a:p>
          <a:p>
            <a:r>
              <a:rPr lang="en-US" sz="1600" b="1" dirty="0"/>
              <a:t>Tested together</a:t>
            </a:r>
            <a:r>
              <a:rPr lang="en-US" sz="1600" dirty="0"/>
              <a:t> — Infineon validates the full combination before release</a:t>
            </a:r>
          </a:p>
          <a:p>
            <a:r>
              <a:rPr lang="en-US" sz="1600" b="1" dirty="0"/>
              <a:t>Self-contained</a:t>
            </a:r>
            <a:r>
              <a:rPr lang="en-US" sz="1600" dirty="0"/>
              <a:t> — applications include all middleware; no external </a:t>
            </a:r>
            <a:r>
              <a:rPr lang="en-US" sz="1600" dirty="0" err="1"/>
              <a:t>mtb_shared</a:t>
            </a:r>
            <a:r>
              <a:rPr lang="en-US" sz="1600" dirty="0"/>
              <a:t>/ dependency</a:t>
            </a:r>
          </a:p>
          <a:p>
            <a:r>
              <a:rPr lang="en-US" sz="1600" b="1" dirty="0"/>
              <a:t>Simpler upgrades</a:t>
            </a:r>
            <a:r>
              <a:rPr lang="en-US" sz="1600" dirty="0"/>
              <a:t> — bump one SDK version instead of updating 15 libraries individually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the SDK provides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E32463E-955D-51B7-621C-DE2BBFC84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14" y="3314058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Code Examples</a:t>
            </a:r>
          </a:p>
        </p:txBody>
      </p:sp>
      <p:sp>
        <p:nvSpPr>
          <p:cNvPr id="7" name="Richtungspfeil 30">
            <a:extLst>
              <a:ext uri="{FF2B5EF4-FFF2-40B4-BE49-F238E27FC236}">
                <a16:creationId xmlns:a16="http://schemas.microsoft.com/office/drawing/2014/main" id="{A95523D1-F284-BDB7-EC2C-03E4EE26E78A}"/>
              </a:ext>
            </a:extLst>
          </p:cNvPr>
          <p:cNvSpPr/>
          <p:nvPr/>
        </p:nvSpPr>
        <p:spPr>
          <a:xfrm>
            <a:off x="2991739" y="3311124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Reference projects aligned specifically with 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included middleware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714DFD5-BDF5-7746-3D5C-8083D4B1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14" y="4012201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Documentation</a:t>
            </a:r>
          </a:p>
        </p:txBody>
      </p:sp>
      <p:sp>
        <p:nvSpPr>
          <p:cNvPr id="9" name="Richtungspfeil 30">
            <a:extLst>
              <a:ext uri="{FF2B5EF4-FFF2-40B4-BE49-F238E27FC236}">
                <a16:creationId xmlns:a16="http://schemas.microsoft.com/office/drawing/2014/main" id="{674C5528-3A99-47EE-E62C-176521F67ED9}"/>
              </a:ext>
            </a:extLst>
          </p:cNvPr>
          <p:cNvSpPr/>
          <p:nvPr/>
        </p:nvSpPr>
        <p:spPr>
          <a:xfrm>
            <a:off x="2991739" y="4008236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Release notes, user guides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319324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C7C712-0DBD-9F78-2A8F-192F4D6EED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5735920"/>
            <a:ext cx="11520000" cy="762000"/>
          </a:xfrm>
        </p:spPr>
        <p:txBody>
          <a:bodyPr/>
          <a:lstStyle/>
          <a:p>
            <a:r>
              <a:rPr lang="en-US" sz="1600" b="1" dirty="0"/>
              <a:t>What doesn't change:</a:t>
            </a:r>
            <a:endParaRPr lang="en-US" sz="1600" dirty="0"/>
          </a:p>
          <a:p>
            <a:pPr lvl="1"/>
            <a:r>
              <a:rPr lang="en-US" sz="1400" dirty="0" err="1"/>
              <a:t>Makefile</a:t>
            </a:r>
            <a:r>
              <a:rPr lang="en-US" sz="1400" dirty="0"/>
              <a:t> structure and build commands (make build, make program)</a:t>
            </a:r>
          </a:p>
          <a:p>
            <a:pPr lvl="1"/>
            <a:r>
              <a:rPr lang="en-US" sz="1400" dirty="0"/>
              <a:t>Device Configurator workflow and BSP customization workflow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056BFE-077E-DC08-CB2B-69959D6F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changes for you and your customers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6674A8-1267-4993-E8C3-32431E0E1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583164"/>
              </p:ext>
            </p:extLst>
          </p:nvPr>
        </p:nvGraphicFramePr>
        <p:xfrm>
          <a:off x="334314" y="1066800"/>
          <a:ext cx="11520486" cy="4617720"/>
        </p:xfrm>
        <a:graphic>
          <a:graphicData uri="http://schemas.openxmlformats.org/drawingml/2006/table">
            <a:tbl>
              <a:tblPr firstRow="1" firstCol="1" bandCol="1">
                <a:tableStyleId>{B301B821-A1FF-4177-AEE7-76D212191A09}</a:tableStyleId>
              </a:tblPr>
              <a:tblGrid>
                <a:gridCol w="2256486">
                  <a:extLst>
                    <a:ext uri="{9D8B030D-6E8A-4147-A177-3AD203B41FA5}">
                      <a16:colId xmlns:a16="http://schemas.microsoft.com/office/drawing/2014/main" val="3227276895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60518769"/>
                    </a:ext>
                  </a:extLst>
                </a:gridCol>
                <a:gridCol w="4920600">
                  <a:extLst>
                    <a:ext uri="{9D8B030D-6E8A-4147-A177-3AD203B41FA5}">
                      <a16:colId xmlns:a16="http://schemas.microsoft.com/office/drawing/2014/main" val="4223407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Workflow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Current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With SDK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076104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Creating a project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BSP → CE → download manifests →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clone from GitHub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BSP → CE → SDK → copy from local install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72511242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Project structure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deps/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+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files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libs/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 = transitive pointers 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deps/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 and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gone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libs/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= real source 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bsps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 →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bsp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6987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Library versions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Add, remove, update individually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via Library Manager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Add/remove within SDK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Version changes require SDK upgrade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23879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Version control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Commit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pointers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not committed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Commit middleware source directly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App is self-contained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2045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Sharing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Recipient must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make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getlibs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to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reconstruct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App includes everything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SDK needed only for tools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17841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Middleware ownership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Shared in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/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not typically edited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Local and editable in libs/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SDK detects changes on upgrade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46523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1167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16C58BA-CC4B-C0CD-0E10-5E5803F8D55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31899486"/>
              </p:ext>
            </p:extLst>
          </p:nvPr>
        </p:nvGraphicFramePr>
        <p:xfrm>
          <a:off x="586581" y="1447800"/>
          <a:ext cx="11018837" cy="43129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959310">
                  <a:extLst>
                    <a:ext uri="{9D8B030D-6E8A-4147-A177-3AD203B41FA5}">
                      <a16:colId xmlns:a16="http://schemas.microsoft.com/office/drawing/2014/main" val="2584618498"/>
                    </a:ext>
                  </a:extLst>
                </a:gridCol>
                <a:gridCol w="8059527">
                  <a:extLst>
                    <a:ext uri="{9D8B030D-6E8A-4147-A177-3AD203B41FA5}">
                      <a16:colId xmlns:a16="http://schemas.microsoft.com/office/drawing/2014/main" val="4179291699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Point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Detail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8998779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SDK = curated bundle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BSPs + middleware + code examples + tools, tested as a set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017209979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One version number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Library versions locked to SDK; upgrade SDK to update libraries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03792698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Self-contained apps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No deps/, no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— middleware source lives in project libs/, editable directly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51217054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Simplified workflow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BSP → Code Example → SDK; fully offline after install; no 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198410229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Current concepts apply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, BSPs, COMPONENTS, Device Configurator all unchanged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6174599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Migration supported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Guided tooling to convert existing projects; both models coexist during transition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823814892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ED9958B-EAF6-0BA2-816B-60BA7540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SDK summary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433681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D079-D01D-24D1-E1F5-815564DE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17B0-5807-6CBD-9B0B-333BAF584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635885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9846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SHOW_DATE" val="False"/>
  <p:tag name="MIO_SHOW_FOOTER" val="False"/>
  <p:tag name="MIO_SHOW_PAGENUMBER" val="False"/>
  <p:tag name="MIO_CD_LAYOUT_VALID_AREA" val="False"/>
  <p:tag name="MIO_EMBED_FONT" val="False"/>
  <p:tag name="MIO_NUMBER_OF_VALID_LAYOUTS" val="20"/>
  <p:tag name="MIO_FALLBACK_LAYOUT" val="1"/>
  <p:tag name="MIO_AVOID_BLANK_LAYOUT" val="True"/>
  <p:tag name="MIO_MATCH_COLOR_SCHEME" val="False"/>
  <p:tag name="MIO_VERSION" val="19.01.2026 11:45:53"/>
  <p:tag name="MIO_LASTDOWNLOADED" val="20.01.2026 16:48:30.564"/>
  <p:tag name="MIO_CONTENTTAG" val="EiShwbTq9Uuj32IvFcNsTw==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MIO_AGENDA_OVERVIEW_SLIDE"/>
  <p:tag name="MIO_AGENDA_OVERVIEW_SLIDE_ONLY" val="True"/>
  <p:tag name="MIO_AGENDA_AGENDAPOINT_XML_TAG" val="&lt;?xml version=&quot;1.0&quot; encoding=&quot;utf-16&quot;?&gt;&#10;&lt;ArrayOfAgendaPointElement xmlns:xsd=&quot;http://www.w3.org/2001/XMLSchema&quot; xmlns:xsi=&quot;http://www.w3.org/2001/XMLSchema-instance&quot;&gt;&#10;  &lt;AgendaPointElement&gt;&#10;    &lt;ElementName&gt;Working Effectively with Version Control &amp;amp; Git&lt;/ElementName&gt;&#10;    &lt;Duration /&gt;&#10;    &lt;SpeakerName /&gt;&#10;    &lt;NumberString&gt;1&lt;/NumberString&gt;&#10;    &lt;ExplicitLevel&gt;1&lt;/ExplicitLevel&gt;&#10;    &lt;SubItems /&gt;&#10;    &lt;LevelIndex&gt;0&lt;/LevelIndex&gt;&#10;  &lt;/AgendaPointElement&gt;&#10;  &lt;AgendaPointElement&gt;&#10;    &lt;ElementName&gt;Sharing, Importing &amp;amp; Exporting Projects&lt;/ElementName&gt;&#10;    &lt;Duration /&gt;&#10;    &lt;SpeakerName /&gt;&#10;    &lt;NumberString&gt;2&lt;/NumberString&gt;&#10;    &lt;ExplicitLevel&gt;1&lt;/ExplicitLevel&gt;&#10;    &lt;SubItems /&gt;&#10;    &lt;LevelIndex&gt;0&lt;/LevelIndex&gt;&#10;  &lt;/AgendaPointElement&gt;&#10;  &lt;AgendaPointElement&gt;&#10;    &lt;ElementName&gt;Understanding the ModusToolbox™ BSP Concept&lt;/ElementName&gt;&#10;    &lt;Duration /&gt;&#10;    &lt;SpeakerName /&gt;&#10;    &lt;NumberString&gt;3&lt;/NumberString&gt;&#10;    &lt;ExplicitLevel&gt;1&lt;/ExplicitLevel&gt;&#10;    &lt;SubItems /&gt;&#10;    &lt;LevelIndex&gt;0&lt;/LevelIndex&gt;&#10;  &lt;/AgendaPointElement&gt;&#10;  &lt;AgendaPointElement&gt;&#10;    &lt;ElementName&gt;Workflows to Develop &amp;amp; Utilize a Custom BSP&lt;/ElementName&gt;&#10;    &lt;Duration /&gt;&#10;    &lt;SpeakerName /&gt;&#10;    &lt;NumberString&gt;4&lt;/NumberString&gt;&#10;    &lt;ExplicitLevel&gt;1&lt;/ExplicitLevel&gt;&#10;    &lt;SubItems /&gt;&#10;    &lt;LevelIndex&gt;0&lt;/LevelIndex&gt;&#10;  &lt;/AgendaPointElement&gt;&#10;  &lt;AgendaPointElement&gt;&#10;    &lt;ElementName&gt;Middleware Integration — Library Manager &amp;amp; Makefiles&lt;/ElementName&gt;&#10;    &lt;Duration /&gt;&#10;    &lt;SpeakerName /&gt;&#10;    &lt;NumberString&gt;5&lt;/NumberString&gt;&#10;    &lt;ExplicitLevel&gt;1&lt;/ExplicitLevel&gt;&#10;    &lt;SubItems /&gt;&#10;    &lt;LevelIndex&gt;0&lt;/LevelIndex&gt;&#10;  &lt;/AgendaPointElement&gt;&#10;  &lt;AgendaPointElement&gt;&#10;    &lt;ElementName&gt;ModusToolbox™ AI Assistant extension for VS Code&lt;/ElementName&gt;&#10;    &lt;NumberString&gt;6&lt;/NumberString&gt;&#10;    &lt;ExplicitLevel&gt;1&lt;/ExplicitLevel&gt;&#10;    &lt;SubItems /&gt;&#10;    &lt;LevelIndex&gt;0&lt;/LevelIndex&gt;&#10;  &lt;/AgendaPointElement&gt;&#10;  &lt;AgendaPointElement&gt;&#10;    &lt;ElementName&gt;Introduction to the Upcoming ModusToolbox™ SDK&lt;/ElementName&gt;&#10;    &lt;Duration /&gt;&#10;    &lt;SpeakerName /&gt;&#10;    &lt;NumberString&gt;7&lt;/NumberString&gt;&#10;    &lt;ExplicitLevel&gt;1&lt;/ExplicitLevel&gt;&#10;    &lt;SubItems /&gt;&#10;    &lt;LevelIndex&gt;0&lt;/LevelIndex&gt;&#10;  &lt;/AgendaPointElement&gt;&#10;  &lt;AgendaPointElement&gt;&#10;    &lt;ElementName&gt;Q&amp;amp;A&lt;/ElementName&gt;&#10;    &lt;Duration /&gt;&#10;    &lt;SpeakerName /&gt;&#10;    &lt;NumberString&gt;8&lt;/NumberString&gt;&#10;    &lt;ExplicitLevel&gt;1&lt;/ExplicitLevel&gt;&#10;    &lt;SubItems /&gt;&#10;    &lt;LevelIndex&gt;0&lt;/LevelIndex&gt;&#10;  &lt;/AgendaPointElement&gt;&#10;&lt;/ArrayOfAgendaPointElement&gt;"/>
  <p:tag name="MIO_AGENDA_SHOW_SUBITEMS_LEVEL2_TAG" val="True"/>
  <p:tag name="MIO_AGENDA_SCALEMODE_FIT_TO_SLIDE_TAG" val="True"/>
  <p:tag name="MIO_EKGUID" val="d9b0a732-6d6c-4fe3-b9e8-6a4a78dae162"/>
  <p:tag name="MIO_GUID" val="5fd00f73-780f-43b9-b03e-95f3ef1ba6b4"/>
  <p:tag name="MIO_VERSION" val="31.12.9999 23:59:59"/>
  <p:tag name="MIO_DBID" val="fde84254-54db-49e3-9a0e-cde72035d530"/>
  <p:tag name="MIO_LASTDOWNLOADED" val="13.10.2026 13:21:19.277"/>
  <p:tag name="MIO_UPDATE" val="Fals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be72a67-83c7-4ef1-96d5-05d143e9dd74"/>
  <p:tag name="MIO_EKGUID" val="f333e15d-dc4a-4c6e-9c43-a644eaf08ee6"/>
  <p:tag name="MIO_UPDATE" val="True"/>
  <p:tag name="MIO_VERSION" val="09.03.2023 11:26:25"/>
  <p:tag name="MIO_DBID" val="FDE84254-54DB-49E3-9A0E-CDE72035D530"/>
  <p:tag name="MIO_LASTDOWNLOADED" val="16.04.2026 13:56:09.072"/>
  <p:tag name="MIO_OBJECTNAME" val="Process infographic – horizontal"/>
  <p:tag name="MIO_CONTENTTAG" val="gqhRskAkKEecCJsBFqpt7X10uzqKHvFGrTjPnyX1Y+c="/>
  <p:tag name="MIO_LASTEDITORNAME" val="Verena Koh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4556119-6026-4702-920c-5c14b5547bba"/>
  <p:tag name="MIO_GUID" val="4cf140da-f01f-412e-b374-5d2742339b64"/>
  <p:tag name="MIO_UPDATE" val="True"/>
  <p:tag name="MIO_VERSION" val="05.03.2023 11:09:57"/>
  <p:tag name="MIO_DBID" val="FDE84254-54DB-49E3-9A0E-CDE72035D530"/>
  <p:tag name="MIO_LASTDOWNLOADED" val="16.04.2026 14:16:58.099"/>
  <p:tag name="MIO_OBJECTNAME" val="Computer"/>
  <p:tag name="MIO_CONTENTTAG" val="dIjkg9M9mEegF7TDYVA5xV/IPqFoMrJCoeEwx19hQB8="/>
  <p:tag name="MIO_LASTEDITORNAME" val="Verena Koh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1443630d-3c0c-4156-a38c-ba0b8cdf2766"/>
  <p:tag name="MIO_GUID" val="67ec99c1-b423-4342-9f41-8ebf0f49e64d"/>
  <p:tag name="MIO_UPDATE" val="True"/>
  <p:tag name="MIO_VERSION" val="05.03.2023 11:09:44"/>
  <p:tag name="MIO_DBID" val="FDE84254-54DB-49E3-9A0E-CDE72035D530"/>
  <p:tag name="MIO_LASTDOWNLOADED" val="16.04.2026 14:16:13.751"/>
  <p:tag name="MIO_OBJECTNAME" val="Cloud"/>
  <p:tag name="MIO_CONTENTTAG" val="cT1pOJz23keBJRzWaZpB1jrG/Rhjp/9Enulyi/KX1FA="/>
  <p:tag name="MIO_LASTEDITORNAME" val="Verena Koh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Process 4"/>
  <p:tag name="FB-CATEGORY" val="Process"/>
  <p:tag name="MIO_GUID" val="22c106f7-060c-479b-9cb6-49ee74d09713"/>
  <p:tag name="MIO_EKGUID" val="36c9f2d0-afe0-4244-ac50-fa84d445e637"/>
  <p:tag name="MIO_UPDATE" val="True"/>
  <p:tag name="MIO_VERSION" val="02.02.2026 14:42:49"/>
  <p:tag name="MIO_DBID" val="FDE84254-54DB-49E3-9A0E-CDE72035D530"/>
  <p:tag name="MIO_LASTDOWNLOADED" val="16.04.2026 14:39:11.771"/>
  <p:tag name="MIO_OBJECTNAME" val="Comparison (2)"/>
  <p:tag name="MIO_CONTENTTAG" val="gN4P5hj7OkG/FjArLthnwA=="/>
  <p:tag name="MIO_LASTEDITORNAME" val="Miguel Madeyski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25072b8-ea43-4a50-9bf6-2b8a59445465"/>
  <p:tag name="MIO_EKGUID" val="ac0ebba2-92e3-410f-b7d1-ce71302b8a47"/>
  <p:tag name="MIO_UPDATE" val="True"/>
  <p:tag name="MIO_VERSION" val="09.03.2023 11:26:21"/>
  <p:tag name="MIO_DBID" val="FDE84254-54DB-49E3-9A0E-CDE72035D530"/>
  <p:tag name="MIO_LASTDOWNLOADED" val="16.04.2026 13:42:10.430"/>
  <p:tag name="MIO_OBJECTNAME" val="Process infographic – vertical"/>
  <p:tag name="MIO_CONTENTTAG" val="+YCqXI65uEOP9Eb855HQ/ncpYP2lbn9Hs1Gdr2vDfPA="/>
  <p:tag name="MIO_LASTEDITORNAME" val="Verena Koh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414782c-cd95-4aba-ac42-9093a1d825d5"/>
  <p:tag name="MIO_EKGUID" val="c800f650-0fca-4819-b1d8-23257dc0893c"/>
  <p:tag name="MIO_UPDATE" val="True"/>
  <p:tag name="MIO_VERSION" val="11.02.2026 14:15:31"/>
  <p:tag name="MIO_DBID" val="FDE84254-54DB-49E3-9A0E-CDE72035D530"/>
  <p:tag name="MIO_LASTDOWNLOADED" val="16.04.2026 14:27:21.556"/>
  <p:tag name="MIO_OBJECTNAME" val="Circle (4)"/>
  <p:tag name="MIO_CONTENTTAG" val="24/pQWw0rUSo6li0mJAaEg=="/>
  <p:tag name="MIO_LASTEDITORNAME" val="Alina Raquel Grunert da Fonsec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be72a67-83c7-4ef1-96d5-05d143e9dd74"/>
  <p:tag name="MIO_EKGUID" val="f333e15d-dc4a-4c6e-9c43-a644eaf08ee6"/>
  <p:tag name="MIO_UPDATE" val="True"/>
  <p:tag name="MIO_VERSION" val="09.03.2023 11:26:25"/>
  <p:tag name="MIO_DBID" val="FDE84254-54DB-49E3-9A0E-CDE72035D530"/>
  <p:tag name="MIO_LASTDOWNLOADED" val="16.04.2026 13:56:09.072"/>
  <p:tag name="MIO_OBJECTNAME" val="Process infographic – horizontal"/>
  <p:tag name="MIO_CONTENTTAG" val="gqhRskAkKEecCJsBFqpt7X10uzqKHvFGrTjPnyX1Y+c="/>
  <p:tag name="MIO_LASTEDITORNAME" val="Verena Koh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92c822b-a9f8-464b-8e0c-3a87c8de70b6"/>
  <p:tag name="MIO_GUID" val="63f3e6f3-7e90-4999-91af-150b80a5780a"/>
  <p:tag name="MIO_UPDATE" val="True"/>
  <p:tag name="MIO_VERSION" val="05.03.2023 11:09:38"/>
  <p:tag name="MIO_DBID" val="FDE84254-54DB-49E3-9A0E-CDE72035D530"/>
  <p:tag name="MIO_LASTDOWNLOADED" val="16.04.2026 14:20:43.874"/>
  <p:tag name="MIO_OBJECTNAME" val="Chip"/>
  <p:tag name="MIO_CONTENTTAG" val="YPQ+u72Qnk25mTufp+0omPc0TUVzs2BDgMREvA789ws="/>
  <p:tag name="MIO_LASTEDITORNAME" val="Verena Koh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1c70cb8-96fa-4909-9766-e8c91b4bdc51"/>
  <p:tag name="MIO_GUID" val="a94f72c8-e3fb-4c14-8cf1-76fcbe9545b6"/>
  <p:tag name="MIO_UPDATE" val="True"/>
  <p:tag name="MIO_VERSION" val="05.03.2023 11:12:20"/>
  <p:tag name="MIO_DBID" val="FDE84254-54DB-49E3-9A0E-CDE72035D530"/>
  <p:tag name="MIO_LASTDOWNLOADED" val="16.04.2026 14:21:24.152"/>
  <p:tag name="MIO_OBJECTNAME" val="Gear wheels"/>
  <p:tag name="MIO_CONTENTTAG" val="TbGLN2aOb0GPrKbDODSXL0XYO3WF/oNAqoU9Tfk3Z04="/>
  <p:tag name="MIO_LASTEDITORNAME" val="Verena Koh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fc349428-902d-45c4-87c4-b530a6103745"/>
  <p:tag name="MIO_GUID" val="608ec248-9c97-4ce2-a416-01fee057b76c"/>
  <p:tag name="MIO_UPDATE" val="True"/>
  <p:tag name="MIO_VERSION" val="05.03.2023 11:14:45"/>
  <p:tag name="MIO_DBID" val="FDE84254-54DB-49E3-9A0E-CDE72035D530"/>
  <p:tag name="MIO_LASTDOWNLOADED" val="16.04.2026 14:21:18.262"/>
  <p:tag name="MIO_OBJECTNAME" val="Puzzle"/>
  <p:tag name="MIO_CONTENTTAG" val="cokKvGUQ0UG3zBW25WooO8Swh1HZd2lGh/F3XmMXscQ="/>
  <p:tag name="MIO_LASTEDITORNAME" val="Verena Koh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Development 3"/>
  <p:tag name="FB-CATEGORY" val="Process"/>
  <p:tag name="MIO_GUID" val="991c5761-3a3a-45c2-96f6-8b6da4fcd9ef"/>
  <p:tag name="MIO_EKGUID" val="a8084ea2-467a-494c-a7fc-06c95f6827fa"/>
  <p:tag name="MIO_UPDATE" val="True"/>
  <p:tag name="MIO_VERSION" val="09.03.2023 11:25:05"/>
  <p:tag name="MIO_DBID" val="FDE84254-54DB-49E3-9A0E-CDE72035D530"/>
  <p:tag name="MIO_LASTDOWNLOADED" val="16.04.2026 14:52:15.012"/>
  <p:tag name="MIO_OBJECTNAME" val="Process / Text box"/>
  <p:tag name="MIO_CONTENTTAG" val="HEcAJAFKbkWj+N9Kc81utcg6JZPn3D1PuAoQHrhwsDA="/>
  <p:tag name="MIO_LASTEDITORNAME" val="Verena Koh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Development 3"/>
  <p:tag name="FB-CATEGORY" val="Process"/>
  <p:tag name="MIO_GUID" val="991c5761-3a3a-45c2-96f6-8b6da4fcd9ef"/>
  <p:tag name="MIO_EKGUID" val="a8084ea2-467a-494c-a7fc-06c95f6827fa"/>
  <p:tag name="MIO_UPDATE" val="True"/>
  <p:tag name="MIO_VERSION" val="09.03.2023 11:25:05"/>
  <p:tag name="MIO_DBID" val="FDE84254-54DB-49E3-9A0E-CDE72035D530"/>
  <p:tag name="MIO_LASTDOWNLOADED" val="16.04.2026 14:52:15.012"/>
  <p:tag name="MIO_OBJECTNAME" val="Process / Text box"/>
  <p:tag name="MIO_CONTENTTAG" val="HEcAJAFKbkWj+N9Kc81utcg6JZPn3D1PuAoQHrhwsDA="/>
  <p:tag name="MIO_LASTEDITORNAME" val="Verena Koh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25072b8-ea43-4a50-9bf6-2b8a59445465"/>
  <p:tag name="MIO_EKGUID" val="ac0ebba2-92e3-410f-b7d1-ce71302b8a47"/>
  <p:tag name="MIO_UPDATE" val="True"/>
  <p:tag name="MIO_VERSION" val="09.03.2023 11:26:21"/>
  <p:tag name="MIO_DBID" val="FDE84254-54DB-49E3-9A0E-CDE72035D530"/>
  <p:tag name="MIO_LASTDOWNLOADED" val="16.04.2026 17:18:46.247"/>
  <p:tag name="MIO_OBJECTNAME" val="Process infographic – vertical"/>
  <p:tag name="MIO_CONTENTTAG" val="+YCqXI65uEOP9Eb855HQ/ncpYP2lbn9Hs1Gdr2vDfPA="/>
  <p:tag name="MIO_LASTEDITORNAME" val="Verena Koh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9bae7e3-3df0-48e2-a497-e5a9b494f0a3"/>
  <p:tag name="MIO_GUID" val="d8442002-df2e-491e-8040-2d839e88177f"/>
  <p:tag name="MIO_UPDATE" val="True"/>
  <p:tag name="MIO_VERSION" val="05.03.2023 11:10:43"/>
  <p:tag name="MIO_DBID" val="FDE84254-54DB-49E3-9A0E-CDE72035D530"/>
  <p:tag name="MIO_LASTDOWNLOADED" val="16.04.2026 17:21:59.877"/>
  <p:tag name="MIO_OBJECTNAME" val="Flowchart"/>
  <p:tag name="MIO_CONTENTTAG" val="9N4mPNVSkUeelnlgnJtg9Ai8RpClDoRDlk+ocac4lLA="/>
  <p:tag name="MIO_LASTEDITORNAME" val="Verena Koh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9f6fbe94-16fc-4e2e-9ad6-ff77775a6d22"/>
  <p:tag name="MIO_GUID" val="51bb6f5a-7718-45d5-a185-6f8e56502cf6"/>
  <p:tag name="MIO_UPDATE" val="True"/>
  <p:tag name="MIO_VERSION" val="05.03.2023 11:09:26"/>
  <p:tag name="MIO_DBID" val="FDE84254-54DB-49E3-9A0E-CDE72035D530"/>
  <p:tag name="MIO_LASTDOWNLOADED" val="16.04.2026 17:21:32.866"/>
  <p:tag name="MIO_OBJECTNAME" val="Change"/>
  <p:tag name="MIO_CONTENTTAG" val="YT3qx3O7jUiXztmorN/so7zw8Fku649HviujhTrm25c="/>
  <p:tag name="MIO_LASTEDITORNAME" val="Verena Koh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5d81623d-4be4-4c88-a322-d69cf8cea1c7"/>
  <p:tag name="MIO_GUID" val="535822b0-5eee-4657-8154-97df653c4269"/>
  <p:tag name="MIO_UPDATE" val="True"/>
  <p:tag name="MIO_VERSION" val="05.03.2023 11:09:35"/>
  <p:tag name="MIO_DBID" val="FDE84254-54DB-49E3-9A0E-CDE72035D530"/>
  <p:tag name="MIO_LASTDOWNLOADED" val="16.04.2026 17:20:57.670"/>
  <p:tag name="MIO_OBJECTNAME" val="Check"/>
  <p:tag name="MIO_CONTENTTAG" val="Uy1sT8x3ukWq/Ks1wS5r4fk7h/99lY1Ilaa6jF2N76w="/>
  <p:tag name="MIO_LASTEDITORNAME" val="Verena Koh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Process 4"/>
  <p:tag name="FB-CATEGORY" val="Process"/>
  <p:tag name="MIO_GUID" val="22c106f7-060c-479b-9cb6-49ee74d09713"/>
  <p:tag name="MIO_EKGUID" val="36c9f2d0-afe0-4244-ac50-fa84d445e637"/>
  <p:tag name="MIO_UPDATE" val="True"/>
  <p:tag name="MIO_VERSION" val="02.02.2026 14:42:49"/>
  <p:tag name="MIO_DBID" val="FDE84254-54DB-49E3-9A0E-CDE72035D530"/>
  <p:tag name="MIO_LASTDOWNLOADED" val="05.08.2026 21:44:11.907"/>
  <p:tag name="MIO_OBJECTNAME" val="Comparison (2)"/>
  <p:tag name="MIO_CONTENTTAG" val="gN4P5hj7OkG/FjArLthnwA=="/>
  <p:tag name="MIO_LASTEDITORNAME" val="Miguel Madeyski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Process 3"/>
  <p:tag name="FB-CATEGORY" val="Process"/>
  <p:tag name="MIO_GUID" val="b1fbc4a0-3d78-4bcd-842f-f730d85a0879"/>
  <p:tag name="MIO_EKGUID" val="0a6273f9-6dd7-4982-9188-5ed372f80332"/>
  <p:tag name="MIO_UPDATE" val="True"/>
  <p:tag name="MIO_VERSION" val="09.03.2023 11:25:10"/>
  <p:tag name="MIO_DBID" val="FDE84254-54DB-49E3-9A0E-CDE72035D530"/>
  <p:tag name="MIO_LASTDOWNLOADED" val="16.04.2026 18:17:59.645"/>
  <p:tag name="MIO_OBJECTNAME" val="Process / Text box (2)"/>
  <p:tag name="MIO_CONTENTTAG" val="hOA1vZv1HUqlBdetxucHdPTk0GcJ481OtsOBW8STP1o="/>
  <p:tag name="MIO_LASTEDITORNAME" val="Verena Kohl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.pptx" id="{C8D7850A-85F6-433E-8B8D-D3A754B0866C}" vid="{BE8D058B-B1E2-4161-A236-0E9C761F9F92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B56A61B4C00947898D82D06963611E" ma:contentTypeVersion="15" ma:contentTypeDescription="Ein neues Dokument erstellen." ma:contentTypeScope="" ma:versionID="1dc54802e6c7a0c11432c14fa31ef0b1">
  <xsd:schema xmlns:xsd="http://www.w3.org/2001/XMLSchema" xmlns:xs="http://www.w3.org/2001/XMLSchema" xmlns:p="http://schemas.microsoft.com/office/2006/metadata/properties" xmlns:ns2="59b6271e-7032-4958-8b1b-b397779a5edd" xmlns:ns3="8add22d0-fb4f-4780-81e3-4104ca6646f2" targetNamespace="http://schemas.microsoft.com/office/2006/metadata/properties" ma:root="true" ma:fieldsID="a6f0f3cc70ae8bf5c7c46b87ded16118" ns2:_="" ns3:_="">
    <xsd:import namespace="59b6271e-7032-4958-8b1b-b397779a5edd"/>
    <xsd:import namespace="8add22d0-fb4f-4780-81e3-4104ca6646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b6271e-7032-4958-8b1b-b397779a5e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d64df55c-0d35-4409-9d5b-5829daa2b6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d22d0-fb4f-4780-81e3-4104ca6646f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fc02de1-8c8f-4191-a788-16eb72695625}" ma:internalName="TaxCatchAll" ma:showField="CatchAllData" ma:web="8add22d0-fb4f-4780-81e3-4104ca664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dd22d0-fb4f-4780-81e3-4104ca6646f2" xsi:nil="true"/>
    <lcf76f155ced4ddcb4097134ff3c332f xmlns="59b6271e-7032-4958-8b1b-b397779a5ed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14FDB3-C68D-4DD7-B6CF-2B363C4C1B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b6271e-7032-4958-8b1b-b397779a5edd"/>
    <ds:schemaRef ds:uri="8add22d0-fb4f-4780-81e3-4104ca664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a709603d-609a-478b-a91d-3c5e984c0e79"/>
    <ds:schemaRef ds:uri="6ef45842-284e-44e4-b2db-1749e7948b44"/>
    <ds:schemaRef ds:uri="http://schemas.microsoft.com/office/infopath/2007/PartnerControls"/>
    <ds:schemaRef ds:uri="http://schemas.openxmlformats.org/package/2006/metadata/core-properties"/>
    <ds:schemaRef ds:uri="8add22d0-fb4f-4780-81e3-4104ca6646f2"/>
    <ds:schemaRef ds:uri="59b6271e-7032-4958-8b1b-b397779a5edd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731</TotalTime>
  <Words>4629</Words>
  <Application>Microsoft Office PowerPoint</Application>
  <PresentationFormat>Widescreen</PresentationFormat>
  <Paragraphs>696</Paragraphs>
  <Slides>54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??</vt:lpstr>
      <vt:lpstr>-apple-system</vt:lpstr>
      <vt:lpstr>Arial</vt:lpstr>
      <vt:lpstr>Consolas</vt:lpstr>
      <vt:lpstr>Symbol</vt:lpstr>
      <vt:lpstr>Infineon 16:9</vt:lpstr>
      <vt:lpstr>Infineon Academy Distribution Training Mastering ModusToolbox™ in Your Development Workflow</vt:lpstr>
      <vt:lpstr>Agenda</vt:lpstr>
      <vt:lpstr>Session Roadmap</vt:lpstr>
      <vt:lpstr>Working effectively with  version control and git</vt:lpstr>
      <vt:lpstr>The ModusToolbox™ project structure</vt:lpstr>
      <vt:lpstr>The .mtb dependency model</vt:lpstr>
      <vt:lpstr>What are deps/ and libs/ folders?</vt:lpstr>
      <vt:lpstr>What to commit, what to ignore?</vt:lpstr>
      <vt:lpstr>The version-controlled project flow</vt:lpstr>
      <vt:lpstr>Git workflow best practices</vt:lpstr>
      <vt:lpstr>Demo / Exercise Clone a real project and  verify dependencies</vt:lpstr>
      <vt:lpstr>Exercise - Clone a real project and verify dependencies</vt:lpstr>
      <vt:lpstr>Sharing, importing and exporting projects </vt:lpstr>
      <vt:lpstr>Three typical ways to share a project</vt:lpstr>
      <vt:lpstr>ModusToolbox Archiving and Sharing Utility - mtbarchive</vt:lpstr>
      <vt:lpstr>Saving and sharing your work with git</vt:lpstr>
      <vt:lpstr>Getting a shared project into your IDE</vt:lpstr>
      <vt:lpstr>Demo / Exercise IDE import and archive / sharing export</vt:lpstr>
      <vt:lpstr>Exercise - IDE import and archive / sharing export</vt:lpstr>
      <vt:lpstr>Understanding the  ModusToolbox™ BSP concept </vt:lpstr>
      <vt:lpstr>What is a ModusToolbox™ BSP?</vt:lpstr>
      <vt:lpstr>Anatomy of a Board Support Package</vt:lpstr>
      <vt:lpstr>Directory structure of a Board Support Package</vt:lpstr>
      <vt:lpstr>Device Configurator flow </vt:lpstr>
      <vt:lpstr>Demo BSP Walkthrough</vt:lpstr>
      <vt:lpstr>Workflows to develop and utilize a custom BSP </vt:lpstr>
      <vt:lpstr>Why Create a Custom BSP?</vt:lpstr>
      <vt:lpstr>Creating a custom BSP – modify existing BSP in place</vt:lpstr>
      <vt:lpstr>Creating a new custom BSP using standalone BSP Assistant</vt:lpstr>
      <vt:lpstr>Making Your custom BSP available to others</vt:lpstr>
      <vt:lpstr>Best practices for custom BSPs</vt:lpstr>
      <vt:lpstr>Demo / Exercise Create your own custom BSP</vt:lpstr>
      <vt:lpstr>Exercise - Create your own custom BSP</vt:lpstr>
      <vt:lpstr>Middleware integration with  Library Manager and Makefiles </vt:lpstr>
      <vt:lpstr>Library Manager Overview</vt:lpstr>
      <vt:lpstr>Shared libraries across workspace projects</vt:lpstr>
      <vt:lpstr>Adding middleware to project</vt:lpstr>
      <vt:lpstr>Using Makefiles to integrate and configure middleware</vt:lpstr>
      <vt:lpstr>How do you know what COMPONENTS and DEFINES to add?</vt:lpstr>
      <vt:lpstr>Practical workflow — when you add a new library</vt:lpstr>
      <vt:lpstr>Middleware summary and key takeaways</vt:lpstr>
      <vt:lpstr>Demo Library Manager and CMSIS-DSP COMPONENT</vt:lpstr>
      <vt:lpstr>ModusToolbox™ AI Assistant extension for VS Code </vt:lpstr>
      <vt:lpstr>ModusToolbox™ for VS Code</vt:lpstr>
      <vt:lpstr>ModusToolbox™ AI Assistant (Public Preview)</vt:lpstr>
      <vt:lpstr>AI-assisted project planning, creation, and enhancement</vt:lpstr>
      <vt:lpstr>Feature highlights and key messaging</vt:lpstr>
      <vt:lpstr>Introduction to the  upcoming ModusToolbox™ SDK </vt:lpstr>
      <vt:lpstr>How the development model is evolving</vt:lpstr>
      <vt:lpstr>What the SDK provides</vt:lpstr>
      <vt:lpstr>What changes for you and your customers</vt:lpstr>
      <vt:lpstr>SDK summary and key takeaways</vt:lpstr>
      <vt:lpstr>Q&amp;A</vt:lpstr>
      <vt:lpstr>PowerPoint Presentation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Jarvis Clark (CSS ICW MCU PMK SW)</dc:creator>
  <cp:lastModifiedBy>Jarvis Clark (ES ICW MCU PMK SW)</cp:lastModifiedBy>
  <cp:revision>41</cp:revision>
  <dcterms:created xsi:type="dcterms:W3CDTF">2026-04-16T16:06:32Z</dcterms:created>
  <dcterms:modified xsi:type="dcterms:W3CDTF">2026-10-13T18:22:53Z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0x0101001EB56A61B4C00947898D82D06963611E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2026-04-17T00:25:29Z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2026-04-17 00:25:35Z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3e7b0d4e-e63b-4e6e-ab2e-c5e78962ae59</vt:lpwstr>
  </property>
  <property fmtid="{D5CDD505-2E9C-101B-9397-08002B2CF9AE}" pid="28" name="MSIP_Label_a15a25aa-e944-415d-b7a7-40f6b9180b6b_ContentBits">
    <vt:lpwstr>0</vt:lpwstr>
  </property>
  <property fmtid="{D5CDD505-2E9C-101B-9397-08002B2CF9AE}" pid="29" name="MSIP_Label_a15a25aa-e944-415d-b7a7-40f6b9180b6b_Tag">
    <vt:lpwstr>10, 3, 0, 1</vt:lpwstr>
  </property>
</Properties>
</file>